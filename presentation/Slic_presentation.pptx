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Canva Sans Bold" charset="1" panose="020B0803030501040103"/>
      <p:regular r:id="rId26"/>
    </p:embeddedFont>
    <p:embeddedFont>
      <p:font typeface="Poppins Bold" charset="1" panose="00000800000000000000"/>
      <p:regular r:id="rId27"/>
    </p:embeddedFont>
    <p:embeddedFont>
      <p:font typeface="Poppins Italics" charset="1" panose="00000500000000000000"/>
      <p:regular r:id="rId28"/>
    </p:embeddedFont>
    <p:embeddedFont>
      <p:font typeface="Poppins" charset="1" panose="00000500000000000000"/>
      <p:regular r:id="rId29"/>
    </p:embeddedFont>
    <p:embeddedFont>
      <p:font typeface="Open Sans" charset="1" panose="020B0606030504020204"/>
      <p:regular r:id="rId30"/>
    </p:embeddedFont>
    <p:embeddedFont>
      <p:font typeface="Montserrat Bold" charset="1" panose="00000800000000000000"/>
      <p:regular r:id="rId31"/>
    </p:embeddedFont>
    <p:embeddedFont>
      <p:font typeface="Open Sans Bold" charset="1" panose="020B0806030504020204"/>
      <p:regular r:id="rId32"/>
    </p:embeddedFont>
    <p:embeddedFont>
      <p:font typeface="Open Sans Bold Italics" charset="1" panose="020B0806030504020204"/>
      <p:regular r:id="rId33"/>
    </p:embeddedFont>
    <p:embeddedFont>
      <p:font typeface="Codec Pro Bold" charset="1" panose="00000600000000000000"/>
      <p:regular r:id="rId34"/>
    </p:embeddedFont>
    <p:embeddedFont>
      <p:font typeface="Arimo" charset="1" panose="020B0604020202020204"/>
      <p:regular r:id="rId35"/>
    </p:embeddedFont>
    <p:embeddedFont>
      <p:font typeface="Poppins Bold Italics" charset="1" panose="000008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2" Target="../media/image3.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1.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media/image40.png" Type="http://schemas.openxmlformats.org/officeDocument/2006/relationships/image"/><Relationship Id="rId12" Target="../media/image41.png" Type="http://schemas.openxmlformats.org/officeDocument/2006/relationships/image"/><Relationship Id="rId13" Target="../media/image42.png" Type="http://schemas.openxmlformats.org/officeDocument/2006/relationships/image"/><Relationship Id="rId14" Target="../media/image43.png" Type="http://schemas.openxmlformats.org/officeDocument/2006/relationships/image"/><Relationship Id="rId15" Target="../media/image44.png" Type="http://schemas.openxmlformats.org/officeDocument/2006/relationships/image"/><Relationship Id="rId16" Target="../media/image45.png" Type="http://schemas.openxmlformats.org/officeDocument/2006/relationships/image"/><Relationship Id="rId2" Target="../media/image31.jpeg" Type="http://schemas.openxmlformats.org/officeDocument/2006/relationships/image"/><Relationship Id="rId3" Target="../media/image32.jpeg" Type="http://schemas.openxmlformats.org/officeDocument/2006/relationships/image"/><Relationship Id="rId4" Target="../media/image33.jpeg" Type="http://schemas.openxmlformats.org/officeDocument/2006/relationships/image"/><Relationship Id="rId5" Target="../media/image34.png" Type="http://schemas.openxmlformats.org/officeDocument/2006/relationships/image"/><Relationship Id="rId6" Target="../media/image35.png" Type="http://schemas.openxmlformats.org/officeDocument/2006/relationships/image"/><Relationship Id="rId7" Target="../media/image36.png" Type="http://schemas.openxmlformats.org/officeDocument/2006/relationships/image"/><Relationship Id="rId8" Target="../media/image37.png" Type="http://schemas.openxmlformats.org/officeDocument/2006/relationships/image"/><Relationship Id="rId9" Target="../media/image3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jpeg" Type="http://schemas.openxmlformats.org/officeDocument/2006/relationships/image"/><Relationship Id="rId3" Target="../media/image47.jpeg" Type="http://schemas.openxmlformats.org/officeDocument/2006/relationships/image"/><Relationship Id="rId4" Target="../media/image4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jpeg" Type="http://schemas.openxmlformats.org/officeDocument/2006/relationships/image"/><Relationship Id="rId3" Target="../media/image50.jpeg" Type="http://schemas.openxmlformats.org/officeDocument/2006/relationships/image"/><Relationship Id="rId4" Target="../media/image4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9.png" Type="http://schemas.openxmlformats.org/officeDocument/2006/relationships/image"/><Relationship Id="rId2" Target="../media/image51.png" Type="http://schemas.openxmlformats.org/officeDocument/2006/relationships/image"/><Relationship Id="rId3" Target="../media/image52.png" Type="http://schemas.openxmlformats.org/officeDocument/2006/relationships/image"/><Relationship Id="rId4" Target="../media/image53.png" Type="http://schemas.openxmlformats.org/officeDocument/2006/relationships/image"/><Relationship Id="rId5" Target="../media/image54.png" Type="http://schemas.openxmlformats.org/officeDocument/2006/relationships/image"/><Relationship Id="rId6" Target="../media/image55.png" Type="http://schemas.openxmlformats.org/officeDocument/2006/relationships/image"/><Relationship Id="rId7" Target="../media/image56.png" Type="http://schemas.openxmlformats.org/officeDocument/2006/relationships/image"/><Relationship Id="rId8" Target="../media/image57.png" Type="http://schemas.openxmlformats.org/officeDocument/2006/relationships/image"/><Relationship Id="rId9" Target="../media/image5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png" Type="http://schemas.openxmlformats.org/officeDocument/2006/relationships/image"/><Relationship Id="rId3" Target="../media/image61.png" Type="http://schemas.openxmlformats.org/officeDocument/2006/relationships/image"/><Relationship Id="rId4" Target="../media/image6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3.png" Type="http://schemas.openxmlformats.org/officeDocument/2006/relationships/image"/><Relationship Id="rId3" Target="../media/image64.png" Type="http://schemas.openxmlformats.org/officeDocument/2006/relationships/image"/><Relationship Id="rId4" Target="../media/image65.png" Type="http://schemas.openxmlformats.org/officeDocument/2006/relationships/image"/><Relationship Id="rId5" Target="../media/image66.png" Type="http://schemas.openxmlformats.org/officeDocument/2006/relationships/image"/><Relationship Id="rId6" Target="../media/image67.png" Type="http://schemas.openxmlformats.org/officeDocument/2006/relationships/image"/><Relationship Id="rId7" Target="../media/image68.png" Type="http://schemas.openxmlformats.org/officeDocument/2006/relationships/image"/><Relationship Id="rId8" Target="../media/image69.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 Id="rId3" Target="../media/image71.png" Type="http://schemas.openxmlformats.org/officeDocument/2006/relationships/image"/><Relationship Id="rId4" Target="../media/image72.png" Type="http://schemas.openxmlformats.org/officeDocument/2006/relationships/image"/><Relationship Id="rId5" Target="../media/image73.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2.png" Type="http://schemas.openxmlformats.org/officeDocument/2006/relationships/image"/><Relationship Id="rId11" Target="../media/image83.png" Type="http://schemas.openxmlformats.org/officeDocument/2006/relationships/image"/><Relationship Id="rId12" Target="../media/image84.png" Type="http://schemas.openxmlformats.org/officeDocument/2006/relationships/image"/><Relationship Id="rId13" Target="../media/image85.png" Type="http://schemas.openxmlformats.org/officeDocument/2006/relationships/image"/><Relationship Id="rId14" Target="../media/image86.png" Type="http://schemas.openxmlformats.org/officeDocument/2006/relationships/image"/><Relationship Id="rId15" Target="../media/image67.png" Type="http://schemas.openxmlformats.org/officeDocument/2006/relationships/image"/><Relationship Id="rId2" Target="../media/image74.png" Type="http://schemas.openxmlformats.org/officeDocument/2006/relationships/image"/><Relationship Id="rId3" Target="../media/image75.png" Type="http://schemas.openxmlformats.org/officeDocument/2006/relationships/image"/><Relationship Id="rId4" Target="../media/image76.png" Type="http://schemas.openxmlformats.org/officeDocument/2006/relationships/image"/><Relationship Id="rId5" Target="../media/image77.png" Type="http://schemas.openxmlformats.org/officeDocument/2006/relationships/image"/><Relationship Id="rId6" Target="../media/image78.png" Type="http://schemas.openxmlformats.org/officeDocument/2006/relationships/image"/><Relationship Id="rId7" Target="../media/image79.png" Type="http://schemas.openxmlformats.org/officeDocument/2006/relationships/image"/><Relationship Id="rId8" Target="../media/image80.png" Type="http://schemas.openxmlformats.org/officeDocument/2006/relationships/image"/><Relationship Id="rId9" Target="../media/image8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svg" Type="http://schemas.openxmlformats.org/officeDocument/2006/relationships/image"/><Relationship Id="rId4" Target="../media/image87.png" Type="http://schemas.openxmlformats.org/officeDocument/2006/relationships/image"/><Relationship Id="rId5" Target="../media/image8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9.jpeg" Type="http://schemas.openxmlformats.org/officeDocument/2006/relationships/image"/><Relationship Id="rId3" Target="../media/VAHKs3hZZnk.mp4" Type="http://schemas.openxmlformats.org/officeDocument/2006/relationships/video"/><Relationship Id="rId4" Target="../media/VAHKs3hZZnk.mp4" Type="http://schemas.microsoft.com/office/2007/relationships/media"/></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https://doi.org/10.1109/TPAMI.2012.120" TargetMode="External" Type="http://schemas.openxmlformats.org/officeDocument/2006/relationships/hyperlink"/><Relationship Id="rId3" Target="https://doi.org/10.1109/ICCV.2001.937655" TargetMode="External" Type="http://schemas.openxmlformats.org/officeDocument/2006/relationships/hyperlink"/><Relationship Id="rId4" Target="https://doi.org/10.1016/j.cviu.2017.03.007" TargetMode="External" Type="http://schemas.openxmlformats.org/officeDocument/2006/relationships/hyperlink"/><Relationship Id="rId5" Target="https://doi.org/10.1109/TIP.2018.2836300" TargetMode="External" Type="http://schemas.openxmlformats.org/officeDocument/2006/relationships/hyperlink"/></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611945">
            <a:off x="14458950" y="4723039"/>
            <a:ext cx="7658100" cy="5426529"/>
            <a:chOff x="0" y="0"/>
            <a:chExt cx="2016948" cy="1429209"/>
          </a:xfrm>
        </p:grpSpPr>
        <p:sp>
          <p:nvSpPr>
            <p:cNvPr name="Freeform 3" id="3"/>
            <p:cNvSpPr/>
            <p:nvPr/>
          </p:nvSpPr>
          <p:spPr>
            <a:xfrm flipH="false" flipV="false" rot="0">
              <a:off x="0" y="0"/>
              <a:ext cx="2016948" cy="1429209"/>
            </a:xfrm>
            <a:custGeom>
              <a:avLst/>
              <a:gdLst/>
              <a:ahLst/>
              <a:cxnLst/>
              <a:rect r="r" b="b" t="t" l="l"/>
              <a:pathLst>
                <a:path h="1429209" w="2016948">
                  <a:moveTo>
                    <a:pt x="51558" y="0"/>
                  </a:moveTo>
                  <a:lnTo>
                    <a:pt x="1965390" y="0"/>
                  </a:lnTo>
                  <a:cubicBezTo>
                    <a:pt x="1979064" y="0"/>
                    <a:pt x="1992178" y="5432"/>
                    <a:pt x="2001847" y="15101"/>
                  </a:cubicBezTo>
                  <a:cubicBezTo>
                    <a:pt x="2011516" y="24770"/>
                    <a:pt x="2016948" y="37884"/>
                    <a:pt x="2016948" y="51558"/>
                  </a:cubicBezTo>
                  <a:lnTo>
                    <a:pt x="2016948" y="1377651"/>
                  </a:lnTo>
                  <a:cubicBezTo>
                    <a:pt x="2016948" y="1391325"/>
                    <a:pt x="2011516" y="1404439"/>
                    <a:pt x="2001847" y="1414108"/>
                  </a:cubicBezTo>
                  <a:cubicBezTo>
                    <a:pt x="1992178" y="1423777"/>
                    <a:pt x="1979064" y="1429209"/>
                    <a:pt x="1965390" y="1429209"/>
                  </a:cubicBezTo>
                  <a:lnTo>
                    <a:pt x="51558" y="1429209"/>
                  </a:lnTo>
                  <a:cubicBezTo>
                    <a:pt x="37884" y="1429209"/>
                    <a:pt x="24770" y="1423777"/>
                    <a:pt x="15101" y="1414108"/>
                  </a:cubicBezTo>
                  <a:cubicBezTo>
                    <a:pt x="5432" y="1404439"/>
                    <a:pt x="0" y="1391325"/>
                    <a:pt x="0" y="1377651"/>
                  </a:cubicBezTo>
                  <a:lnTo>
                    <a:pt x="0" y="51558"/>
                  </a:lnTo>
                  <a:cubicBezTo>
                    <a:pt x="0" y="37884"/>
                    <a:pt x="5432" y="24770"/>
                    <a:pt x="15101" y="15101"/>
                  </a:cubicBezTo>
                  <a:cubicBezTo>
                    <a:pt x="24770" y="5432"/>
                    <a:pt x="37884" y="0"/>
                    <a:pt x="51558" y="0"/>
                  </a:cubicBezTo>
                  <a:close/>
                </a:path>
              </a:pathLst>
            </a:custGeom>
            <a:solidFill>
              <a:srgbClr val="8D0000"/>
            </a:solidFill>
          </p:spPr>
        </p:sp>
        <p:sp>
          <p:nvSpPr>
            <p:cNvPr name="TextBox 4" id="4"/>
            <p:cNvSpPr txBox="true"/>
            <p:nvPr/>
          </p:nvSpPr>
          <p:spPr>
            <a:xfrm>
              <a:off x="0" y="-333375"/>
              <a:ext cx="2016948" cy="1762584"/>
            </a:xfrm>
            <a:prstGeom prst="rect">
              <a:avLst/>
            </a:prstGeom>
          </p:spPr>
          <p:txBody>
            <a:bodyPr anchor="ctr" rtlCol="false" tIns="50800" lIns="50800" bIns="50800" rIns="50800"/>
            <a:lstStyle/>
            <a:p>
              <a:pPr algn="ctr">
                <a:lnSpc>
                  <a:spcPts val="6249"/>
                </a:lnSpc>
              </a:pPr>
            </a:p>
          </p:txBody>
        </p:sp>
      </p:grpSp>
      <p:grpSp>
        <p:nvGrpSpPr>
          <p:cNvPr name="Group 5" id="5"/>
          <p:cNvGrpSpPr/>
          <p:nvPr/>
        </p:nvGrpSpPr>
        <p:grpSpPr>
          <a:xfrm rot="-2611945">
            <a:off x="-614581" y="-1866767"/>
            <a:ext cx="3031341" cy="2798456"/>
            <a:chOff x="0" y="0"/>
            <a:chExt cx="798378" cy="737042"/>
          </a:xfrm>
        </p:grpSpPr>
        <p:sp>
          <p:nvSpPr>
            <p:cNvPr name="Freeform 6" id="6"/>
            <p:cNvSpPr/>
            <p:nvPr/>
          </p:nvSpPr>
          <p:spPr>
            <a:xfrm flipH="false" flipV="false" rot="0">
              <a:off x="0" y="0"/>
              <a:ext cx="798378" cy="737042"/>
            </a:xfrm>
            <a:custGeom>
              <a:avLst/>
              <a:gdLst/>
              <a:ahLst/>
              <a:cxnLst/>
              <a:rect r="r" b="b" t="t" l="l"/>
              <a:pathLst>
                <a:path h="737042" w="798378">
                  <a:moveTo>
                    <a:pt x="130252" y="0"/>
                  </a:moveTo>
                  <a:lnTo>
                    <a:pt x="668126" y="0"/>
                  </a:lnTo>
                  <a:cubicBezTo>
                    <a:pt x="702671" y="0"/>
                    <a:pt x="735801" y="13723"/>
                    <a:pt x="760228" y="38150"/>
                  </a:cubicBezTo>
                  <a:cubicBezTo>
                    <a:pt x="784655" y="62577"/>
                    <a:pt x="798378" y="95707"/>
                    <a:pt x="798378" y="130252"/>
                  </a:cubicBezTo>
                  <a:lnTo>
                    <a:pt x="798378" y="606790"/>
                  </a:lnTo>
                  <a:cubicBezTo>
                    <a:pt x="798378" y="678726"/>
                    <a:pt x="740062" y="737042"/>
                    <a:pt x="668126" y="737042"/>
                  </a:cubicBezTo>
                  <a:lnTo>
                    <a:pt x="130252" y="737042"/>
                  </a:lnTo>
                  <a:cubicBezTo>
                    <a:pt x="58316" y="737042"/>
                    <a:pt x="0" y="678726"/>
                    <a:pt x="0" y="606790"/>
                  </a:cubicBezTo>
                  <a:lnTo>
                    <a:pt x="0" y="130252"/>
                  </a:lnTo>
                  <a:cubicBezTo>
                    <a:pt x="0" y="58316"/>
                    <a:pt x="58316" y="0"/>
                    <a:pt x="130252" y="0"/>
                  </a:cubicBezTo>
                  <a:close/>
                </a:path>
              </a:pathLst>
            </a:custGeom>
            <a:solidFill>
              <a:srgbClr val="C27F7F"/>
            </a:solidFill>
          </p:spPr>
        </p:sp>
        <p:sp>
          <p:nvSpPr>
            <p:cNvPr name="TextBox 7" id="7"/>
            <p:cNvSpPr txBox="true"/>
            <p:nvPr/>
          </p:nvSpPr>
          <p:spPr>
            <a:xfrm>
              <a:off x="0" y="-333375"/>
              <a:ext cx="798378" cy="1070417"/>
            </a:xfrm>
            <a:prstGeom prst="rect">
              <a:avLst/>
            </a:prstGeom>
          </p:spPr>
          <p:txBody>
            <a:bodyPr anchor="ctr" rtlCol="false" tIns="50800" lIns="50800" bIns="50800" rIns="50800"/>
            <a:lstStyle/>
            <a:p>
              <a:pPr algn="ctr">
                <a:lnSpc>
                  <a:spcPts val="6249"/>
                </a:lnSpc>
              </a:pPr>
            </a:p>
          </p:txBody>
        </p:sp>
      </p:grpSp>
      <p:grpSp>
        <p:nvGrpSpPr>
          <p:cNvPr name="Group 8" id="8"/>
          <p:cNvGrpSpPr/>
          <p:nvPr/>
        </p:nvGrpSpPr>
        <p:grpSpPr>
          <a:xfrm rot="-2611945">
            <a:off x="12055325" y="9566947"/>
            <a:ext cx="3031341" cy="2798456"/>
            <a:chOff x="0" y="0"/>
            <a:chExt cx="798378" cy="737042"/>
          </a:xfrm>
        </p:grpSpPr>
        <p:sp>
          <p:nvSpPr>
            <p:cNvPr name="Freeform 9" id="9"/>
            <p:cNvSpPr/>
            <p:nvPr/>
          </p:nvSpPr>
          <p:spPr>
            <a:xfrm flipH="false" flipV="false" rot="0">
              <a:off x="0" y="0"/>
              <a:ext cx="798378" cy="737042"/>
            </a:xfrm>
            <a:custGeom>
              <a:avLst/>
              <a:gdLst/>
              <a:ahLst/>
              <a:cxnLst/>
              <a:rect r="r" b="b" t="t" l="l"/>
              <a:pathLst>
                <a:path h="737042" w="798378">
                  <a:moveTo>
                    <a:pt x="130252" y="0"/>
                  </a:moveTo>
                  <a:lnTo>
                    <a:pt x="668126" y="0"/>
                  </a:lnTo>
                  <a:cubicBezTo>
                    <a:pt x="702671" y="0"/>
                    <a:pt x="735801" y="13723"/>
                    <a:pt x="760228" y="38150"/>
                  </a:cubicBezTo>
                  <a:cubicBezTo>
                    <a:pt x="784655" y="62577"/>
                    <a:pt x="798378" y="95707"/>
                    <a:pt x="798378" y="130252"/>
                  </a:cubicBezTo>
                  <a:lnTo>
                    <a:pt x="798378" y="606790"/>
                  </a:lnTo>
                  <a:cubicBezTo>
                    <a:pt x="798378" y="678726"/>
                    <a:pt x="740062" y="737042"/>
                    <a:pt x="668126" y="737042"/>
                  </a:cubicBezTo>
                  <a:lnTo>
                    <a:pt x="130252" y="737042"/>
                  </a:lnTo>
                  <a:cubicBezTo>
                    <a:pt x="58316" y="737042"/>
                    <a:pt x="0" y="678726"/>
                    <a:pt x="0" y="606790"/>
                  </a:cubicBezTo>
                  <a:lnTo>
                    <a:pt x="0" y="130252"/>
                  </a:lnTo>
                  <a:cubicBezTo>
                    <a:pt x="0" y="58316"/>
                    <a:pt x="58316" y="0"/>
                    <a:pt x="130252" y="0"/>
                  </a:cubicBezTo>
                  <a:close/>
                </a:path>
              </a:pathLst>
            </a:custGeom>
            <a:solidFill>
              <a:srgbClr val="C27F7F"/>
            </a:solidFill>
          </p:spPr>
        </p:sp>
        <p:sp>
          <p:nvSpPr>
            <p:cNvPr name="TextBox 10" id="10"/>
            <p:cNvSpPr txBox="true"/>
            <p:nvPr/>
          </p:nvSpPr>
          <p:spPr>
            <a:xfrm>
              <a:off x="0" y="-333375"/>
              <a:ext cx="798378" cy="1070417"/>
            </a:xfrm>
            <a:prstGeom prst="rect">
              <a:avLst/>
            </a:prstGeom>
          </p:spPr>
          <p:txBody>
            <a:bodyPr anchor="ctr" rtlCol="false" tIns="50800" lIns="50800" bIns="50800" rIns="50800"/>
            <a:lstStyle/>
            <a:p>
              <a:pPr algn="ctr">
                <a:lnSpc>
                  <a:spcPts val="6249"/>
                </a:lnSpc>
              </a:pPr>
            </a:p>
          </p:txBody>
        </p:sp>
      </p:grpSp>
      <p:sp>
        <p:nvSpPr>
          <p:cNvPr name="AutoShape 11" id="11"/>
          <p:cNvSpPr/>
          <p:nvPr/>
        </p:nvSpPr>
        <p:spPr>
          <a:xfrm>
            <a:off x="2134298" y="7182455"/>
            <a:ext cx="7624853" cy="16287"/>
          </a:xfrm>
          <a:prstGeom prst="line">
            <a:avLst/>
          </a:prstGeom>
          <a:ln cap="flat" w="38100">
            <a:solidFill>
              <a:srgbClr val="000000"/>
            </a:solidFill>
            <a:prstDash val="sysDash"/>
            <a:headEnd type="none" len="sm" w="sm"/>
            <a:tailEnd type="none" len="sm" w="sm"/>
          </a:ln>
        </p:spPr>
      </p:sp>
      <p:grpSp>
        <p:nvGrpSpPr>
          <p:cNvPr name="Group 12" id="12"/>
          <p:cNvGrpSpPr/>
          <p:nvPr/>
        </p:nvGrpSpPr>
        <p:grpSpPr>
          <a:xfrm rot="-2611945">
            <a:off x="12744473" y="42362"/>
            <a:ext cx="8101900" cy="3702724"/>
            <a:chOff x="0" y="0"/>
            <a:chExt cx="2133834" cy="975203"/>
          </a:xfrm>
        </p:grpSpPr>
        <p:sp>
          <p:nvSpPr>
            <p:cNvPr name="Freeform 13" id="13"/>
            <p:cNvSpPr/>
            <p:nvPr/>
          </p:nvSpPr>
          <p:spPr>
            <a:xfrm flipH="false" flipV="false" rot="0">
              <a:off x="0" y="0"/>
              <a:ext cx="2133834" cy="975203"/>
            </a:xfrm>
            <a:custGeom>
              <a:avLst/>
              <a:gdLst/>
              <a:ahLst/>
              <a:cxnLst/>
              <a:rect r="r" b="b" t="t" l="l"/>
              <a:pathLst>
                <a:path h="975203" w="2133834">
                  <a:moveTo>
                    <a:pt x="48734" y="0"/>
                  </a:moveTo>
                  <a:lnTo>
                    <a:pt x="2085100" y="0"/>
                  </a:lnTo>
                  <a:cubicBezTo>
                    <a:pt x="2112015" y="0"/>
                    <a:pt x="2133834" y="21819"/>
                    <a:pt x="2133834" y="48734"/>
                  </a:cubicBezTo>
                  <a:lnTo>
                    <a:pt x="2133834" y="926469"/>
                  </a:lnTo>
                  <a:cubicBezTo>
                    <a:pt x="2133834" y="953384"/>
                    <a:pt x="2112015" y="975203"/>
                    <a:pt x="2085100" y="975203"/>
                  </a:cubicBezTo>
                  <a:lnTo>
                    <a:pt x="48734" y="975203"/>
                  </a:lnTo>
                  <a:cubicBezTo>
                    <a:pt x="21819" y="975203"/>
                    <a:pt x="0" y="953384"/>
                    <a:pt x="0" y="926469"/>
                  </a:cubicBezTo>
                  <a:lnTo>
                    <a:pt x="0" y="48734"/>
                  </a:lnTo>
                  <a:cubicBezTo>
                    <a:pt x="0" y="21819"/>
                    <a:pt x="21819" y="0"/>
                    <a:pt x="48734" y="0"/>
                  </a:cubicBezTo>
                  <a:close/>
                </a:path>
              </a:pathLst>
            </a:custGeom>
            <a:solidFill>
              <a:srgbClr val="C27F7F"/>
            </a:solidFill>
          </p:spPr>
        </p:sp>
        <p:sp>
          <p:nvSpPr>
            <p:cNvPr name="TextBox 14" id="14"/>
            <p:cNvSpPr txBox="true"/>
            <p:nvPr/>
          </p:nvSpPr>
          <p:spPr>
            <a:xfrm>
              <a:off x="0" y="-333375"/>
              <a:ext cx="2133834" cy="1308578"/>
            </a:xfrm>
            <a:prstGeom prst="rect">
              <a:avLst/>
            </a:prstGeom>
          </p:spPr>
          <p:txBody>
            <a:bodyPr anchor="ctr" rtlCol="false" tIns="50800" lIns="50800" bIns="50800" rIns="50800"/>
            <a:lstStyle/>
            <a:p>
              <a:pPr algn="ctr">
                <a:lnSpc>
                  <a:spcPts val="6249"/>
                </a:lnSpc>
              </a:pPr>
            </a:p>
          </p:txBody>
        </p:sp>
      </p:grpSp>
      <p:grpSp>
        <p:nvGrpSpPr>
          <p:cNvPr name="Group 15" id="15"/>
          <p:cNvGrpSpPr/>
          <p:nvPr/>
        </p:nvGrpSpPr>
        <p:grpSpPr>
          <a:xfrm rot="-2789597">
            <a:off x="1430306" y="1517181"/>
            <a:ext cx="606050" cy="530294"/>
            <a:chOff x="0" y="0"/>
            <a:chExt cx="812800" cy="711200"/>
          </a:xfrm>
        </p:grpSpPr>
        <p:sp>
          <p:nvSpPr>
            <p:cNvPr name="Freeform 16" id="16"/>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8D0000"/>
            </a:solidFill>
          </p:spPr>
        </p:sp>
        <p:sp>
          <p:nvSpPr>
            <p:cNvPr name="TextBox 17" id="17"/>
            <p:cNvSpPr txBox="true"/>
            <p:nvPr/>
          </p:nvSpPr>
          <p:spPr>
            <a:xfrm>
              <a:off x="127000" y="-3175"/>
              <a:ext cx="558800" cy="663575"/>
            </a:xfrm>
            <a:prstGeom prst="rect">
              <a:avLst/>
            </a:prstGeom>
          </p:spPr>
          <p:txBody>
            <a:bodyPr anchor="ctr" rtlCol="false" tIns="50800" lIns="50800" bIns="50800" rIns="50800"/>
            <a:lstStyle/>
            <a:p>
              <a:pPr algn="ctr">
                <a:lnSpc>
                  <a:spcPts val="6249"/>
                </a:lnSpc>
              </a:pPr>
            </a:p>
          </p:txBody>
        </p:sp>
      </p:grpSp>
      <p:grpSp>
        <p:nvGrpSpPr>
          <p:cNvPr name="Group 18" id="18"/>
          <p:cNvGrpSpPr/>
          <p:nvPr/>
        </p:nvGrpSpPr>
        <p:grpSpPr>
          <a:xfrm rot="-2789597">
            <a:off x="1633441" y="1705089"/>
            <a:ext cx="431165" cy="377270"/>
            <a:chOff x="0" y="0"/>
            <a:chExt cx="812800" cy="711200"/>
          </a:xfrm>
        </p:grpSpPr>
        <p:sp>
          <p:nvSpPr>
            <p:cNvPr name="Freeform 19" id="1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C27F7F"/>
            </a:solidFill>
          </p:spPr>
        </p:sp>
        <p:sp>
          <p:nvSpPr>
            <p:cNvPr name="TextBox 20" id="20"/>
            <p:cNvSpPr txBox="true"/>
            <p:nvPr/>
          </p:nvSpPr>
          <p:spPr>
            <a:xfrm>
              <a:off x="127000" y="-3175"/>
              <a:ext cx="558800" cy="663575"/>
            </a:xfrm>
            <a:prstGeom prst="rect">
              <a:avLst/>
            </a:prstGeom>
          </p:spPr>
          <p:txBody>
            <a:bodyPr anchor="ctr" rtlCol="false" tIns="50800" lIns="50800" bIns="50800" rIns="50800"/>
            <a:lstStyle/>
            <a:p>
              <a:pPr algn="ctr">
                <a:lnSpc>
                  <a:spcPts val="6249"/>
                </a:lnSpc>
              </a:pPr>
            </a:p>
          </p:txBody>
        </p:sp>
      </p:grpSp>
      <p:grpSp>
        <p:nvGrpSpPr>
          <p:cNvPr name="Group 21" id="21"/>
          <p:cNvGrpSpPr/>
          <p:nvPr/>
        </p:nvGrpSpPr>
        <p:grpSpPr>
          <a:xfrm rot="-2611945">
            <a:off x="10808920" y="-3972270"/>
            <a:ext cx="8101900" cy="3702724"/>
            <a:chOff x="0" y="0"/>
            <a:chExt cx="2133834" cy="975203"/>
          </a:xfrm>
        </p:grpSpPr>
        <p:sp>
          <p:nvSpPr>
            <p:cNvPr name="Freeform 22" id="22"/>
            <p:cNvSpPr/>
            <p:nvPr/>
          </p:nvSpPr>
          <p:spPr>
            <a:xfrm flipH="false" flipV="false" rot="0">
              <a:off x="0" y="0"/>
              <a:ext cx="2133834" cy="975203"/>
            </a:xfrm>
            <a:custGeom>
              <a:avLst/>
              <a:gdLst/>
              <a:ahLst/>
              <a:cxnLst/>
              <a:rect r="r" b="b" t="t" l="l"/>
              <a:pathLst>
                <a:path h="975203" w="2133834">
                  <a:moveTo>
                    <a:pt x="48734" y="0"/>
                  </a:moveTo>
                  <a:lnTo>
                    <a:pt x="2085100" y="0"/>
                  </a:lnTo>
                  <a:cubicBezTo>
                    <a:pt x="2112015" y="0"/>
                    <a:pt x="2133834" y="21819"/>
                    <a:pt x="2133834" y="48734"/>
                  </a:cubicBezTo>
                  <a:lnTo>
                    <a:pt x="2133834" y="926469"/>
                  </a:lnTo>
                  <a:cubicBezTo>
                    <a:pt x="2133834" y="953384"/>
                    <a:pt x="2112015" y="975203"/>
                    <a:pt x="2085100" y="975203"/>
                  </a:cubicBezTo>
                  <a:lnTo>
                    <a:pt x="48734" y="975203"/>
                  </a:lnTo>
                  <a:cubicBezTo>
                    <a:pt x="21819" y="975203"/>
                    <a:pt x="0" y="953384"/>
                    <a:pt x="0" y="926469"/>
                  </a:cubicBezTo>
                  <a:lnTo>
                    <a:pt x="0" y="48734"/>
                  </a:lnTo>
                  <a:cubicBezTo>
                    <a:pt x="0" y="21819"/>
                    <a:pt x="21819" y="0"/>
                    <a:pt x="48734" y="0"/>
                  </a:cubicBezTo>
                  <a:close/>
                </a:path>
              </a:pathLst>
            </a:custGeom>
            <a:solidFill>
              <a:srgbClr val="C27F7F"/>
            </a:solidFill>
          </p:spPr>
        </p:sp>
        <p:sp>
          <p:nvSpPr>
            <p:cNvPr name="TextBox 23" id="23"/>
            <p:cNvSpPr txBox="true"/>
            <p:nvPr/>
          </p:nvSpPr>
          <p:spPr>
            <a:xfrm>
              <a:off x="0" y="-333375"/>
              <a:ext cx="2133834" cy="1308578"/>
            </a:xfrm>
            <a:prstGeom prst="rect">
              <a:avLst/>
            </a:prstGeom>
          </p:spPr>
          <p:txBody>
            <a:bodyPr anchor="ctr" rtlCol="false" tIns="50800" lIns="50800" bIns="50800" rIns="50800"/>
            <a:lstStyle/>
            <a:p>
              <a:pPr algn="ctr">
                <a:lnSpc>
                  <a:spcPts val="6249"/>
                </a:lnSpc>
              </a:pPr>
            </a:p>
          </p:txBody>
        </p:sp>
      </p:grpSp>
      <p:grpSp>
        <p:nvGrpSpPr>
          <p:cNvPr name="Group 24" id="24"/>
          <p:cNvGrpSpPr/>
          <p:nvPr/>
        </p:nvGrpSpPr>
        <p:grpSpPr>
          <a:xfrm rot="-2611945">
            <a:off x="-6128725" y="8307085"/>
            <a:ext cx="8101900" cy="3702724"/>
            <a:chOff x="0" y="0"/>
            <a:chExt cx="2133834" cy="975203"/>
          </a:xfrm>
        </p:grpSpPr>
        <p:sp>
          <p:nvSpPr>
            <p:cNvPr name="Freeform 25" id="25"/>
            <p:cNvSpPr/>
            <p:nvPr/>
          </p:nvSpPr>
          <p:spPr>
            <a:xfrm flipH="false" flipV="false" rot="0">
              <a:off x="0" y="0"/>
              <a:ext cx="2133834" cy="975203"/>
            </a:xfrm>
            <a:custGeom>
              <a:avLst/>
              <a:gdLst/>
              <a:ahLst/>
              <a:cxnLst/>
              <a:rect r="r" b="b" t="t" l="l"/>
              <a:pathLst>
                <a:path h="975203" w="2133834">
                  <a:moveTo>
                    <a:pt x="48734" y="0"/>
                  </a:moveTo>
                  <a:lnTo>
                    <a:pt x="2085100" y="0"/>
                  </a:lnTo>
                  <a:cubicBezTo>
                    <a:pt x="2112015" y="0"/>
                    <a:pt x="2133834" y="21819"/>
                    <a:pt x="2133834" y="48734"/>
                  </a:cubicBezTo>
                  <a:lnTo>
                    <a:pt x="2133834" y="926469"/>
                  </a:lnTo>
                  <a:cubicBezTo>
                    <a:pt x="2133834" y="953384"/>
                    <a:pt x="2112015" y="975203"/>
                    <a:pt x="2085100" y="975203"/>
                  </a:cubicBezTo>
                  <a:lnTo>
                    <a:pt x="48734" y="975203"/>
                  </a:lnTo>
                  <a:cubicBezTo>
                    <a:pt x="21819" y="975203"/>
                    <a:pt x="0" y="953384"/>
                    <a:pt x="0" y="926469"/>
                  </a:cubicBezTo>
                  <a:lnTo>
                    <a:pt x="0" y="48734"/>
                  </a:lnTo>
                  <a:cubicBezTo>
                    <a:pt x="0" y="21819"/>
                    <a:pt x="21819" y="0"/>
                    <a:pt x="48734" y="0"/>
                  </a:cubicBezTo>
                  <a:close/>
                </a:path>
              </a:pathLst>
            </a:custGeom>
            <a:solidFill>
              <a:srgbClr val="FFE9E9"/>
            </a:solidFill>
          </p:spPr>
        </p:sp>
        <p:sp>
          <p:nvSpPr>
            <p:cNvPr name="TextBox 26" id="26"/>
            <p:cNvSpPr txBox="true"/>
            <p:nvPr/>
          </p:nvSpPr>
          <p:spPr>
            <a:xfrm>
              <a:off x="0" y="-333375"/>
              <a:ext cx="2133834" cy="1308578"/>
            </a:xfrm>
            <a:prstGeom prst="rect">
              <a:avLst/>
            </a:prstGeom>
          </p:spPr>
          <p:txBody>
            <a:bodyPr anchor="ctr" rtlCol="false" tIns="50800" lIns="50800" bIns="50800" rIns="50800"/>
            <a:lstStyle/>
            <a:p>
              <a:pPr algn="ctr">
                <a:lnSpc>
                  <a:spcPts val="6249"/>
                </a:lnSpc>
              </a:pPr>
            </a:p>
          </p:txBody>
        </p:sp>
      </p:grpSp>
      <p:sp>
        <p:nvSpPr>
          <p:cNvPr name="Freeform 27" id="27"/>
          <p:cNvSpPr/>
          <p:nvPr/>
        </p:nvSpPr>
        <p:spPr>
          <a:xfrm flipH="false" flipV="false" rot="0">
            <a:off x="4718977" y="182054"/>
            <a:ext cx="4437184" cy="1425445"/>
          </a:xfrm>
          <a:custGeom>
            <a:avLst/>
            <a:gdLst/>
            <a:ahLst/>
            <a:cxnLst/>
            <a:rect r="r" b="b" t="t" l="l"/>
            <a:pathLst>
              <a:path h="1425445" w="4437184">
                <a:moveTo>
                  <a:pt x="0" y="0"/>
                </a:moveTo>
                <a:lnTo>
                  <a:pt x="4437184" y="0"/>
                </a:lnTo>
                <a:lnTo>
                  <a:pt x="4437184" y="1425446"/>
                </a:lnTo>
                <a:lnTo>
                  <a:pt x="0" y="1425446"/>
                </a:lnTo>
                <a:lnTo>
                  <a:pt x="0" y="0"/>
                </a:lnTo>
                <a:close/>
              </a:path>
            </a:pathLst>
          </a:custGeom>
          <a:blipFill>
            <a:blip r:embed="rId2"/>
            <a:stretch>
              <a:fillRect l="0" t="0" r="0" b="0"/>
            </a:stretch>
          </a:blipFill>
        </p:spPr>
      </p:sp>
      <p:grpSp>
        <p:nvGrpSpPr>
          <p:cNvPr name="Group 28" id="28"/>
          <p:cNvGrpSpPr/>
          <p:nvPr/>
        </p:nvGrpSpPr>
        <p:grpSpPr>
          <a:xfrm rot="2787956">
            <a:off x="14628928" y="-2235711"/>
            <a:ext cx="4332989" cy="8228708"/>
            <a:chOff x="0" y="0"/>
            <a:chExt cx="633602" cy="1203263"/>
          </a:xfrm>
        </p:grpSpPr>
        <p:sp>
          <p:nvSpPr>
            <p:cNvPr name="Freeform 29" id="29"/>
            <p:cNvSpPr/>
            <p:nvPr/>
          </p:nvSpPr>
          <p:spPr>
            <a:xfrm flipH="false" flipV="false" rot="0">
              <a:off x="0" y="0"/>
              <a:ext cx="633602" cy="1203263"/>
            </a:xfrm>
            <a:custGeom>
              <a:avLst/>
              <a:gdLst/>
              <a:ahLst/>
              <a:cxnLst/>
              <a:rect r="r" b="b" t="t" l="l"/>
              <a:pathLst>
                <a:path h="1203263" w="633602">
                  <a:moveTo>
                    <a:pt x="105418" y="0"/>
                  </a:moveTo>
                  <a:lnTo>
                    <a:pt x="528184" y="0"/>
                  </a:lnTo>
                  <a:cubicBezTo>
                    <a:pt x="586405" y="0"/>
                    <a:pt x="633602" y="47197"/>
                    <a:pt x="633602" y="105418"/>
                  </a:cubicBezTo>
                  <a:lnTo>
                    <a:pt x="633602" y="1097845"/>
                  </a:lnTo>
                  <a:cubicBezTo>
                    <a:pt x="633602" y="1125804"/>
                    <a:pt x="622495" y="1152617"/>
                    <a:pt x="602726" y="1172387"/>
                  </a:cubicBezTo>
                  <a:cubicBezTo>
                    <a:pt x="582956" y="1192156"/>
                    <a:pt x="556143" y="1203263"/>
                    <a:pt x="528184" y="1203263"/>
                  </a:cubicBezTo>
                  <a:lnTo>
                    <a:pt x="105418" y="1203263"/>
                  </a:lnTo>
                  <a:cubicBezTo>
                    <a:pt x="47197" y="1203263"/>
                    <a:pt x="0" y="1156066"/>
                    <a:pt x="0" y="1097845"/>
                  </a:cubicBezTo>
                  <a:lnTo>
                    <a:pt x="0" y="105418"/>
                  </a:lnTo>
                  <a:cubicBezTo>
                    <a:pt x="0" y="47197"/>
                    <a:pt x="47197" y="0"/>
                    <a:pt x="105418" y="0"/>
                  </a:cubicBezTo>
                  <a:close/>
                </a:path>
              </a:pathLst>
            </a:custGeom>
            <a:blipFill>
              <a:blip r:embed="rId3"/>
              <a:stretch>
                <a:fillRect l="-17519" t="0" r="-9473" b="-306"/>
              </a:stretch>
            </a:blipFill>
          </p:spPr>
        </p:sp>
      </p:grpSp>
      <p:grpSp>
        <p:nvGrpSpPr>
          <p:cNvPr name="Group 30" id="30"/>
          <p:cNvGrpSpPr/>
          <p:nvPr/>
        </p:nvGrpSpPr>
        <p:grpSpPr>
          <a:xfrm rot="2787956">
            <a:off x="16320269" y="1690579"/>
            <a:ext cx="5164510" cy="9807835"/>
            <a:chOff x="0" y="0"/>
            <a:chExt cx="633602" cy="1203263"/>
          </a:xfrm>
        </p:grpSpPr>
        <p:sp>
          <p:nvSpPr>
            <p:cNvPr name="Freeform 31" id="31"/>
            <p:cNvSpPr/>
            <p:nvPr/>
          </p:nvSpPr>
          <p:spPr>
            <a:xfrm flipH="false" flipV="false" rot="-3206972">
              <a:off x="-319902" y="24117"/>
              <a:ext cx="1273406" cy="1155029"/>
            </a:xfrm>
            <a:custGeom>
              <a:avLst/>
              <a:gdLst/>
              <a:ahLst/>
              <a:cxnLst/>
              <a:rect r="r" b="b" t="t" l="l"/>
              <a:pathLst>
                <a:path h="1155029" w="1273406">
                  <a:moveTo>
                    <a:pt x="984020" y="35778"/>
                  </a:moveTo>
                  <a:lnTo>
                    <a:pt x="1256006" y="402671"/>
                  </a:lnTo>
                  <a:cubicBezTo>
                    <a:pt x="1285096" y="441911"/>
                    <a:pt x="1276867" y="497303"/>
                    <a:pt x="1237627" y="526393"/>
                  </a:cubicBezTo>
                  <a:lnTo>
                    <a:pt x="413108" y="1137629"/>
                  </a:lnTo>
                  <a:cubicBezTo>
                    <a:pt x="373868" y="1166719"/>
                    <a:pt x="318476" y="1158490"/>
                    <a:pt x="289386" y="1119250"/>
                  </a:cubicBezTo>
                  <a:lnTo>
                    <a:pt x="17400" y="752358"/>
                  </a:lnTo>
                  <a:cubicBezTo>
                    <a:pt x="-11690" y="713118"/>
                    <a:pt x="-3461" y="657726"/>
                    <a:pt x="35779" y="628636"/>
                  </a:cubicBezTo>
                  <a:lnTo>
                    <a:pt x="860298" y="17399"/>
                  </a:lnTo>
                  <a:cubicBezTo>
                    <a:pt x="899538" y="-11690"/>
                    <a:pt x="954930" y="-3462"/>
                    <a:pt x="984020" y="35778"/>
                  </a:cubicBezTo>
                  <a:close/>
                </a:path>
              </a:pathLst>
            </a:custGeom>
            <a:blipFill>
              <a:blip r:embed="rId4"/>
              <a:stretch>
                <a:fillRect l="-13553" t="-3053" r="-13553" b="-3053"/>
              </a:stretch>
            </a:blipFill>
          </p:spPr>
        </p:sp>
      </p:grpSp>
      <p:sp>
        <p:nvSpPr>
          <p:cNvPr name="TextBox 32" id="32"/>
          <p:cNvSpPr txBox="true"/>
          <p:nvPr/>
        </p:nvSpPr>
        <p:spPr>
          <a:xfrm rot="0">
            <a:off x="2134298" y="4850872"/>
            <a:ext cx="7783104" cy="1579003"/>
          </a:xfrm>
          <a:prstGeom prst="rect">
            <a:avLst/>
          </a:prstGeom>
        </p:spPr>
        <p:txBody>
          <a:bodyPr anchor="t" rtlCol="false" tIns="0" lIns="0" bIns="0" rIns="0">
            <a:spAutoFit/>
          </a:bodyPr>
          <a:lstStyle/>
          <a:p>
            <a:pPr algn="l">
              <a:lnSpc>
                <a:spcPts val="6126"/>
              </a:lnSpc>
            </a:pPr>
            <a:r>
              <a:rPr lang="en-US" sz="6188" b="true">
                <a:solidFill>
                  <a:srgbClr val="000000"/>
                </a:solidFill>
                <a:latin typeface="Canva Sans Bold"/>
                <a:ea typeface="Canva Sans Bold"/>
                <a:cs typeface="Canva Sans Bold"/>
                <a:sym typeface="Canva Sans Bold"/>
              </a:rPr>
              <a:t>SEG</a:t>
            </a:r>
            <a:r>
              <a:rPr lang="en-US" sz="6188" b="true">
                <a:solidFill>
                  <a:srgbClr val="000000"/>
                </a:solidFill>
                <a:latin typeface="Canva Sans Bold"/>
                <a:ea typeface="Canva Sans Bold"/>
                <a:cs typeface="Canva Sans Bold"/>
                <a:sym typeface="Canva Sans Bold"/>
              </a:rPr>
              <a:t>MENTATION EN SUPERPIXELS</a:t>
            </a:r>
          </a:p>
        </p:txBody>
      </p:sp>
      <p:sp>
        <p:nvSpPr>
          <p:cNvPr name="TextBox 33" id="33"/>
          <p:cNvSpPr txBox="true"/>
          <p:nvPr/>
        </p:nvSpPr>
        <p:spPr>
          <a:xfrm rot="0">
            <a:off x="2198593" y="4141132"/>
            <a:ext cx="2209882" cy="535671"/>
          </a:xfrm>
          <a:prstGeom prst="rect">
            <a:avLst/>
          </a:prstGeom>
        </p:spPr>
        <p:txBody>
          <a:bodyPr anchor="t" rtlCol="false" tIns="0" lIns="0" bIns="0" rIns="0">
            <a:spAutoFit/>
          </a:bodyPr>
          <a:lstStyle/>
          <a:p>
            <a:pPr algn="l">
              <a:lnSpc>
                <a:spcPts val="3765"/>
              </a:lnSpc>
            </a:pPr>
            <a:r>
              <a:rPr lang="en-US" b="true" sz="3803" spc="775">
                <a:solidFill>
                  <a:srgbClr val="8D0000"/>
                </a:solidFill>
                <a:latin typeface="Poppins Bold"/>
                <a:ea typeface="Poppins Bold"/>
                <a:cs typeface="Poppins Bold"/>
                <a:sym typeface="Poppins Bold"/>
              </a:rPr>
              <a:t>THÈME</a:t>
            </a:r>
          </a:p>
        </p:txBody>
      </p:sp>
      <p:sp>
        <p:nvSpPr>
          <p:cNvPr name="TextBox 34" id="34"/>
          <p:cNvSpPr txBox="true"/>
          <p:nvPr/>
        </p:nvSpPr>
        <p:spPr>
          <a:xfrm rot="0">
            <a:off x="2059004" y="1478273"/>
            <a:ext cx="9757131" cy="1327150"/>
          </a:xfrm>
          <a:prstGeom prst="rect">
            <a:avLst/>
          </a:prstGeom>
        </p:spPr>
        <p:txBody>
          <a:bodyPr anchor="t" rtlCol="false" tIns="0" lIns="0" bIns="0" rIns="0">
            <a:spAutoFit/>
          </a:bodyPr>
          <a:lstStyle/>
          <a:p>
            <a:pPr algn="ctr">
              <a:lnSpc>
                <a:spcPts val="3500"/>
              </a:lnSpc>
            </a:pPr>
            <a:r>
              <a:rPr lang="en-US" sz="2500" i="true">
                <a:solidFill>
                  <a:srgbClr val="000000"/>
                </a:solidFill>
                <a:latin typeface="Poppins Italics"/>
                <a:ea typeface="Poppins Italics"/>
                <a:cs typeface="Poppins Italics"/>
                <a:sym typeface="Poppins Italics"/>
              </a:rPr>
              <a:t>Université de Toulouse</a:t>
            </a:r>
          </a:p>
          <a:p>
            <a:pPr algn="ctr">
              <a:lnSpc>
                <a:spcPts val="3500"/>
              </a:lnSpc>
            </a:pPr>
            <a:r>
              <a:rPr lang="en-US" sz="2500" i="true">
                <a:solidFill>
                  <a:srgbClr val="000000"/>
                </a:solidFill>
                <a:latin typeface="Poppins Italics"/>
                <a:ea typeface="Poppins Italics"/>
                <a:cs typeface="Poppins Italics"/>
                <a:sym typeface="Poppins Italics"/>
              </a:rPr>
              <a:t>Faculté des sciences et ingénierie</a:t>
            </a:r>
          </a:p>
          <a:p>
            <a:pPr algn="ctr">
              <a:lnSpc>
                <a:spcPts val="3500"/>
              </a:lnSpc>
            </a:pPr>
            <a:r>
              <a:rPr lang="en-US" sz="2500" i="true">
                <a:solidFill>
                  <a:srgbClr val="000000"/>
                </a:solidFill>
                <a:latin typeface="Poppins Italics"/>
                <a:ea typeface="Poppins Italics"/>
                <a:cs typeface="Poppins Italics"/>
                <a:sym typeface="Poppins Italics"/>
              </a:rPr>
              <a:t>Master 1 Signal, Image &amp; Apprentissage Automatique (SIA2)</a:t>
            </a:r>
          </a:p>
        </p:txBody>
      </p:sp>
      <p:sp>
        <p:nvSpPr>
          <p:cNvPr name="TextBox 35" id="35"/>
          <p:cNvSpPr txBox="true"/>
          <p:nvPr/>
        </p:nvSpPr>
        <p:spPr>
          <a:xfrm rot="0">
            <a:off x="1003830" y="8043596"/>
            <a:ext cx="12894629" cy="1088467"/>
          </a:xfrm>
          <a:prstGeom prst="rect">
            <a:avLst/>
          </a:prstGeom>
        </p:spPr>
        <p:txBody>
          <a:bodyPr anchor="t" rtlCol="false" tIns="0" lIns="0" bIns="0" rIns="0">
            <a:spAutoFit/>
          </a:bodyPr>
          <a:lstStyle/>
          <a:p>
            <a:pPr algn="l">
              <a:lnSpc>
                <a:spcPts val="4279"/>
              </a:lnSpc>
            </a:pPr>
            <a:r>
              <a:rPr lang="en-US" sz="3057" spc="152" b="true">
                <a:solidFill>
                  <a:srgbClr val="2E2E2E"/>
                </a:solidFill>
                <a:latin typeface="Poppins Bold"/>
                <a:ea typeface="Poppins Bold"/>
                <a:cs typeface="Poppins Bold"/>
                <a:sym typeface="Poppins Bold"/>
              </a:rPr>
              <a:t>           S. KABA     M. KABAWA      P. DONFACK      F. AWOUNANG  </a:t>
            </a:r>
          </a:p>
          <a:p>
            <a:pPr algn="l">
              <a:lnSpc>
                <a:spcPts val="4279"/>
              </a:lnSpc>
            </a:pPr>
          </a:p>
        </p:txBody>
      </p:sp>
      <p:sp>
        <p:nvSpPr>
          <p:cNvPr name="TextBox 36" id="36"/>
          <p:cNvSpPr txBox="true"/>
          <p:nvPr/>
        </p:nvSpPr>
        <p:spPr>
          <a:xfrm rot="0">
            <a:off x="2134255" y="6489721"/>
            <a:ext cx="4052101" cy="634658"/>
          </a:xfrm>
          <a:prstGeom prst="rect">
            <a:avLst/>
          </a:prstGeom>
        </p:spPr>
        <p:txBody>
          <a:bodyPr anchor="t" rtlCol="false" tIns="0" lIns="0" bIns="0" rIns="0">
            <a:spAutoFit/>
          </a:bodyPr>
          <a:lstStyle/>
          <a:p>
            <a:pPr algn="ctr">
              <a:lnSpc>
                <a:spcPts val="4907"/>
              </a:lnSpc>
              <a:spcBef>
                <a:spcPct val="0"/>
              </a:spcBef>
            </a:pPr>
            <a:r>
              <a:rPr lang="en-US" b="true" sz="3505">
                <a:solidFill>
                  <a:srgbClr val="8D0000"/>
                </a:solidFill>
                <a:latin typeface="Poppins Bold"/>
                <a:ea typeface="Poppins Bold"/>
                <a:cs typeface="Poppins Bold"/>
                <a:sym typeface="Poppins Bold"/>
              </a:rPr>
              <a:t> ALGORITHME SLIC</a:t>
            </a:r>
          </a:p>
        </p:txBody>
      </p:sp>
      <p:sp>
        <p:nvSpPr>
          <p:cNvPr name="TextBox 37" id="37"/>
          <p:cNvSpPr txBox="true"/>
          <p:nvPr/>
        </p:nvSpPr>
        <p:spPr>
          <a:xfrm rot="0">
            <a:off x="2096155" y="7492965"/>
            <a:ext cx="1994297" cy="518066"/>
          </a:xfrm>
          <a:prstGeom prst="rect">
            <a:avLst/>
          </a:prstGeom>
        </p:spPr>
        <p:txBody>
          <a:bodyPr anchor="t" rtlCol="false" tIns="0" lIns="0" bIns="0" rIns="0">
            <a:spAutoFit/>
          </a:bodyPr>
          <a:lstStyle/>
          <a:p>
            <a:pPr algn="ctr">
              <a:lnSpc>
                <a:spcPts val="3995"/>
              </a:lnSpc>
              <a:spcBef>
                <a:spcPct val="0"/>
              </a:spcBef>
            </a:pPr>
            <a:r>
              <a:rPr lang="en-US" sz="2853" spc="-57">
                <a:solidFill>
                  <a:srgbClr val="000000"/>
                </a:solidFill>
                <a:latin typeface="Poppins"/>
                <a:ea typeface="Poppins"/>
                <a:cs typeface="Poppins"/>
                <a:sym typeface="Poppins"/>
              </a:rPr>
              <a:t>Réalisé par:</a:t>
            </a:r>
          </a:p>
        </p:txBody>
      </p:sp>
      <p:sp>
        <p:nvSpPr>
          <p:cNvPr name="TextBox 38" id="38"/>
          <p:cNvSpPr txBox="true"/>
          <p:nvPr/>
        </p:nvSpPr>
        <p:spPr>
          <a:xfrm rot="0">
            <a:off x="17627189" y="9377387"/>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4517814" y="-315404"/>
            <a:ext cx="3964281" cy="10917809"/>
            <a:chOff x="0" y="0"/>
            <a:chExt cx="1044090" cy="2875472"/>
          </a:xfrm>
        </p:grpSpPr>
        <p:sp>
          <p:nvSpPr>
            <p:cNvPr name="Freeform 3" id="3"/>
            <p:cNvSpPr/>
            <p:nvPr/>
          </p:nvSpPr>
          <p:spPr>
            <a:xfrm flipH="false" flipV="false" rot="0">
              <a:off x="0" y="0"/>
              <a:ext cx="1044090" cy="2875472"/>
            </a:xfrm>
            <a:custGeom>
              <a:avLst/>
              <a:gdLst/>
              <a:ahLst/>
              <a:cxnLst/>
              <a:rect r="r" b="b" t="t" l="l"/>
              <a:pathLst>
                <a:path h="2875472" w="1044090">
                  <a:moveTo>
                    <a:pt x="0" y="0"/>
                  </a:moveTo>
                  <a:lnTo>
                    <a:pt x="1044090" y="0"/>
                  </a:lnTo>
                  <a:lnTo>
                    <a:pt x="1044090" y="2875472"/>
                  </a:lnTo>
                  <a:lnTo>
                    <a:pt x="0" y="2875472"/>
                  </a:lnTo>
                  <a:close/>
                </a:path>
              </a:pathLst>
            </a:custGeom>
            <a:solidFill>
              <a:srgbClr val="8D0000"/>
            </a:solidFill>
            <a:ln cap="sq">
              <a:noFill/>
              <a:prstDash val="solid"/>
              <a:miter/>
            </a:ln>
          </p:spPr>
        </p:sp>
        <p:sp>
          <p:nvSpPr>
            <p:cNvPr name="TextBox 4" id="4"/>
            <p:cNvSpPr txBox="true"/>
            <p:nvPr/>
          </p:nvSpPr>
          <p:spPr>
            <a:xfrm>
              <a:off x="0" y="-38100"/>
              <a:ext cx="1044090" cy="291357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867766" y="-1614217"/>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solidFill>
                <a:srgbClr val="8D000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5400000">
            <a:off x="2912435" y="3472452"/>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400000">
            <a:off x="2912435" y="4097959"/>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5400000">
            <a:off x="2912435" y="4723196"/>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5400000">
            <a:off x="2912435" y="5348703"/>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5400000">
            <a:off x="2912435" y="5973940"/>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5400000">
            <a:off x="2912435" y="6599447"/>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5400000">
            <a:off x="2912435" y="7224684"/>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5400000">
            <a:off x="2912435" y="8478571"/>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11962125" y="0"/>
            <a:ext cx="6325875" cy="10287000"/>
          </a:xfrm>
          <a:custGeom>
            <a:avLst/>
            <a:gdLst/>
            <a:ahLst/>
            <a:cxnLst/>
            <a:rect r="r" b="b" t="t" l="l"/>
            <a:pathLst>
              <a:path h="10287000" w="6325875">
                <a:moveTo>
                  <a:pt x="0" y="0"/>
                </a:moveTo>
                <a:lnTo>
                  <a:pt x="6325875" y="0"/>
                </a:lnTo>
                <a:lnTo>
                  <a:pt x="6325875" y="10287000"/>
                </a:lnTo>
                <a:lnTo>
                  <a:pt x="0" y="10287000"/>
                </a:lnTo>
                <a:lnTo>
                  <a:pt x="0" y="0"/>
                </a:lnTo>
                <a:close/>
              </a:path>
            </a:pathLst>
          </a:custGeom>
          <a:blipFill>
            <a:blip r:embed="rId4"/>
            <a:stretch>
              <a:fillRect l="-5887" t="0" r="-2856" b="-306"/>
            </a:stretch>
          </a:blipFill>
        </p:spPr>
      </p:sp>
      <p:sp>
        <p:nvSpPr>
          <p:cNvPr name="TextBox 17" id="17"/>
          <p:cNvSpPr txBox="true"/>
          <p:nvPr/>
        </p:nvSpPr>
        <p:spPr>
          <a:xfrm rot="0">
            <a:off x="2325523" y="1631607"/>
            <a:ext cx="9117034" cy="1252338"/>
          </a:xfrm>
          <a:prstGeom prst="rect">
            <a:avLst/>
          </a:prstGeom>
        </p:spPr>
        <p:txBody>
          <a:bodyPr anchor="t" rtlCol="false" tIns="0" lIns="0" bIns="0" rIns="0">
            <a:spAutoFit/>
          </a:bodyPr>
          <a:lstStyle/>
          <a:p>
            <a:pPr algn="l">
              <a:lnSpc>
                <a:spcPts val="10248"/>
              </a:lnSpc>
              <a:spcBef>
                <a:spcPct val="0"/>
              </a:spcBef>
            </a:pPr>
            <a:r>
              <a:rPr lang="en-US" b="true" sz="7320">
                <a:solidFill>
                  <a:srgbClr val="8D0000"/>
                </a:solidFill>
                <a:latin typeface="Montserrat Bold"/>
                <a:ea typeface="Montserrat Bold"/>
                <a:cs typeface="Montserrat Bold"/>
                <a:sym typeface="Montserrat Bold"/>
              </a:rPr>
              <a:t>Table de matière</a:t>
            </a:r>
          </a:p>
        </p:txBody>
      </p:sp>
      <p:sp>
        <p:nvSpPr>
          <p:cNvPr name="TextBox 18" id="18"/>
          <p:cNvSpPr txBox="true"/>
          <p:nvPr/>
        </p:nvSpPr>
        <p:spPr>
          <a:xfrm rot="0">
            <a:off x="3663160" y="3397227"/>
            <a:ext cx="4579735" cy="518066"/>
          </a:xfrm>
          <a:prstGeom prst="rect">
            <a:avLst/>
          </a:prstGeom>
        </p:spPr>
        <p:txBody>
          <a:bodyPr anchor="t" rtlCol="false" tIns="0" lIns="0" bIns="0" rIns="0">
            <a:spAutoFit/>
          </a:bodyPr>
          <a:lstStyle/>
          <a:p>
            <a:pPr algn="l">
              <a:lnSpc>
                <a:spcPts val="3995"/>
              </a:lnSpc>
              <a:spcBef>
                <a:spcPct val="0"/>
              </a:spcBef>
            </a:pPr>
            <a:r>
              <a:rPr lang="en-US" sz="2853" spc="-57">
                <a:solidFill>
                  <a:srgbClr val="051D40"/>
                </a:solidFill>
                <a:latin typeface="Poppins"/>
                <a:ea typeface="Poppins"/>
                <a:cs typeface="Poppins"/>
                <a:sym typeface="Poppins"/>
              </a:rPr>
              <a:t>Contexte et motivation</a:t>
            </a:r>
          </a:p>
        </p:txBody>
      </p:sp>
      <p:sp>
        <p:nvSpPr>
          <p:cNvPr name="TextBox 19" id="19"/>
          <p:cNvSpPr txBox="true"/>
          <p:nvPr/>
        </p:nvSpPr>
        <p:spPr>
          <a:xfrm rot="0">
            <a:off x="8483149" y="3397227"/>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01</a:t>
            </a:r>
          </a:p>
        </p:txBody>
      </p:sp>
      <p:sp>
        <p:nvSpPr>
          <p:cNvPr name="TextBox 20" id="20"/>
          <p:cNvSpPr txBox="true"/>
          <p:nvPr/>
        </p:nvSpPr>
        <p:spPr>
          <a:xfrm rot="0">
            <a:off x="3663160" y="4022734"/>
            <a:ext cx="4143021" cy="518066"/>
          </a:xfrm>
          <a:prstGeom prst="rect">
            <a:avLst/>
          </a:prstGeom>
        </p:spPr>
        <p:txBody>
          <a:bodyPr anchor="t" rtlCol="false" tIns="0" lIns="0" bIns="0" rIns="0">
            <a:spAutoFit/>
          </a:bodyPr>
          <a:lstStyle/>
          <a:p>
            <a:pPr algn="l">
              <a:lnSpc>
                <a:spcPts val="3995"/>
              </a:lnSpc>
              <a:spcBef>
                <a:spcPct val="0"/>
              </a:spcBef>
            </a:pPr>
            <a:r>
              <a:rPr lang="en-US" sz="2853" spc="-57">
                <a:solidFill>
                  <a:srgbClr val="051D40"/>
                </a:solidFill>
                <a:latin typeface="Poppins"/>
                <a:ea typeface="Poppins"/>
                <a:cs typeface="Poppins"/>
                <a:sym typeface="Poppins"/>
              </a:rPr>
              <a:t>Objectifs du projet</a:t>
            </a:r>
          </a:p>
        </p:txBody>
      </p:sp>
      <p:sp>
        <p:nvSpPr>
          <p:cNvPr name="TextBox 21" id="21"/>
          <p:cNvSpPr txBox="true"/>
          <p:nvPr/>
        </p:nvSpPr>
        <p:spPr>
          <a:xfrm rot="0">
            <a:off x="8483149" y="4022734"/>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02</a:t>
            </a:r>
          </a:p>
        </p:txBody>
      </p:sp>
      <p:sp>
        <p:nvSpPr>
          <p:cNvPr name="TextBox 22" id="22"/>
          <p:cNvSpPr txBox="true"/>
          <p:nvPr/>
        </p:nvSpPr>
        <p:spPr>
          <a:xfrm rot="0">
            <a:off x="3663160" y="4647971"/>
            <a:ext cx="4652520" cy="518066"/>
          </a:xfrm>
          <a:prstGeom prst="rect">
            <a:avLst/>
          </a:prstGeom>
        </p:spPr>
        <p:txBody>
          <a:bodyPr anchor="t" rtlCol="false" tIns="0" lIns="0" bIns="0" rIns="0">
            <a:spAutoFit/>
          </a:bodyPr>
          <a:lstStyle/>
          <a:p>
            <a:pPr algn="l">
              <a:lnSpc>
                <a:spcPts val="3995"/>
              </a:lnSpc>
              <a:spcBef>
                <a:spcPct val="0"/>
              </a:spcBef>
            </a:pPr>
            <a:r>
              <a:rPr lang="en-US" sz="2853" spc="-57">
                <a:solidFill>
                  <a:srgbClr val="051D40"/>
                </a:solidFill>
                <a:latin typeface="Poppins"/>
                <a:ea typeface="Poppins"/>
                <a:cs typeface="Poppins"/>
                <a:sym typeface="Poppins"/>
              </a:rPr>
              <a:t>Principe de SLIC</a:t>
            </a:r>
          </a:p>
        </p:txBody>
      </p:sp>
      <p:sp>
        <p:nvSpPr>
          <p:cNvPr name="TextBox 23" id="23"/>
          <p:cNvSpPr txBox="true"/>
          <p:nvPr/>
        </p:nvSpPr>
        <p:spPr>
          <a:xfrm rot="0">
            <a:off x="8483149" y="4647971"/>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03</a:t>
            </a:r>
          </a:p>
        </p:txBody>
      </p:sp>
      <p:sp>
        <p:nvSpPr>
          <p:cNvPr name="TextBox 24" id="24"/>
          <p:cNvSpPr txBox="true"/>
          <p:nvPr/>
        </p:nvSpPr>
        <p:spPr>
          <a:xfrm rot="0">
            <a:off x="3663160" y="5273478"/>
            <a:ext cx="4397771" cy="518066"/>
          </a:xfrm>
          <a:prstGeom prst="rect">
            <a:avLst/>
          </a:prstGeom>
        </p:spPr>
        <p:txBody>
          <a:bodyPr anchor="t" rtlCol="false" tIns="0" lIns="0" bIns="0" rIns="0">
            <a:spAutoFit/>
          </a:bodyPr>
          <a:lstStyle/>
          <a:p>
            <a:pPr algn="l">
              <a:lnSpc>
                <a:spcPts val="3995"/>
              </a:lnSpc>
              <a:spcBef>
                <a:spcPct val="0"/>
              </a:spcBef>
            </a:pPr>
            <a:r>
              <a:rPr lang="en-US" sz="2853" spc="-57">
                <a:solidFill>
                  <a:srgbClr val="051D40"/>
                </a:solidFill>
                <a:latin typeface="Poppins"/>
                <a:ea typeface="Poppins"/>
                <a:cs typeface="Poppins"/>
                <a:sym typeface="Poppins"/>
              </a:rPr>
              <a:t>Implémentation MATLAB</a:t>
            </a:r>
          </a:p>
        </p:txBody>
      </p:sp>
      <p:sp>
        <p:nvSpPr>
          <p:cNvPr name="TextBox 25" id="25"/>
          <p:cNvSpPr txBox="true"/>
          <p:nvPr/>
        </p:nvSpPr>
        <p:spPr>
          <a:xfrm rot="0">
            <a:off x="8483149" y="5273478"/>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04</a:t>
            </a:r>
          </a:p>
        </p:txBody>
      </p:sp>
      <p:sp>
        <p:nvSpPr>
          <p:cNvPr name="TextBox 26" id="26"/>
          <p:cNvSpPr txBox="true"/>
          <p:nvPr/>
        </p:nvSpPr>
        <p:spPr>
          <a:xfrm rot="0">
            <a:off x="3663160" y="5898715"/>
            <a:ext cx="4579735" cy="518066"/>
          </a:xfrm>
          <a:prstGeom prst="rect">
            <a:avLst/>
          </a:prstGeom>
        </p:spPr>
        <p:txBody>
          <a:bodyPr anchor="t" rtlCol="false" tIns="0" lIns="0" bIns="0" rIns="0">
            <a:spAutoFit/>
          </a:bodyPr>
          <a:lstStyle/>
          <a:p>
            <a:pPr algn="l">
              <a:lnSpc>
                <a:spcPts val="3995"/>
              </a:lnSpc>
              <a:spcBef>
                <a:spcPct val="0"/>
              </a:spcBef>
            </a:pPr>
            <a:r>
              <a:rPr lang="en-US" sz="2853" spc="-57">
                <a:solidFill>
                  <a:srgbClr val="051D40"/>
                </a:solidFill>
                <a:latin typeface="Poppins"/>
                <a:ea typeface="Poppins"/>
                <a:cs typeface="Poppins"/>
                <a:sym typeface="Poppins"/>
              </a:rPr>
              <a:t>Dataset et métriques</a:t>
            </a:r>
          </a:p>
        </p:txBody>
      </p:sp>
      <p:sp>
        <p:nvSpPr>
          <p:cNvPr name="TextBox 27" id="27"/>
          <p:cNvSpPr txBox="true"/>
          <p:nvPr/>
        </p:nvSpPr>
        <p:spPr>
          <a:xfrm rot="0">
            <a:off x="8483149" y="5898715"/>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05</a:t>
            </a:r>
          </a:p>
        </p:txBody>
      </p:sp>
      <p:sp>
        <p:nvSpPr>
          <p:cNvPr name="TextBox 28" id="28"/>
          <p:cNvSpPr txBox="true"/>
          <p:nvPr/>
        </p:nvSpPr>
        <p:spPr>
          <a:xfrm rot="0">
            <a:off x="3663160" y="6524221"/>
            <a:ext cx="4397771" cy="518066"/>
          </a:xfrm>
          <a:prstGeom prst="rect">
            <a:avLst/>
          </a:prstGeom>
        </p:spPr>
        <p:txBody>
          <a:bodyPr anchor="t" rtlCol="false" tIns="0" lIns="0" bIns="0" rIns="0">
            <a:spAutoFit/>
          </a:bodyPr>
          <a:lstStyle/>
          <a:p>
            <a:pPr algn="l">
              <a:lnSpc>
                <a:spcPts val="3995"/>
              </a:lnSpc>
              <a:spcBef>
                <a:spcPct val="0"/>
              </a:spcBef>
            </a:pPr>
            <a:r>
              <a:rPr lang="en-US" sz="2853" spc="-57">
                <a:solidFill>
                  <a:srgbClr val="051D40"/>
                </a:solidFill>
                <a:latin typeface="Poppins"/>
                <a:ea typeface="Poppins"/>
                <a:cs typeface="Poppins"/>
                <a:sym typeface="Poppins"/>
              </a:rPr>
              <a:t>Applications et resultats</a:t>
            </a:r>
          </a:p>
        </p:txBody>
      </p:sp>
      <p:sp>
        <p:nvSpPr>
          <p:cNvPr name="TextBox 29" id="29"/>
          <p:cNvSpPr txBox="true"/>
          <p:nvPr/>
        </p:nvSpPr>
        <p:spPr>
          <a:xfrm rot="0">
            <a:off x="8483149" y="6524221"/>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06</a:t>
            </a:r>
          </a:p>
        </p:txBody>
      </p:sp>
      <p:sp>
        <p:nvSpPr>
          <p:cNvPr name="TextBox 30" id="30"/>
          <p:cNvSpPr txBox="true"/>
          <p:nvPr/>
        </p:nvSpPr>
        <p:spPr>
          <a:xfrm rot="0">
            <a:off x="3663160" y="7149458"/>
            <a:ext cx="4579735" cy="518066"/>
          </a:xfrm>
          <a:prstGeom prst="rect">
            <a:avLst/>
          </a:prstGeom>
        </p:spPr>
        <p:txBody>
          <a:bodyPr anchor="t" rtlCol="false" tIns="0" lIns="0" bIns="0" rIns="0">
            <a:spAutoFit/>
          </a:bodyPr>
          <a:lstStyle/>
          <a:p>
            <a:pPr algn="l">
              <a:lnSpc>
                <a:spcPts val="3995"/>
              </a:lnSpc>
              <a:spcBef>
                <a:spcPct val="0"/>
              </a:spcBef>
            </a:pPr>
            <a:r>
              <a:rPr lang="en-US" sz="2853" spc="-57">
                <a:solidFill>
                  <a:srgbClr val="051D40"/>
                </a:solidFill>
                <a:latin typeface="Poppins"/>
                <a:ea typeface="Poppins"/>
                <a:cs typeface="Poppins"/>
                <a:sym typeface="Poppins"/>
              </a:rPr>
              <a:t>Limites observées</a:t>
            </a:r>
          </a:p>
        </p:txBody>
      </p:sp>
      <p:sp>
        <p:nvSpPr>
          <p:cNvPr name="TextBox 31" id="31"/>
          <p:cNvSpPr txBox="true"/>
          <p:nvPr/>
        </p:nvSpPr>
        <p:spPr>
          <a:xfrm rot="0">
            <a:off x="8483149" y="7149458"/>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07</a:t>
            </a:r>
          </a:p>
        </p:txBody>
      </p:sp>
      <p:sp>
        <p:nvSpPr>
          <p:cNvPr name="TextBox 32" id="32"/>
          <p:cNvSpPr txBox="true"/>
          <p:nvPr/>
        </p:nvSpPr>
        <p:spPr>
          <a:xfrm rot="0">
            <a:off x="3663160" y="8403345"/>
            <a:ext cx="4397771" cy="518066"/>
          </a:xfrm>
          <a:prstGeom prst="rect">
            <a:avLst/>
          </a:prstGeom>
        </p:spPr>
        <p:txBody>
          <a:bodyPr anchor="t" rtlCol="false" tIns="0" lIns="0" bIns="0" rIns="0">
            <a:spAutoFit/>
          </a:bodyPr>
          <a:lstStyle/>
          <a:p>
            <a:pPr algn="l">
              <a:lnSpc>
                <a:spcPts val="3995"/>
              </a:lnSpc>
              <a:spcBef>
                <a:spcPct val="0"/>
              </a:spcBef>
            </a:pPr>
            <a:r>
              <a:rPr lang="en-US" sz="2853" spc="-57">
                <a:solidFill>
                  <a:srgbClr val="051D40"/>
                </a:solidFill>
                <a:latin typeface="Poppins"/>
                <a:ea typeface="Poppins"/>
                <a:cs typeface="Poppins"/>
                <a:sym typeface="Poppins"/>
              </a:rPr>
              <a:t>Conclusion</a:t>
            </a:r>
          </a:p>
        </p:txBody>
      </p:sp>
      <p:sp>
        <p:nvSpPr>
          <p:cNvPr name="TextBox 33" id="33"/>
          <p:cNvSpPr txBox="true"/>
          <p:nvPr/>
        </p:nvSpPr>
        <p:spPr>
          <a:xfrm rot="0">
            <a:off x="8483149" y="8403345"/>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09</a:t>
            </a:r>
          </a:p>
        </p:txBody>
      </p:sp>
      <p:sp>
        <p:nvSpPr>
          <p:cNvPr name="Freeform 34" id="34"/>
          <p:cNvSpPr/>
          <p:nvPr/>
        </p:nvSpPr>
        <p:spPr>
          <a:xfrm flipH="false" flipV="false" rot="5400000">
            <a:off x="2912435" y="7849921"/>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5" id="35"/>
          <p:cNvSpPr txBox="true"/>
          <p:nvPr/>
        </p:nvSpPr>
        <p:spPr>
          <a:xfrm rot="0">
            <a:off x="3663160" y="7774695"/>
            <a:ext cx="4579735" cy="518066"/>
          </a:xfrm>
          <a:prstGeom prst="rect">
            <a:avLst/>
          </a:prstGeom>
        </p:spPr>
        <p:txBody>
          <a:bodyPr anchor="t" rtlCol="false" tIns="0" lIns="0" bIns="0" rIns="0">
            <a:spAutoFit/>
          </a:bodyPr>
          <a:lstStyle/>
          <a:p>
            <a:pPr algn="l">
              <a:lnSpc>
                <a:spcPts val="3995"/>
              </a:lnSpc>
              <a:spcBef>
                <a:spcPct val="0"/>
              </a:spcBef>
            </a:pPr>
            <a:r>
              <a:rPr lang="en-US" sz="2853" spc="-57">
                <a:solidFill>
                  <a:srgbClr val="051D40"/>
                </a:solidFill>
                <a:latin typeface="Poppins"/>
                <a:ea typeface="Poppins"/>
                <a:cs typeface="Poppins"/>
                <a:sym typeface="Poppins"/>
              </a:rPr>
              <a:t>Domaines d’applications</a:t>
            </a:r>
          </a:p>
        </p:txBody>
      </p:sp>
      <p:sp>
        <p:nvSpPr>
          <p:cNvPr name="TextBox 36" id="36"/>
          <p:cNvSpPr txBox="true"/>
          <p:nvPr/>
        </p:nvSpPr>
        <p:spPr>
          <a:xfrm rot="0">
            <a:off x="8483149" y="7774695"/>
            <a:ext cx="660851" cy="518066"/>
          </a:xfrm>
          <a:prstGeom prst="rect">
            <a:avLst/>
          </a:prstGeom>
        </p:spPr>
        <p:txBody>
          <a:bodyPr anchor="t" rtlCol="false" tIns="0" lIns="0" bIns="0" rIns="0">
            <a:spAutoFit/>
          </a:bodyPr>
          <a:lstStyle/>
          <a:p>
            <a:pPr algn="r">
              <a:lnSpc>
                <a:spcPts val="3995"/>
              </a:lnSpc>
              <a:spcBef>
                <a:spcPct val="0"/>
              </a:spcBef>
            </a:pPr>
            <a:r>
              <a:rPr lang="en-US" sz="2853" spc="-57">
                <a:solidFill>
                  <a:srgbClr val="051D40"/>
                </a:solidFill>
                <a:latin typeface="Poppins"/>
                <a:ea typeface="Poppins"/>
                <a:cs typeface="Poppins"/>
                <a:sym typeface="Poppins"/>
              </a:rPr>
              <a:t>08</a:t>
            </a:r>
          </a:p>
        </p:txBody>
      </p:sp>
      <p:sp>
        <p:nvSpPr>
          <p:cNvPr name="TextBox 37" id="37"/>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3503507">
            <a:off x="-7720970" y="1056579"/>
            <a:ext cx="12583451" cy="7382737"/>
            <a:chOff x="0" y="0"/>
            <a:chExt cx="3314160" cy="1944424"/>
          </a:xfrm>
        </p:grpSpPr>
        <p:sp>
          <p:nvSpPr>
            <p:cNvPr name="Freeform 3" id="3"/>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4" id="4"/>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grpSp>
        <p:nvGrpSpPr>
          <p:cNvPr name="Group 5" id="5"/>
          <p:cNvGrpSpPr/>
          <p:nvPr/>
        </p:nvGrpSpPr>
        <p:grpSpPr>
          <a:xfrm rot="0">
            <a:off x="-798959" y="9614819"/>
            <a:ext cx="5565113" cy="672181"/>
            <a:chOff x="0" y="0"/>
            <a:chExt cx="1465709" cy="177035"/>
          </a:xfrm>
        </p:grpSpPr>
        <p:sp>
          <p:nvSpPr>
            <p:cNvPr name="Freeform 6" id="6"/>
            <p:cNvSpPr/>
            <p:nvPr/>
          </p:nvSpPr>
          <p:spPr>
            <a:xfrm flipH="false" flipV="false" rot="0">
              <a:off x="0" y="0"/>
              <a:ext cx="1465709" cy="177035"/>
            </a:xfrm>
            <a:custGeom>
              <a:avLst/>
              <a:gdLst/>
              <a:ahLst/>
              <a:cxnLst/>
              <a:rect r="r" b="b" t="t" l="l"/>
              <a:pathLst>
                <a:path h="177035" w="1465709">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D0000"/>
            </a:solidFill>
          </p:spPr>
        </p:sp>
        <p:sp>
          <p:nvSpPr>
            <p:cNvPr name="TextBox 7" id="7"/>
            <p:cNvSpPr txBox="true"/>
            <p:nvPr/>
          </p:nvSpPr>
          <p:spPr>
            <a:xfrm>
              <a:off x="0" y="-333375"/>
              <a:ext cx="1465709" cy="510410"/>
            </a:xfrm>
            <a:prstGeom prst="rect">
              <a:avLst/>
            </a:prstGeom>
          </p:spPr>
          <p:txBody>
            <a:bodyPr anchor="ctr" rtlCol="false" tIns="50800" lIns="50800" bIns="50800" rIns="50800"/>
            <a:lstStyle/>
            <a:p>
              <a:pPr algn="ctr">
                <a:lnSpc>
                  <a:spcPts val="6249"/>
                </a:lnSpc>
              </a:pPr>
            </a:p>
          </p:txBody>
        </p:sp>
      </p:grpSp>
      <p:grpSp>
        <p:nvGrpSpPr>
          <p:cNvPr name="Group 8" id="8"/>
          <p:cNvGrpSpPr/>
          <p:nvPr/>
        </p:nvGrpSpPr>
        <p:grpSpPr>
          <a:xfrm rot="0">
            <a:off x="14476744" y="0"/>
            <a:ext cx="5565113" cy="672181"/>
            <a:chOff x="0" y="0"/>
            <a:chExt cx="1465709" cy="177035"/>
          </a:xfrm>
        </p:grpSpPr>
        <p:sp>
          <p:nvSpPr>
            <p:cNvPr name="Freeform 9" id="9"/>
            <p:cNvSpPr/>
            <p:nvPr/>
          </p:nvSpPr>
          <p:spPr>
            <a:xfrm flipH="false" flipV="false" rot="0">
              <a:off x="0" y="0"/>
              <a:ext cx="1465709" cy="177035"/>
            </a:xfrm>
            <a:custGeom>
              <a:avLst/>
              <a:gdLst/>
              <a:ahLst/>
              <a:cxnLst/>
              <a:rect r="r" b="b" t="t" l="l"/>
              <a:pathLst>
                <a:path h="177035" w="1465709">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D0000"/>
            </a:solidFill>
          </p:spPr>
        </p:sp>
        <p:sp>
          <p:nvSpPr>
            <p:cNvPr name="TextBox 10" id="10"/>
            <p:cNvSpPr txBox="true"/>
            <p:nvPr/>
          </p:nvSpPr>
          <p:spPr>
            <a:xfrm>
              <a:off x="0" y="-333375"/>
              <a:ext cx="1465709" cy="510410"/>
            </a:xfrm>
            <a:prstGeom prst="rect">
              <a:avLst/>
            </a:prstGeom>
          </p:spPr>
          <p:txBody>
            <a:bodyPr anchor="ctr" rtlCol="false" tIns="50800" lIns="50800" bIns="50800" rIns="50800"/>
            <a:lstStyle/>
            <a:p>
              <a:pPr algn="ctr">
                <a:lnSpc>
                  <a:spcPts val="6249"/>
                </a:lnSpc>
              </a:pPr>
            </a:p>
          </p:txBody>
        </p:sp>
      </p:grpSp>
      <p:sp>
        <p:nvSpPr>
          <p:cNvPr name="Freeform 11" id="11"/>
          <p:cNvSpPr/>
          <p:nvPr/>
        </p:nvSpPr>
        <p:spPr>
          <a:xfrm flipH="false" flipV="false" rot="0">
            <a:off x="2425419" y="7104026"/>
            <a:ext cx="3128443" cy="2368821"/>
          </a:xfrm>
          <a:custGeom>
            <a:avLst/>
            <a:gdLst/>
            <a:ahLst/>
            <a:cxnLst/>
            <a:rect r="r" b="b" t="t" l="l"/>
            <a:pathLst>
              <a:path h="2368821" w="3128443">
                <a:moveTo>
                  <a:pt x="0" y="0"/>
                </a:moveTo>
                <a:lnTo>
                  <a:pt x="3128442" y="0"/>
                </a:lnTo>
                <a:lnTo>
                  <a:pt x="3128442" y="2368821"/>
                </a:lnTo>
                <a:lnTo>
                  <a:pt x="0" y="2368821"/>
                </a:lnTo>
                <a:lnTo>
                  <a:pt x="0" y="0"/>
                </a:lnTo>
                <a:close/>
              </a:path>
            </a:pathLst>
          </a:custGeom>
          <a:blipFill>
            <a:blip r:embed="rId2"/>
            <a:stretch>
              <a:fillRect l="0" t="0" r="0" b="0"/>
            </a:stretch>
          </a:blipFill>
        </p:spPr>
      </p:sp>
      <p:sp>
        <p:nvSpPr>
          <p:cNvPr name="Freeform 12" id="12"/>
          <p:cNvSpPr/>
          <p:nvPr/>
        </p:nvSpPr>
        <p:spPr>
          <a:xfrm flipH="false" flipV="false" rot="0">
            <a:off x="2528644" y="2410062"/>
            <a:ext cx="3120503" cy="2337885"/>
          </a:xfrm>
          <a:custGeom>
            <a:avLst/>
            <a:gdLst/>
            <a:ahLst/>
            <a:cxnLst/>
            <a:rect r="r" b="b" t="t" l="l"/>
            <a:pathLst>
              <a:path h="2337885" w="3120503">
                <a:moveTo>
                  <a:pt x="0" y="0"/>
                </a:moveTo>
                <a:lnTo>
                  <a:pt x="3120504" y="0"/>
                </a:lnTo>
                <a:lnTo>
                  <a:pt x="3120504" y="2337885"/>
                </a:lnTo>
                <a:lnTo>
                  <a:pt x="0" y="2337885"/>
                </a:lnTo>
                <a:lnTo>
                  <a:pt x="0" y="0"/>
                </a:lnTo>
                <a:close/>
              </a:path>
            </a:pathLst>
          </a:custGeom>
          <a:blipFill>
            <a:blip r:embed="rId3"/>
            <a:stretch>
              <a:fillRect l="0" t="0" r="0" b="0"/>
            </a:stretch>
          </a:blipFill>
        </p:spPr>
      </p:sp>
      <p:sp>
        <p:nvSpPr>
          <p:cNvPr name="Freeform 13" id="13"/>
          <p:cNvSpPr/>
          <p:nvPr/>
        </p:nvSpPr>
        <p:spPr>
          <a:xfrm flipH="false" flipV="false" rot="0">
            <a:off x="7695330" y="7104026"/>
            <a:ext cx="3003069" cy="2368821"/>
          </a:xfrm>
          <a:custGeom>
            <a:avLst/>
            <a:gdLst/>
            <a:ahLst/>
            <a:cxnLst/>
            <a:rect r="r" b="b" t="t" l="l"/>
            <a:pathLst>
              <a:path h="2368821" w="3003069">
                <a:moveTo>
                  <a:pt x="0" y="0"/>
                </a:moveTo>
                <a:lnTo>
                  <a:pt x="3003069" y="0"/>
                </a:lnTo>
                <a:lnTo>
                  <a:pt x="3003069" y="2368821"/>
                </a:lnTo>
                <a:lnTo>
                  <a:pt x="0" y="2368821"/>
                </a:lnTo>
                <a:lnTo>
                  <a:pt x="0" y="0"/>
                </a:lnTo>
                <a:close/>
              </a:path>
            </a:pathLst>
          </a:custGeom>
          <a:blipFill>
            <a:blip r:embed="rId4"/>
            <a:stretch>
              <a:fillRect l="0" t="0" r="0" b="0"/>
            </a:stretch>
          </a:blipFill>
        </p:spPr>
      </p:sp>
      <p:grpSp>
        <p:nvGrpSpPr>
          <p:cNvPr name="Group 14" id="14"/>
          <p:cNvGrpSpPr/>
          <p:nvPr/>
        </p:nvGrpSpPr>
        <p:grpSpPr>
          <a:xfrm rot="0">
            <a:off x="7501690" y="3250624"/>
            <a:ext cx="826055" cy="82605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8D0000"/>
            </a:solidFill>
          </p:spPr>
        </p:sp>
        <p:sp>
          <p:nvSpPr>
            <p:cNvPr name="TextBox 16" id="16"/>
            <p:cNvSpPr txBox="true"/>
            <p:nvPr/>
          </p:nvSpPr>
          <p:spPr>
            <a:xfrm>
              <a:off x="0" y="-130175"/>
              <a:ext cx="711200" cy="739775"/>
            </a:xfrm>
            <a:prstGeom prst="rect">
              <a:avLst/>
            </a:prstGeom>
          </p:spPr>
          <p:txBody>
            <a:bodyPr anchor="ctr" rtlCol="false" tIns="50800" lIns="50800" bIns="50800" rIns="50800"/>
            <a:lstStyle/>
            <a:p>
              <a:pPr algn="ctr">
                <a:lnSpc>
                  <a:spcPts val="6249"/>
                </a:lnSpc>
              </a:pPr>
            </a:p>
          </p:txBody>
        </p:sp>
      </p:grpSp>
      <p:grpSp>
        <p:nvGrpSpPr>
          <p:cNvPr name="Group 17" id="17"/>
          <p:cNvGrpSpPr/>
          <p:nvPr/>
        </p:nvGrpSpPr>
        <p:grpSpPr>
          <a:xfrm rot="0">
            <a:off x="6278725" y="7875409"/>
            <a:ext cx="826055" cy="826055"/>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8D0000"/>
            </a:solidFill>
          </p:spPr>
        </p:sp>
        <p:sp>
          <p:nvSpPr>
            <p:cNvPr name="TextBox 19" id="19"/>
            <p:cNvSpPr txBox="true"/>
            <p:nvPr/>
          </p:nvSpPr>
          <p:spPr>
            <a:xfrm>
              <a:off x="0" y="-130175"/>
              <a:ext cx="711200" cy="739775"/>
            </a:xfrm>
            <a:prstGeom prst="rect">
              <a:avLst/>
            </a:prstGeom>
          </p:spPr>
          <p:txBody>
            <a:bodyPr anchor="ctr" rtlCol="false" tIns="50800" lIns="50800" bIns="50800" rIns="50800"/>
            <a:lstStyle/>
            <a:p>
              <a:pPr algn="ctr">
                <a:lnSpc>
                  <a:spcPts val="6249"/>
                </a:lnSpc>
              </a:pPr>
            </a:p>
          </p:txBody>
        </p:sp>
      </p:grpSp>
      <p:sp>
        <p:nvSpPr>
          <p:cNvPr name="TextBox 20" id="20"/>
          <p:cNvSpPr txBox="true"/>
          <p:nvPr/>
        </p:nvSpPr>
        <p:spPr>
          <a:xfrm rot="0">
            <a:off x="-3211494" y="2724205"/>
            <a:ext cx="3423051" cy="1109988"/>
          </a:xfrm>
          <a:prstGeom prst="rect">
            <a:avLst/>
          </a:prstGeom>
        </p:spPr>
        <p:txBody>
          <a:bodyPr anchor="t" rtlCol="false" tIns="0" lIns="0" bIns="0" rIns="0">
            <a:spAutoFit/>
          </a:bodyPr>
          <a:lstStyle/>
          <a:p>
            <a:pPr algn="ctr">
              <a:lnSpc>
                <a:spcPts val="7700"/>
              </a:lnSpc>
            </a:pPr>
            <a:r>
              <a:rPr lang="en-US" sz="7700" b="true">
                <a:solidFill>
                  <a:srgbClr val="000000"/>
                </a:solidFill>
                <a:latin typeface="Poppins Bold"/>
                <a:ea typeface="Poppins Bold"/>
                <a:cs typeface="Poppins Bold"/>
                <a:sym typeface="Poppins Bold"/>
              </a:rPr>
              <a:t>Our </a:t>
            </a:r>
          </a:p>
        </p:txBody>
      </p:sp>
      <p:sp>
        <p:nvSpPr>
          <p:cNvPr name="TextBox 21" id="21"/>
          <p:cNvSpPr txBox="true"/>
          <p:nvPr/>
        </p:nvSpPr>
        <p:spPr>
          <a:xfrm rot="0">
            <a:off x="4923347" y="46950"/>
            <a:ext cx="7418040" cy="800101"/>
          </a:xfrm>
          <a:prstGeom prst="rect">
            <a:avLst/>
          </a:prstGeom>
        </p:spPr>
        <p:txBody>
          <a:bodyPr anchor="t" rtlCol="false" tIns="0" lIns="0" bIns="0" rIns="0">
            <a:spAutoFit/>
          </a:bodyPr>
          <a:lstStyle/>
          <a:p>
            <a:pPr algn="ctr">
              <a:lnSpc>
                <a:spcPts val="6299"/>
              </a:lnSpc>
              <a:spcBef>
                <a:spcPct val="0"/>
              </a:spcBef>
            </a:pPr>
            <a:r>
              <a:rPr lang="en-US" b="true" sz="4499">
                <a:solidFill>
                  <a:srgbClr val="8D0000"/>
                </a:solidFill>
                <a:latin typeface="Poppins Bold"/>
                <a:ea typeface="Poppins Bold"/>
                <a:cs typeface="Poppins Bold"/>
                <a:sym typeface="Poppins Bold"/>
              </a:rPr>
              <a:t>CONTEXTE &amp; MOTIVATION</a:t>
            </a:r>
          </a:p>
        </p:txBody>
      </p:sp>
      <p:grpSp>
        <p:nvGrpSpPr>
          <p:cNvPr name="Group 22" id="22"/>
          <p:cNvGrpSpPr/>
          <p:nvPr/>
        </p:nvGrpSpPr>
        <p:grpSpPr>
          <a:xfrm rot="0">
            <a:off x="1666317" y="1028700"/>
            <a:ext cx="634561" cy="691292"/>
            <a:chOff x="0" y="0"/>
            <a:chExt cx="231965" cy="252703"/>
          </a:xfrm>
        </p:grpSpPr>
        <p:sp>
          <p:nvSpPr>
            <p:cNvPr name="Freeform 23" id="23"/>
            <p:cNvSpPr/>
            <p:nvPr/>
          </p:nvSpPr>
          <p:spPr>
            <a:xfrm flipH="false" flipV="false" rot="0">
              <a:off x="0" y="0"/>
              <a:ext cx="231965" cy="252703"/>
            </a:xfrm>
            <a:custGeom>
              <a:avLst/>
              <a:gdLst/>
              <a:ahLst/>
              <a:cxnLst/>
              <a:rect r="r" b="b" t="t" l="l"/>
              <a:pathLst>
                <a:path h="252703" w="231965">
                  <a:moveTo>
                    <a:pt x="115982" y="0"/>
                  </a:moveTo>
                  <a:cubicBezTo>
                    <a:pt x="51927" y="0"/>
                    <a:pt x="0" y="56569"/>
                    <a:pt x="0" y="126351"/>
                  </a:cubicBezTo>
                  <a:cubicBezTo>
                    <a:pt x="0" y="196133"/>
                    <a:pt x="51927" y="252703"/>
                    <a:pt x="115982" y="252703"/>
                  </a:cubicBezTo>
                  <a:cubicBezTo>
                    <a:pt x="180038" y="252703"/>
                    <a:pt x="231965" y="196133"/>
                    <a:pt x="231965" y="126351"/>
                  </a:cubicBezTo>
                  <a:cubicBezTo>
                    <a:pt x="231965" y="56569"/>
                    <a:pt x="180038" y="0"/>
                    <a:pt x="115982" y="0"/>
                  </a:cubicBezTo>
                  <a:close/>
                </a:path>
              </a:pathLst>
            </a:custGeom>
            <a:solidFill>
              <a:srgbClr val="8D2B2B"/>
            </a:solidFill>
          </p:spPr>
        </p:sp>
        <p:sp>
          <p:nvSpPr>
            <p:cNvPr name="TextBox 24" id="24"/>
            <p:cNvSpPr txBox="true"/>
            <p:nvPr/>
          </p:nvSpPr>
          <p:spPr>
            <a:xfrm>
              <a:off x="21747" y="-23934"/>
              <a:ext cx="188471" cy="252946"/>
            </a:xfrm>
            <a:prstGeom prst="rect">
              <a:avLst/>
            </a:prstGeom>
          </p:spPr>
          <p:txBody>
            <a:bodyPr anchor="ctr" rtlCol="false" tIns="50800" lIns="50800" bIns="50800" rIns="50800"/>
            <a:lstStyle/>
            <a:p>
              <a:pPr algn="ctr">
                <a:lnSpc>
                  <a:spcPts val="3254"/>
                </a:lnSpc>
              </a:pPr>
              <a:r>
                <a:rPr lang="en-US" b="true" sz="2324">
                  <a:solidFill>
                    <a:srgbClr val="FFFFFF"/>
                  </a:solidFill>
                  <a:latin typeface="Open Sans Bold"/>
                  <a:ea typeface="Open Sans Bold"/>
                  <a:cs typeface="Open Sans Bold"/>
                  <a:sym typeface="Open Sans Bold"/>
                </a:rPr>
                <a:t>1</a:t>
              </a:r>
            </a:p>
          </p:txBody>
        </p:sp>
      </p:grpSp>
      <p:sp>
        <p:nvSpPr>
          <p:cNvPr name="TextBox 25" id="25"/>
          <p:cNvSpPr txBox="true"/>
          <p:nvPr/>
        </p:nvSpPr>
        <p:spPr>
          <a:xfrm rot="0">
            <a:off x="2528644" y="1120346"/>
            <a:ext cx="5563596"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Context: Segmentation d’image</a:t>
            </a:r>
          </a:p>
        </p:txBody>
      </p:sp>
      <p:sp>
        <p:nvSpPr>
          <p:cNvPr name="TextBox 26" id="26"/>
          <p:cNvSpPr txBox="true"/>
          <p:nvPr/>
        </p:nvSpPr>
        <p:spPr>
          <a:xfrm rot="0">
            <a:off x="7334221" y="6665876"/>
            <a:ext cx="3705368" cy="325733"/>
          </a:xfrm>
          <a:prstGeom prst="rect">
            <a:avLst/>
          </a:prstGeom>
        </p:spPr>
        <p:txBody>
          <a:bodyPr anchor="t" rtlCol="false" tIns="0" lIns="0" bIns="0" rIns="0">
            <a:spAutoFit/>
          </a:bodyPr>
          <a:lstStyle/>
          <a:p>
            <a:pPr algn="ctr">
              <a:lnSpc>
                <a:spcPts val="2520"/>
              </a:lnSpc>
              <a:spcBef>
                <a:spcPct val="0"/>
              </a:spcBef>
            </a:pPr>
            <a:r>
              <a:rPr lang="en-US" b="true" sz="1800">
                <a:solidFill>
                  <a:srgbClr val="000000"/>
                </a:solidFill>
                <a:latin typeface="Poppins Bold"/>
                <a:ea typeface="Poppins Bold"/>
                <a:cs typeface="Poppins Bold"/>
                <a:sym typeface="Poppins Bold"/>
              </a:rPr>
              <a:t>Algorithme de segmentation </a:t>
            </a:r>
          </a:p>
        </p:txBody>
      </p:sp>
      <p:grpSp>
        <p:nvGrpSpPr>
          <p:cNvPr name="Group 27" id="27"/>
          <p:cNvGrpSpPr/>
          <p:nvPr/>
        </p:nvGrpSpPr>
        <p:grpSpPr>
          <a:xfrm rot="0">
            <a:off x="1666317" y="5830163"/>
            <a:ext cx="712441" cy="685780"/>
            <a:chOff x="0" y="0"/>
            <a:chExt cx="421154" cy="405393"/>
          </a:xfrm>
        </p:grpSpPr>
        <p:sp>
          <p:nvSpPr>
            <p:cNvPr name="Freeform 28" id="28"/>
            <p:cNvSpPr/>
            <p:nvPr/>
          </p:nvSpPr>
          <p:spPr>
            <a:xfrm flipH="false" flipV="false" rot="0">
              <a:off x="0" y="0"/>
              <a:ext cx="421154" cy="405393"/>
            </a:xfrm>
            <a:custGeom>
              <a:avLst/>
              <a:gdLst/>
              <a:ahLst/>
              <a:cxnLst/>
              <a:rect r="r" b="b" t="t" l="l"/>
              <a:pathLst>
                <a:path h="405393" w="421154">
                  <a:moveTo>
                    <a:pt x="210577" y="0"/>
                  </a:moveTo>
                  <a:cubicBezTo>
                    <a:pt x="94278" y="0"/>
                    <a:pt x="0" y="90750"/>
                    <a:pt x="0" y="202697"/>
                  </a:cubicBezTo>
                  <a:cubicBezTo>
                    <a:pt x="0" y="314643"/>
                    <a:pt x="94278" y="405393"/>
                    <a:pt x="210577" y="405393"/>
                  </a:cubicBezTo>
                  <a:cubicBezTo>
                    <a:pt x="326875" y="405393"/>
                    <a:pt x="421154" y="314643"/>
                    <a:pt x="421154" y="202697"/>
                  </a:cubicBezTo>
                  <a:cubicBezTo>
                    <a:pt x="421154" y="90750"/>
                    <a:pt x="326875" y="0"/>
                    <a:pt x="210577" y="0"/>
                  </a:cubicBezTo>
                  <a:close/>
                </a:path>
              </a:pathLst>
            </a:custGeom>
            <a:solidFill>
              <a:srgbClr val="8D2B2B"/>
            </a:solidFill>
          </p:spPr>
        </p:sp>
        <p:sp>
          <p:nvSpPr>
            <p:cNvPr name="TextBox 29" id="29"/>
            <p:cNvSpPr txBox="true"/>
            <p:nvPr/>
          </p:nvSpPr>
          <p:spPr>
            <a:xfrm>
              <a:off x="39483" y="-9619"/>
              <a:ext cx="342187" cy="377007"/>
            </a:xfrm>
            <a:prstGeom prst="rect">
              <a:avLst/>
            </a:prstGeom>
          </p:spPr>
          <p:txBody>
            <a:bodyPr anchor="ctr" rtlCol="false" tIns="50800" lIns="50800" bIns="50800" rIns="50800"/>
            <a:lstStyle/>
            <a:p>
              <a:pPr algn="ctr">
                <a:lnSpc>
                  <a:spcPts val="3254"/>
                </a:lnSpc>
              </a:pPr>
              <a:r>
                <a:rPr lang="en-US" b="true" sz="2324">
                  <a:solidFill>
                    <a:srgbClr val="FFFFFF"/>
                  </a:solidFill>
                  <a:latin typeface="Open Sans Bold"/>
                  <a:ea typeface="Open Sans Bold"/>
                  <a:cs typeface="Open Sans Bold"/>
                  <a:sym typeface="Open Sans Bold"/>
                </a:rPr>
                <a:t>2</a:t>
              </a:r>
            </a:p>
          </p:txBody>
        </p:sp>
      </p:grpSp>
      <p:sp>
        <p:nvSpPr>
          <p:cNvPr name="TextBox 30" id="30"/>
          <p:cNvSpPr txBox="true"/>
          <p:nvPr/>
        </p:nvSpPr>
        <p:spPr>
          <a:xfrm rot="0">
            <a:off x="1666317" y="5927880"/>
            <a:ext cx="7840509" cy="423671"/>
          </a:xfrm>
          <a:prstGeom prst="rect">
            <a:avLst/>
          </a:prstGeom>
        </p:spPr>
        <p:txBody>
          <a:bodyPr anchor="t" rtlCol="false" tIns="0" lIns="0" bIns="0" rIns="0">
            <a:spAutoFit/>
          </a:bodyPr>
          <a:lstStyle/>
          <a:p>
            <a:pPr algn="ctr">
              <a:lnSpc>
                <a:spcPts val="3335"/>
              </a:lnSpc>
              <a:spcBef>
                <a:spcPct val="0"/>
              </a:spcBef>
            </a:pPr>
            <a:r>
              <a:rPr lang="en-US" b="true" sz="2382">
                <a:solidFill>
                  <a:srgbClr val="000000"/>
                </a:solidFill>
                <a:latin typeface="Poppins Bold"/>
                <a:ea typeface="Poppins Bold"/>
                <a:cs typeface="Poppins Bold"/>
                <a:sym typeface="Poppins Bold"/>
              </a:rPr>
              <a:t>Regroupement de pixels :  Superpixels</a:t>
            </a:r>
          </a:p>
        </p:txBody>
      </p:sp>
      <p:sp>
        <p:nvSpPr>
          <p:cNvPr name="TextBox 31" id="31"/>
          <p:cNvSpPr txBox="true"/>
          <p:nvPr/>
        </p:nvSpPr>
        <p:spPr>
          <a:xfrm rot="0">
            <a:off x="6003732" y="2343387"/>
            <a:ext cx="4177016" cy="879475"/>
          </a:xfrm>
          <a:prstGeom prst="rect">
            <a:avLst/>
          </a:prstGeom>
        </p:spPr>
        <p:txBody>
          <a:bodyPr anchor="t" rtlCol="false" tIns="0" lIns="0" bIns="0" rIns="0">
            <a:spAutoFit/>
          </a:bodyPr>
          <a:lstStyle/>
          <a:p>
            <a:pPr algn="ctr">
              <a:lnSpc>
                <a:spcPts val="3499"/>
              </a:lnSpc>
            </a:pPr>
            <a:r>
              <a:rPr lang="en-US" sz="2499" b="true">
                <a:solidFill>
                  <a:srgbClr val="000000"/>
                </a:solidFill>
                <a:latin typeface="Poppins Bold"/>
                <a:ea typeface="Poppins Bold"/>
                <a:cs typeface="Poppins Bold"/>
                <a:sym typeface="Poppins Bold"/>
              </a:rPr>
              <a:t>Traitement </a:t>
            </a:r>
          </a:p>
          <a:p>
            <a:pPr algn="ctr">
              <a:lnSpc>
                <a:spcPts val="3499"/>
              </a:lnSpc>
              <a:spcBef>
                <a:spcPct val="0"/>
              </a:spcBef>
            </a:pPr>
            <a:r>
              <a:rPr lang="en-US" b="true" sz="2499">
                <a:solidFill>
                  <a:srgbClr val="000000"/>
                </a:solidFill>
                <a:latin typeface="Poppins Bold"/>
                <a:ea typeface="Poppins Bold"/>
                <a:cs typeface="Poppins Bold"/>
                <a:sym typeface="Poppins Bold"/>
              </a:rPr>
              <a:t>pixel par pixel</a:t>
            </a:r>
          </a:p>
        </p:txBody>
      </p:sp>
      <p:sp>
        <p:nvSpPr>
          <p:cNvPr name="TextBox 32" id="32"/>
          <p:cNvSpPr txBox="true"/>
          <p:nvPr/>
        </p:nvSpPr>
        <p:spPr>
          <a:xfrm rot="0">
            <a:off x="2425419" y="4793423"/>
            <a:ext cx="3326955" cy="350940"/>
          </a:xfrm>
          <a:prstGeom prst="rect">
            <a:avLst/>
          </a:prstGeom>
        </p:spPr>
        <p:txBody>
          <a:bodyPr anchor="t" rtlCol="false" tIns="0" lIns="0" bIns="0" rIns="0">
            <a:spAutoFit/>
          </a:bodyPr>
          <a:lstStyle/>
          <a:p>
            <a:pPr algn="ctr">
              <a:lnSpc>
                <a:spcPts val="2706"/>
              </a:lnSpc>
              <a:spcBef>
                <a:spcPct val="0"/>
              </a:spcBef>
            </a:pPr>
            <a:r>
              <a:rPr lang="en-US" b="true" sz="1933" spc="-38">
                <a:solidFill>
                  <a:srgbClr val="000000"/>
                </a:solidFill>
                <a:latin typeface="Poppins Bold"/>
                <a:ea typeface="Poppins Bold"/>
                <a:cs typeface="Poppins Bold"/>
                <a:sym typeface="Poppins Bold"/>
              </a:rPr>
              <a:t>Image : 320 × 240</a:t>
            </a:r>
          </a:p>
        </p:txBody>
      </p:sp>
      <p:sp>
        <p:nvSpPr>
          <p:cNvPr name="TextBox 33" id="33"/>
          <p:cNvSpPr txBox="true"/>
          <p:nvPr/>
        </p:nvSpPr>
        <p:spPr>
          <a:xfrm rot="0">
            <a:off x="2022538" y="6744543"/>
            <a:ext cx="3326955" cy="350896"/>
          </a:xfrm>
          <a:prstGeom prst="rect">
            <a:avLst/>
          </a:prstGeom>
        </p:spPr>
        <p:txBody>
          <a:bodyPr anchor="t" rtlCol="false" tIns="0" lIns="0" bIns="0" rIns="0">
            <a:spAutoFit/>
          </a:bodyPr>
          <a:lstStyle/>
          <a:p>
            <a:pPr algn="ctr">
              <a:lnSpc>
                <a:spcPts val="2706"/>
              </a:lnSpc>
              <a:spcBef>
                <a:spcPct val="0"/>
              </a:spcBef>
            </a:pPr>
            <a:r>
              <a:rPr lang="en-US" b="true" sz="1933" spc="-38">
                <a:solidFill>
                  <a:srgbClr val="000000"/>
                </a:solidFill>
                <a:latin typeface="Poppins Bold"/>
                <a:ea typeface="Poppins Bold"/>
                <a:cs typeface="Poppins Bold"/>
                <a:sym typeface="Poppins Bold"/>
              </a:rPr>
              <a:t>k =250</a:t>
            </a:r>
          </a:p>
        </p:txBody>
      </p:sp>
      <p:sp>
        <p:nvSpPr>
          <p:cNvPr name="TextBox 34" id="34"/>
          <p:cNvSpPr txBox="true"/>
          <p:nvPr/>
        </p:nvSpPr>
        <p:spPr>
          <a:xfrm rot="0">
            <a:off x="13040066" y="7354444"/>
            <a:ext cx="3326955" cy="693752"/>
          </a:xfrm>
          <a:prstGeom prst="rect">
            <a:avLst/>
          </a:prstGeom>
        </p:spPr>
        <p:txBody>
          <a:bodyPr anchor="t" rtlCol="false" tIns="0" lIns="0" bIns="0" rIns="0">
            <a:spAutoFit/>
          </a:bodyPr>
          <a:lstStyle/>
          <a:p>
            <a:pPr algn="ctr">
              <a:lnSpc>
                <a:spcPts val="2706"/>
              </a:lnSpc>
              <a:spcBef>
                <a:spcPct val="0"/>
              </a:spcBef>
            </a:pPr>
            <a:r>
              <a:rPr lang="en-US" b="true" sz="1933" spc="-38">
                <a:solidFill>
                  <a:srgbClr val="000000"/>
                </a:solidFill>
                <a:latin typeface="Poppins Bold"/>
                <a:ea typeface="Poppins Bold"/>
                <a:cs typeface="Poppins Bold"/>
                <a:sym typeface="Poppins Bold"/>
              </a:rPr>
              <a:t>k(250) = 250 superpixels à traiter</a:t>
            </a:r>
          </a:p>
        </p:txBody>
      </p:sp>
      <p:sp>
        <p:nvSpPr>
          <p:cNvPr name="TextBox 35" id="35"/>
          <p:cNvSpPr txBox="true"/>
          <p:nvPr/>
        </p:nvSpPr>
        <p:spPr>
          <a:xfrm rot="0">
            <a:off x="13226731" y="8183661"/>
            <a:ext cx="3326955" cy="1213114"/>
          </a:xfrm>
          <a:prstGeom prst="rect">
            <a:avLst/>
          </a:prstGeom>
        </p:spPr>
        <p:txBody>
          <a:bodyPr anchor="t" rtlCol="false" tIns="0" lIns="0" bIns="0" rIns="0">
            <a:spAutoFit/>
          </a:bodyPr>
          <a:lstStyle/>
          <a:p>
            <a:pPr algn="just">
              <a:lnSpc>
                <a:spcPts val="3267"/>
              </a:lnSpc>
            </a:pPr>
            <a:r>
              <a:rPr lang="en-US" b="true" sz="1933" spc="-38">
                <a:solidFill>
                  <a:srgbClr val="000000"/>
                </a:solidFill>
                <a:latin typeface="Poppins Bold"/>
                <a:ea typeface="Poppins Bold"/>
                <a:cs typeface="Poppins Bold"/>
                <a:sym typeface="Poppins Bold"/>
              </a:rPr>
              <a:t>Gain de temps &amp; memoire</a:t>
            </a:r>
          </a:p>
          <a:p>
            <a:pPr algn="just">
              <a:lnSpc>
                <a:spcPts val="3267"/>
              </a:lnSpc>
            </a:pPr>
            <a:r>
              <a:rPr lang="en-US" b="true" sz="1933" spc="-38">
                <a:solidFill>
                  <a:srgbClr val="000000"/>
                </a:solidFill>
                <a:latin typeface="Poppins Bold"/>
                <a:ea typeface="Poppins Bold"/>
                <a:cs typeface="Poppins Bold"/>
                <a:sym typeface="Poppins Bold"/>
              </a:rPr>
              <a:t>Réduction de complexité</a:t>
            </a:r>
          </a:p>
          <a:p>
            <a:pPr algn="just">
              <a:lnSpc>
                <a:spcPts val="3267"/>
              </a:lnSpc>
            </a:pPr>
            <a:r>
              <a:rPr lang="en-US" b="true" sz="1933" spc="-38">
                <a:solidFill>
                  <a:srgbClr val="000000"/>
                </a:solidFill>
                <a:latin typeface="Poppins Bold"/>
                <a:ea typeface="Poppins Bold"/>
                <a:cs typeface="Poppins Bold"/>
                <a:sym typeface="Poppins Bold"/>
              </a:rPr>
              <a:t>Cohérence spatiale</a:t>
            </a:r>
          </a:p>
        </p:txBody>
      </p:sp>
      <p:sp>
        <p:nvSpPr>
          <p:cNvPr name="AutoShape 36" id="36"/>
          <p:cNvSpPr/>
          <p:nvPr/>
        </p:nvSpPr>
        <p:spPr>
          <a:xfrm>
            <a:off x="10199799" y="1934554"/>
            <a:ext cx="0" cy="3288902"/>
          </a:xfrm>
          <a:prstGeom prst="line">
            <a:avLst/>
          </a:prstGeom>
          <a:ln cap="flat" w="38100">
            <a:solidFill>
              <a:srgbClr val="000000"/>
            </a:solidFill>
            <a:prstDash val="solid"/>
            <a:headEnd type="none" len="sm" w="sm"/>
            <a:tailEnd type="none" len="sm" w="sm"/>
          </a:ln>
        </p:spPr>
      </p:sp>
      <p:sp>
        <p:nvSpPr>
          <p:cNvPr name="AutoShape 37" id="37"/>
          <p:cNvSpPr/>
          <p:nvPr/>
        </p:nvSpPr>
        <p:spPr>
          <a:xfrm>
            <a:off x="11998119" y="6325917"/>
            <a:ext cx="0" cy="3288902"/>
          </a:xfrm>
          <a:prstGeom prst="line">
            <a:avLst/>
          </a:prstGeom>
          <a:ln cap="flat" w="38100">
            <a:solidFill>
              <a:srgbClr val="000000"/>
            </a:solidFill>
            <a:prstDash val="solid"/>
            <a:headEnd type="none" len="sm" w="sm"/>
            <a:tailEnd type="none" len="sm" w="sm"/>
          </a:ln>
        </p:spPr>
      </p:sp>
      <p:sp>
        <p:nvSpPr>
          <p:cNvPr name="TextBox 38" id="38"/>
          <p:cNvSpPr txBox="true"/>
          <p:nvPr/>
        </p:nvSpPr>
        <p:spPr>
          <a:xfrm rot="0">
            <a:off x="10698399" y="2806406"/>
            <a:ext cx="5693938" cy="1552565"/>
          </a:xfrm>
          <a:prstGeom prst="rect">
            <a:avLst/>
          </a:prstGeom>
        </p:spPr>
        <p:txBody>
          <a:bodyPr anchor="t" rtlCol="false" tIns="0" lIns="0" bIns="0" rIns="0">
            <a:spAutoFit/>
          </a:bodyPr>
          <a:lstStyle/>
          <a:p>
            <a:pPr algn="l" marL="488372" indent="-244186" lvl="1">
              <a:lnSpc>
                <a:spcPts val="4139"/>
              </a:lnSpc>
              <a:buFont typeface="Arial"/>
              <a:buChar char="•"/>
            </a:pPr>
            <a:r>
              <a:rPr lang="en-US" b="true" sz="2262" spc="-45">
                <a:solidFill>
                  <a:srgbClr val="000000"/>
                </a:solidFill>
                <a:latin typeface="Poppins Bold"/>
                <a:ea typeface="Poppins Bold"/>
                <a:cs typeface="Poppins Bold"/>
                <a:sym typeface="Poppins Bold"/>
              </a:rPr>
              <a:t>Inf</a:t>
            </a:r>
            <a:r>
              <a:rPr lang="en-US" b="true" sz="2262" spc="-45">
                <a:solidFill>
                  <a:srgbClr val="000000"/>
                </a:solidFill>
                <a:latin typeface="Poppins Bold"/>
                <a:ea typeface="Poppins Bold"/>
                <a:cs typeface="Poppins Bold"/>
                <a:sym typeface="Poppins Bold"/>
              </a:rPr>
              <a:t>ormation locale</a:t>
            </a:r>
          </a:p>
          <a:p>
            <a:pPr algn="l" marL="488372" indent="-244186" lvl="1">
              <a:lnSpc>
                <a:spcPts val="4139"/>
              </a:lnSpc>
              <a:buFont typeface="Arial"/>
              <a:buChar char="•"/>
            </a:pPr>
            <a:r>
              <a:rPr lang="en-US" b="true" sz="2262" spc="-45">
                <a:solidFill>
                  <a:srgbClr val="000000"/>
                </a:solidFill>
                <a:latin typeface="Poppins Bold"/>
                <a:ea typeface="Poppins Bold"/>
                <a:cs typeface="Poppins Bold"/>
                <a:sym typeface="Poppins Bold"/>
              </a:rPr>
              <a:t>Pas d’information sur le voisinage</a:t>
            </a:r>
          </a:p>
          <a:p>
            <a:pPr algn="l" marL="488372" indent="-244186" lvl="1">
              <a:lnSpc>
                <a:spcPts val="4139"/>
              </a:lnSpc>
              <a:buFont typeface="Arial"/>
              <a:buChar char="•"/>
            </a:pPr>
            <a:r>
              <a:rPr lang="en-US" b="true" sz="2262" spc="-45">
                <a:solidFill>
                  <a:srgbClr val="000000"/>
                </a:solidFill>
                <a:latin typeface="Poppins Bold"/>
                <a:ea typeface="Poppins Bold"/>
                <a:cs typeface="Poppins Bold"/>
                <a:sym typeface="Poppins Bold"/>
              </a:rPr>
              <a:t>Plus sensible au bruit</a:t>
            </a:r>
          </a:p>
        </p:txBody>
      </p:sp>
      <p:sp>
        <p:nvSpPr>
          <p:cNvPr name="TextBox 39" id="39"/>
          <p:cNvSpPr txBox="true"/>
          <p:nvPr/>
        </p:nvSpPr>
        <p:spPr>
          <a:xfrm rot="0">
            <a:off x="10698399" y="1386622"/>
            <a:ext cx="3882630" cy="504815"/>
          </a:xfrm>
          <a:prstGeom prst="rect">
            <a:avLst/>
          </a:prstGeom>
        </p:spPr>
        <p:txBody>
          <a:bodyPr anchor="t" rtlCol="false" tIns="0" lIns="0" bIns="0" rIns="0">
            <a:spAutoFit/>
          </a:bodyPr>
          <a:lstStyle/>
          <a:p>
            <a:pPr algn="l" marL="488372" indent="-244186" lvl="1">
              <a:lnSpc>
                <a:spcPts val="4139"/>
              </a:lnSpc>
              <a:buFont typeface="Arial"/>
              <a:buChar char="•"/>
            </a:pPr>
            <a:r>
              <a:rPr lang="en-US" b="true" sz="2262" spc="-45">
                <a:solidFill>
                  <a:srgbClr val="000000"/>
                </a:solidFill>
                <a:latin typeface="Poppins Bold"/>
                <a:ea typeface="Poppins Bold"/>
                <a:cs typeface="Poppins Bold"/>
                <a:sym typeface="Poppins Bold"/>
              </a:rPr>
              <a:t> 320 × 240=76800 Pixels</a:t>
            </a:r>
          </a:p>
        </p:txBody>
      </p:sp>
      <p:sp>
        <p:nvSpPr>
          <p:cNvPr name="TextBox 40" id="40"/>
          <p:cNvSpPr txBox="true"/>
          <p:nvPr/>
        </p:nvSpPr>
        <p:spPr>
          <a:xfrm rot="0">
            <a:off x="12341387" y="6053544"/>
            <a:ext cx="4917913" cy="755754"/>
          </a:xfrm>
          <a:prstGeom prst="rect">
            <a:avLst/>
          </a:prstGeom>
        </p:spPr>
        <p:txBody>
          <a:bodyPr anchor="t" rtlCol="false" tIns="0" lIns="0" bIns="0" rIns="0">
            <a:spAutoFit/>
          </a:bodyPr>
          <a:lstStyle/>
          <a:p>
            <a:pPr algn="ctr">
              <a:lnSpc>
                <a:spcPts val="2999"/>
              </a:lnSpc>
            </a:pPr>
            <a:r>
              <a:rPr lang="en-US" sz="2142" b="true">
                <a:solidFill>
                  <a:srgbClr val="000000"/>
                </a:solidFill>
                <a:latin typeface="Poppins Bold"/>
                <a:ea typeface="Poppins Bold"/>
                <a:cs typeface="Poppins Bold"/>
                <a:sym typeface="Poppins Bold"/>
              </a:rPr>
              <a:t>Regrouper pour mieux </a:t>
            </a:r>
          </a:p>
          <a:p>
            <a:pPr algn="ctr">
              <a:lnSpc>
                <a:spcPts val="2999"/>
              </a:lnSpc>
              <a:spcBef>
                <a:spcPct val="0"/>
              </a:spcBef>
            </a:pPr>
            <a:r>
              <a:rPr lang="en-US" b="true" sz="2142">
                <a:solidFill>
                  <a:srgbClr val="000000"/>
                </a:solidFill>
                <a:latin typeface="Poppins Bold"/>
                <a:ea typeface="Poppins Bold"/>
                <a:cs typeface="Poppins Bold"/>
                <a:sym typeface="Poppins Bold"/>
              </a:rPr>
              <a:t>représenter et comprendre l’image</a:t>
            </a:r>
          </a:p>
        </p:txBody>
      </p:sp>
      <p:sp>
        <p:nvSpPr>
          <p:cNvPr name="TextBox 41" id="41"/>
          <p:cNvSpPr txBox="true"/>
          <p:nvPr/>
        </p:nvSpPr>
        <p:spPr>
          <a:xfrm rot="0">
            <a:off x="11484746" y="1913746"/>
            <a:ext cx="3638352" cy="648509"/>
          </a:xfrm>
          <a:prstGeom prst="rect">
            <a:avLst/>
          </a:prstGeom>
        </p:spPr>
        <p:txBody>
          <a:bodyPr anchor="t" rtlCol="false" tIns="0" lIns="0" bIns="0" rIns="0">
            <a:spAutoFit/>
          </a:bodyPr>
          <a:lstStyle/>
          <a:p>
            <a:pPr algn="ctr">
              <a:lnSpc>
                <a:spcPts val="2580"/>
              </a:lnSpc>
            </a:pPr>
            <a:r>
              <a:rPr lang="en-US" sz="1843" b="true">
                <a:solidFill>
                  <a:srgbClr val="000000"/>
                </a:solidFill>
                <a:latin typeface="Poppins Bold"/>
                <a:ea typeface="Poppins Bold"/>
                <a:cs typeface="Poppins Bold"/>
                <a:sym typeface="Poppins Bold"/>
              </a:rPr>
              <a:t>Des millions de pixels a traiter </a:t>
            </a:r>
          </a:p>
          <a:p>
            <a:pPr algn="ctr">
              <a:lnSpc>
                <a:spcPts val="2580"/>
              </a:lnSpc>
              <a:spcBef>
                <a:spcPct val="0"/>
              </a:spcBef>
            </a:pPr>
            <a:r>
              <a:rPr lang="en-US" b="true" sz="1843">
                <a:solidFill>
                  <a:srgbClr val="000000"/>
                </a:solidFill>
                <a:latin typeface="Poppins Bold"/>
                <a:ea typeface="Poppins Bold"/>
                <a:cs typeface="Poppins Bold"/>
                <a:sym typeface="Poppins Bold"/>
              </a:rPr>
              <a:t>= temps de calcul élevé</a:t>
            </a:r>
          </a:p>
        </p:txBody>
      </p:sp>
      <p:sp>
        <p:nvSpPr>
          <p:cNvPr name="Freeform 42" id="42"/>
          <p:cNvSpPr/>
          <p:nvPr/>
        </p:nvSpPr>
        <p:spPr>
          <a:xfrm flipH="false" flipV="false" rot="0">
            <a:off x="10845230" y="2028412"/>
            <a:ext cx="388719" cy="466803"/>
          </a:xfrm>
          <a:custGeom>
            <a:avLst/>
            <a:gdLst/>
            <a:ahLst/>
            <a:cxnLst/>
            <a:rect r="r" b="b" t="t" l="l"/>
            <a:pathLst>
              <a:path h="466803" w="388719">
                <a:moveTo>
                  <a:pt x="0" y="0"/>
                </a:moveTo>
                <a:lnTo>
                  <a:pt x="388719" y="0"/>
                </a:lnTo>
                <a:lnTo>
                  <a:pt x="388719" y="466803"/>
                </a:lnTo>
                <a:lnTo>
                  <a:pt x="0" y="4668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3" id="43"/>
          <p:cNvSpPr/>
          <p:nvPr/>
        </p:nvSpPr>
        <p:spPr>
          <a:xfrm flipH="false" flipV="false" rot="0">
            <a:off x="12341387" y="7411594"/>
            <a:ext cx="561494" cy="561494"/>
          </a:xfrm>
          <a:custGeom>
            <a:avLst/>
            <a:gdLst/>
            <a:ahLst/>
            <a:cxnLst/>
            <a:rect r="r" b="b" t="t" l="l"/>
            <a:pathLst>
              <a:path h="561494" w="561494">
                <a:moveTo>
                  <a:pt x="0" y="0"/>
                </a:moveTo>
                <a:lnTo>
                  <a:pt x="561494" y="0"/>
                </a:lnTo>
                <a:lnTo>
                  <a:pt x="561494" y="561495"/>
                </a:lnTo>
                <a:lnTo>
                  <a:pt x="0" y="56149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44" id="44"/>
          <p:cNvSpPr/>
          <p:nvPr/>
        </p:nvSpPr>
        <p:spPr>
          <a:xfrm flipH="false" flipV="false" rot="0">
            <a:off x="12360809" y="8573164"/>
            <a:ext cx="557810" cy="567090"/>
          </a:xfrm>
          <a:custGeom>
            <a:avLst/>
            <a:gdLst/>
            <a:ahLst/>
            <a:cxnLst/>
            <a:rect r="r" b="b" t="t" l="l"/>
            <a:pathLst>
              <a:path h="567090" w="557810">
                <a:moveTo>
                  <a:pt x="0" y="0"/>
                </a:moveTo>
                <a:lnTo>
                  <a:pt x="557810" y="0"/>
                </a:lnTo>
                <a:lnTo>
                  <a:pt x="557810" y="567089"/>
                </a:lnTo>
                <a:lnTo>
                  <a:pt x="0" y="5670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45" id="45"/>
          <p:cNvSpPr/>
          <p:nvPr/>
        </p:nvSpPr>
        <p:spPr>
          <a:xfrm>
            <a:off x="6202757" y="966114"/>
            <a:ext cx="4836832" cy="0"/>
          </a:xfrm>
          <a:prstGeom prst="line">
            <a:avLst/>
          </a:prstGeom>
          <a:ln cap="flat" w="28575">
            <a:solidFill>
              <a:srgbClr val="000000"/>
            </a:solidFill>
            <a:prstDash val="solid"/>
            <a:headEnd type="none" len="sm" w="sm"/>
            <a:tailEnd type="none" len="sm" w="sm"/>
          </a:ln>
        </p:spPr>
      </p:sp>
      <p:sp>
        <p:nvSpPr>
          <p:cNvPr name="TextBox 46" id="46"/>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170884" y="2503797"/>
            <a:ext cx="4836832" cy="0"/>
          </a:xfrm>
          <a:prstGeom prst="line">
            <a:avLst/>
          </a:prstGeom>
          <a:ln cap="flat" w="28575">
            <a:solidFill>
              <a:srgbClr val="000000"/>
            </a:solidFill>
            <a:prstDash val="solid"/>
            <a:headEnd type="none" len="sm" w="sm"/>
            <a:tailEnd type="none" len="sm" w="sm"/>
          </a:ln>
        </p:spPr>
      </p:sp>
      <p:grpSp>
        <p:nvGrpSpPr>
          <p:cNvPr name="Group 3" id="3"/>
          <p:cNvGrpSpPr/>
          <p:nvPr/>
        </p:nvGrpSpPr>
        <p:grpSpPr>
          <a:xfrm rot="0">
            <a:off x="7236078" y="3949309"/>
            <a:ext cx="4815573" cy="3252077"/>
            <a:chOff x="0" y="0"/>
            <a:chExt cx="688190" cy="464752"/>
          </a:xfrm>
        </p:grpSpPr>
        <p:sp>
          <p:nvSpPr>
            <p:cNvPr name="Freeform 4" id="4"/>
            <p:cNvSpPr/>
            <p:nvPr/>
          </p:nvSpPr>
          <p:spPr>
            <a:xfrm flipH="false" flipV="false" rot="0">
              <a:off x="0" y="0"/>
              <a:ext cx="688190" cy="464752"/>
            </a:xfrm>
            <a:custGeom>
              <a:avLst/>
              <a:gdLst/>
              <a:ahLst/>
              <a:cxnLst/>
              <a:rect r="r" b="b" t="t" l="l"/>
              <a:pathLst>
                <a:path h="464752" w="688190">
                  <a:moveTo>
                    <a:pt x="0" y="0"/>
                  </a:moveTo>
                  <a:lnTo>
                    <a:pt x="688190" y="0"/>
                  </a:lnTo>
                  <a:lnTo>
                    <a:pt x="688190" y="464752"/>
                  </a:lnTo>
                  <a:lnTo>
                    <a:pt x="0" y="464752"/>
                  </a:lnTo>
                  <a:close/>
                </a:path>
              </a:pathLst>
            </a:custGeom>
            <a:blipFill>
              <a:blip r:embed="rId2"/>
              <a:stretch>
                <a:fillRect l="-649" t="0" r="-649" b="0"/>
              </a:stretch>
            </a:blipFill>
          </p:spPr>
        </p:sp>
      </p:grpSp>
      <p:grpSp>
        <p:nvGrpSpPr>
          <p:cNvPr name="Group 5" id="5"/>
          <p:cNvGrpSpPr/>
          <p:nvPr/>
        </p:nvGrpSpPr>
        <p:grpSpPr>
          <a:xfrm rot="-3503507">
            <a:off x="15971842" y="1684952"/>
            <a:ext cx="12583451" cy="7382737"/>
            <a:chOff x="0" y="0"/>
            <a:chExt cx="3314160" cy="1944424"/>
          </a:xfrm>
        </p:grpSpPr>
        <p:sp>
          <p:nvSpPr>
            <p:cNvPr name="Freeform 6" id="6"/>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7" id="7"/>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grpSp>
        <p:nvGrpSpPr>
          <p:cNvPr name="Group 8" id="8"/>
          <p:cNvGrpSpPr/>
          <p:nvPr/>
        </p:nvGrpSpPr>
        <p:grpSpPr>
          <a:xfrm rot="-3503507">
            <a:off x="-10878133" y="751583"/>
            <a:ext cx="12583451" cy="7382737"/>
            <a:chOff x="0" y="0"/>
            <a:chExt cx="3314160" cy="1944424"/>
          </a:xfrm>
        </p:grpSpPr>
        <p:sp>
          <p:nvSpPr>
            <p:cNvPr name="Freeform 9" id="9"/>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10" id="10"/>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sp>
        <p:nvSpPr>
          <p:cNvPr name="Freeform 11" id="11"/>
          <p:cNvSpPr/>
          <p:nvPr/>
        </p:nvSpPr>
        <p:spPr>
          <a:xfrm flipH="false" flipV="false" rot="0">
            <a:off x="856854" y="3949309"/>
            <a:ext cx="2591996" cy="2630254"/>
          </a:xfrm>
          <a:custGeom>
            <a:avLst/>
            <a:gdLst/>
            <a:ahLst/>
            <a:cxnLst/>
            <a:rect r="r" b="b" t="t" l="l"/>
            <a:pathLst>
              <a:path h="2630254" w="2591996">
                <a:moveTo>
                  <a:pt x="0" y="0"/>
                </a:moveTo>
                <a:lnTo>
                  <a:pt x="2591996" y="0"/>
                </a:lnTo>
                <a:lnTo>
                  <a:pt x="2591996" y="2630254"/>
                </a:lnTo>
                <a:lnTo>
                  <a:pt x="0" y="26302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4172750" y="4978644"/>
            <a:ext cx="2339428" cy="1213305"/>
            <a:chOff x="0" y="0"/>
            <a:chExt cx="1099845" cy="570416"/>
          </a:xfrm>
        </p:grpSpPr>
        <p:sp>
          <p:nvSpPr>
            <p:cNvPr name="Freeform 13" id="13"/>
            <p:cNvSpPr/>
            <p:nvPr/>
          </p:nvSpPr>
          <p:spPr>
            <a:xfrm flipH="false" flipV="false" rot="0">
              <a:off x="0" y="0"/>
              <a:ext cx="1099845" cy="570416"/>
            </a:xfrm>
            <a:custGeom>
              <a:avLst/>
              <a:gdLst/>
              <a:ahLst/>
              <a:cxnLst/>
              <a:rect r="r" b="b" t="t" l="l"/>
              <a:pathLst>
                <a:path h="570416" w="1099845">
                  <a:moveTo>
                    <a:pt x="1099845" y="285208"/>
                  </a:moveTo>
                  <a:lnTo>
                    <a:pt x="693445" y="0"/>
                  </a:lnTo>
                  <a:lnTo>
                    <a:pt x="693445" y="203200"/>
                  </a:lnTo>
                  <a:lnTo>
                    <a:pt x="0" y="203200"/>
                  </a:lnTo>
                  <a:lnTo>
                    <a:pt x="0" y="367216"/>
                  </a:lnTo>
                  <a:lnTo>
                    <a:pt x="693445" y="367216"/>
                  </a:lnTo>
                  <a:lnTo>
                    <a:pt x="693445" y="570416"/>
                  </a:lnTo>
                  <a:lnTo>
                    <a:pt x="1099845" y="285208"/>
                  </a:lnTo>
                  <a:close/>
                </a:path>
              </a:pathLst>
            </a:custGeom>
            <a:solidFill>
              <a:srgbClr val="8D2B2B"/>
            </a:solidFill>
          </p:spPr>
        </p:sp>
        <p:sp>
          <p:nvSpPr>
            <p:cNvPr name="TextBox 14" id="14"/>
            <p:cNvSpPr txBox="true"/>
            <p:nvPr/>
          </p:nvSpPr>
          <p:spPr>
            <a:xfrm>
              <a:off x="0" y="155575"/>
              <a:ext cx="998245" cy="211641"/>
            </a:xfrm>
            <a:prstGeom prst="rect">
              <a:avLst/>
            </a:prstGeom>
          </p:spPr>
          <p:txBody>
            <a:bodyPr anchor="ctr" rtlCol="false" tIns="50800" lIns="50800" bIns="50800" rIns="50800"/>
            <a:lstStyle/>
            <a:p>
              <a:pPr algn="ctr">
                <a:lnSpc>
                  <a:spcPts val="3254"/>
                </a:lnSpc>
              </a:pPr>
            </a:p>
          </p:txBody>
        </p:sp>
      </p:grpSp>
      <p:grpSp>
        <p:nvGrpSpPr>
          <p:cNvPr name="Group 15" id="15"/>
          <p:cNvGrpSpPr/>
          <p:nvPr/>
        </p:nvGrpSpPr>
        <p:grpSpPr>
          <a:xfrm rot="0">
            <a:off x="12417998" y="5264436"/>
            <a:ext cx="2116488" cy="1213305"/>
            <a:chOff x="0" y="0"/>
            <a:chExt cx="995034" cy="570416"/>
          </a:xfrm>
        </p:grpSpPr>
        <p:sp>
          <p:nvSpPr>
            <p:cNvPr name="Freeform 16" id="16"/>
            <p:cNvSpPr/>
            <p:nvPr/>
          </p:nvSpPr>
          <p:spPr>
            <a:xfrm flipH="false" flipV="false" rot="0">
              <a:off x="0" y="0"/>
              <a:ext cx="995034" cy="570416"/>
            </a:xfrm>
            <a:custGeom>
              <a:avLst/>
              <a:gdLst/>
              <a:ahLst/>
              <a:cxnLst/>
              <a:rect r="r" b="b" t="t" l="l"/>
              <a:pathLst>
                <a:path h="570416" w="995034">
                  <a:moveTo>
                    <a:pt x="995034" y="285208"/>
                  </a:moveTo>
                  <a:lnTo>
                    <a:pt x="588634" y="0"/>
                  </a:lnTo>
                  <a:lnTo>
                    <a:pt x="588634" y="203200"/>
                  </a:lnTo>
                  <a:lnTo>
                    <a:pt x="0" y="203200"/>
                  </a:lnTo>
                  <a:lnTo>
                    <a:pt x="0" y="367216"/>
                  </a:lnTo>
                  <a:lnTo>
                    <a:pt x="588634" y="367216"/>
                  </a:lnTo>
                  <a:lnTo>
                    <a:pt x="588634" y="570416"/>
                  </a:lnTo>
                  <a:lnTo>
                    <a:pt x="995034" y="285208"/>
                  </a:lnTo>
                  <a:close/>
                </a:path>
              </a:pathLst>
            </a:custGeom>
            <a:solidFill>
              <a:srgbClr val="8D2B2B"/>
            </a:solidFill>
          </p:spPr>
        </p:sp>
        <p:sp>
          <p:nvSpPr>
            <p:cNvPr name="TextBox 17" id="17"/>
            <p:cNvSpPr txBox="true"/>
            <p:nvPr/>
          </p:nvSpPr>
          <p:spPr>
            <a:xfrm>
              <a:off x="0" y="155575"/>
              <a:ext cx="893434" cy="211641"/>
            </a:xfrm>
            <a:prstGeom prst="rect">
              <a:avLst/>
            </a:prstGeom>
          </p:spPr>
          <p:txBody>
            <a:bodyPr anchor="ctr" rtlCol="false" tIns="50800" lIns="50800" bIns="50800" rIns="50800"/>
            <a:lstStyle/>
            <a:p>
              <a:pPr algn="ctr">
                <a:lnSpc>
                  <a:spcPts val="3254"/>
                </a:lnSpc>
              </a:pPr>
            </a:p>
          </p:txBody>
        </p:sp>
      </p:grpSp>
      <p:sp>
        <p:nvSpPr>
          <p:cNvPr name="Freeform 18" id="18"/>
          <p:cNvSpPr/>
          <p:nvPr/>
        </p:nvSpPr>
        <p:spPr>
          <a:xfrm flipH="false" flipV="false" rot="0">
            <a:off x="15254988" y="4086200"/>
            <a:ext cx="2056871" cy="1784888"/>
          </a:xfrm>
          <a:custGeom>
            <a:avLst/>
            <a:gdLst/>
            <a:ahLst/>
            <a:cxnLst/>
            <a:rect r="r" b="b" t="t" l="l"/>
            <a:pathLst>
              <a:path h="1784888" w="2056871">
                <a:moveTo>
                  <a:pt x="0" y="0"/>
                </a:moveTo>
                <a:lnTo>
                  <a:pt x="2056872" y="0"/>
                </a:lnTo>
                <a:lnTo>
                  <a:pt x="2056872" y="1784888"/>
                </a:lnTo>
                <a:lnTo>
                  <a:pt x="0" y="1784888"/>
                </a:lnTo>
                <a:lnTo>
                  <a:pt x="0" y="0"/>
                </a:lnTo>
                <a:close/>
              </a:path>
            </a:pathLst>
          </a:custGeom>
          <a:blipFill>
            <a:blip r:embed="rId5"/>
            <a:stretch>
              <a:fillRect l="0" t="0" r="0" b="0"/>
            </a:stretch>
          </a:blipFill>
        </p:spPr>
      </p:sp>
      <p:sp>
        <p:nvSpPr>
          <p:cNvPr name="Freeform 19" id="19"/>
          <p:cNvSpPr/>
          <p:nvPr/>
        </p:nvSpPr>
        <p:spPr>
          <a:xfrm flipH="false" flipV="false" rot="0">
            <a:off x="15086936" y="6181162"/>
            <a:ext cx="2224923" cy="1848122"/>
          </a:xfrm>
          <a:custGeom>
            <a:avLst/>
            <a:gdLst/>
            <a:ahLst/>
            <a:cxnLst/>
            <a:rect r="r" b="b" t="t" l="l"/>
            <a:pathLst>
              <a:path h="1848122" w="2224923">
                <a:moveTo>
                  <a:pt x="0" y="0"/>
                </a:moveTo>
                <a:lnTo>
                  <a:pt x="2224924" y="0"/>
                </a:lnTo>
                <a:lnTo>
                  <a:pt x="2224924" y="1848121"/>
                </a:lnTo>
                <a:lnTo>
                  <a:pt x="0" y="1848121"/>
                </a:lnTo>
                <a:lnTo>
                  <a:pt x="0" y="0"/>
                </a:lnTo>
                <a:close/>
              </a:path>
            </a:pathLst>
          </a:custGeom>
          <a:blipFill>
            <a:blip r:embed="rId6"/>
            <a:stretch>
              <a:fillRect l="0" t="0" r="0" b="0"/>
            </a:stretch>
          </a:blipFill>
        </p:spPr>
      </p:sp>
      <p:sp>
        <p:nvSpPr>
          <p:cNvPr name="TextBox 20" id="20"/>
          <p:cNvSpPr txBox="true"/>
          <p:nvPr/>
        </p:nvSpPr>
        <p:spPr>
          <a:xfrm rot="0">
            <a:off x="3975296" y="1337576"/>
            <a:ext cx="11228009" cy="819139"/>
          </a:xfrm>
          <a:prstGeom prst="rect">
            <a:avLst/>
          </a:prstGeom>
        </p:spPr>
        <p:txBody>
          <a:bodyPr anchor="t" rtlCol="false" tIns="0" lIns="0" bIns="0" rIns="0">
            <a:spAutoFit/>
          </a:bodyPr>
          <a:lstStyle/>
          <a:p>
            <a:pPr algn="ctr">
              <a:lnSpc>
                <a:spcPts val="6300"/>
              </a:lnSpc>
            </a:pPr>
            <a:r>
              <a:rPr lang="en-US" b="true" sz="4500" spc="423">
                <a:solidFill>
                  <a:srgbClr val="8D0000"/>
                </a:solidFill>
                <a:latin typeface="Poppins Bold"/>
                <a:ea typeface="Poppins Bold"/>
                <a:cs typeface="Poppins Bold"/>
                <a:sym typeface="Poppins Bold"/>
              </a:rPr>
              <a:t>OBJECTIF DU PROJET </a:t>
            </a:r>
          </a:p>
        </p:txBody>
      </p:sp>
      <p:sp>
        <p:nvSpPr>
          <p:cNvPr name="TextBox 21" id="21"/>
          <p:cNvSpPr txBox="true"/>
          <p:nvPr/>
        </p:nvSpPr>
        <p:spPr>
          <a:xfrm rot="0">
            <a:off x="7610611" y="7781564"/>
            <a:ext cx="3963122" cy="1047188"/>
          </a:xfrm>
          <a:prstGeom prst="rect">
            <a:avLst/>
          </a:prstGeom>
        </p:spPr>
        <p:txBody>
          <a:bodyPr anchor="t" rtlCol="false" tIns="0" lIns="0" bIns="0" rIns="0">
            <a:spAutoFit/>
          </a:bodyPr>
          <a:lstStyle/>
          <a:p>
            <a:pPr algn="ctr">
              <a:lnSpc>
                <a:spcPts val="4230"/>
              </a:lnSpc>
              <a:spcBef>
                <a:spcPct val="0"/>
              </a:spcBef>
            </a:pPr>
            <a:r>
              <a:rPr lang="en-US" sz="3022">
                <a:solidFill>
                  <a:srgbClr val="191919"/>
                </a:solidFill>
                <a:latin typeface="Open Sans"/>
                <a:ea typeface="Open Sans"/>
                <a:cs typeface="Open Sans"/>
                <a:sym typeface="Open Sans"/>
              </a:rPr>
              <a:t>Génération des superpixels</a:t>
            </a:r>
          </a:p>
        </p:txBody>
      </p:sp>
      <p:sp>
        <p:nvSpPr>
          <p:cNvPr name="TextBox 22" id="22"/>
          <p:cNvSpPr txBox="true"/>
          <p:nvPr/>
        </p:nvSpPr>
        <p:spPr>
          <a:xfrm rot="0">
            <a:off x="1158476" y="6944088"/>
            <a:ext cx="3230607" cy="2113240"/>
          </a:xfrm>
          <a:prstGeom prst="rect">
            <a:avLst/>
          </a:prstGeom>
        </p:spPr>
        <p:txBody>
          <a:bodyPr anchor="t" rtlCol="false" tIns="0" lIns="0" bIns="0" rIns="0">
            <a:spAutoFit/>
          </a:bodyPr>
          <a:lstStyle/>
          <a:p>
            <a:pPr algn="ctr">
              <a:lnSpc>
                <a:spcPts val="4272"/>
              </a:lnSpc>
              <a:spcBef>
                <a:spcPct val="0"/>
              </a:spcBef>
            </a:pPr>
            <a:r>
              <a:rPr lang="en-US" sz="3051">
                <a:solidFill>
                  <a:srgbClr val="000000"/>
                </a:solidFill>
                <a:latin typeface="Open Sans"/>
                <a:ea typeface="Open Sans"/>
                <a:cs typeface="Open Sans"/>
                <a:sym typeface="Open Sans"/>
              </a:rPr>
              <a:t>Reconstruction de l’algorithme SLIC en se basant sur l’article</a:t>
            </a:r>
          </a:p>
        </p:txBody>
      </p:sp>
      <p:sp>
        <p:nvSpPr>
          <p:cNvPr name="TextBox 23" id="23"/>
          <p:cNvSpPr txBox="true"/>
          <p:nvPr/>
        </p:nvSpPr>
        <p:spPr>
          <a:xfrm rot="0">
            <a:off x="13886107" y="2698701"/>
            <a:ext cx="4401893" cy="1047332"/>
          </a:xfrm>
          <a:prstGeom prst="rect">
            <a:avLst/>
          </a:prstGeom>
        </p:spPr>
        <p:txBody>
          <a:bodyPr anchor="t" rtlCol="false" tIns="0" lIns="0" bIns="0" rIns="0">
            <a:spAutoFit/>
          </a:bodyPr>
          <a:lstStyle/>
          <a:p>
            <a:pPr algn="ctr">
              <a:lnSpc>
                <a:spcPts val="4223"/>
              </a:lnSpc>
            </a:pPr>
            <a:r>
              <a:rPr lang="en-US" sz="3016">
                <a:solidFill>
                  <a:srgbClr val="000000"/>
                </a:solidFill>
                <a:latin typeface="Open Sans"/>
                <a:ea typeface="Open Sans"/>
                <a:cs typeface="Open Sans"/>
                <a:sym typeface="Open Sans"/>
              </a:rPr>
              <a:t>Evaluer </a:t>
            </a:r>
          </a:p>
          <a:p>
            <a:pPr algn="ctr">
              <a:lnSpc>
                <a:spcPts val="4223"/>
              </a:lnSpc>
              <a:spcBef>
                <a:spcPct val="0"/>
              </a:spcBef>
            </a:pPr>
            <a:r>
              <a:rPr lang="en-US" sz="3016">
                <a:solidFill>
                  <a:srgbClr val="000000"/>
                </a:solidFill>
                <a:latin typeface="Open Sans"/>
                <a:ea typeface="Open Sans"/>
                <a:cs typeface="Open Sans"/>
                <a:sym typeface="Open Sans"/>
              </a:rPr>
              <a:t>les performances</a:t>
            </a:r>
          </a:p>
        </p:txBody>
      </p:sp>
      <p:sp>
        <p:nvSpPr>
          <p:cNvPr name="TextBox 24" id="24"/>
          <p:cNvSpPr txBox="true"/>
          <p:nvPr/>
        </p:nvSpPr>
        <p:spPr>
          <a:xfrm rot="0">
            <a:off x="13017430" y="8315033"/>
            <a:ext cx="5106739" cy="513719"/>
          </a:xfrm>
          <a:prstGeom prst="rect">
            <a:avLst/>
          </a:prstGeom>
        </p:spPr>
        <p:txBody>
          <a:bodyPr anchor="t" rtlCol="false" tIns="0" lIns="0" bIns="0" rIns="0">
            <a:spAutoFit/>
          </a:bodyPr>
          <a:lstStyle/>
          <a:p>
            <a:pPr algn="ctr">
              <a:lnSpc>
                <a:spcPts val="4234"/>
              </a:lnSpc>
              <a:spcBef>
                <a:spcPct val="0"/>
              </a:spcBef>
            </a:pPr>
            <a:r>
              <a:rPr lang="en-US" sz="3024">
                <a:solidFill>
                  <a:srgbClr val="000000"/>
                </a:solidFill>
                <a:latin typeface="Open Sans"/>
                <a:ea typeface="Open Sans"/>
                <a:cs typeface="Open Sans"/>
                <a:sym typeface="Open Sans"/>
              </a:rPr>
              <a:t>Compromis des Paramètres </a:t>
            </a:r>
          </a:p>
        </p:txBody>
      </p:sp>
      <p:sp>
        <p:nvSpPr>
          <p:cNvPr name="TextBox 25" id="25"/>
          <p:cNvSpPr txBox="true"/>
          <p:nvPr/>
        </p:nvSpPr>
        <p:spPr>
          <a:xfrm rot="0">
            <a:off x="13819062" y="9115522"/>
            <a:ext cx="1533922" cy="787405"/>
          </a:xfrm>
          <a:prstGeom prst="rect">
            <a:avLst/>
          </a:prstGeom>
        </p:spPr>
        <p:txBody>
          <a:bodyPr anchor="t" rtlCol="false" tIns="0" lIns="0" bIns="0" rIns="0">
            <a:spAutoFit/>
          </a:bodyPr>
          <a:lstStyle/>
          <a:p>
            <a:pPr algn="ctr">
              <a:lnSpc>
                <a:spcPts val="6474"/>
              </a:lnSpc>
              <a:spcBef>
                <a:spcPct val="0"/>
              </a:spcBef>
            </a:pPr>
            <a:r>
              <a:rPr lang="en-US" b="true" sz="4624" i="true">
                <a:solidFill>
                  <a:srgbClr val="8D0000"/>
                </a:solidFill>
                <a:latin typeface="Open Sans Bold Italics"/>
                <a:ea typeface="Open Sans Bold Italics"/>
                <a:cs typeface="Open Sans Bold Italics"/>
                <a:sym typeface="Open Sans Bold Italics"/>
              </a:rPr>
              <a:t>K</a:t>
            </a:r>
          </a:p>
        </p:txBody>
      </p:sp>
      <p:sp>
        <p:nvSpPr>
          <p:cNvPr name="TextBox 26" id="26"/>
          <p:cNvSpPr txBox="true"/>
          <p:nvPr/>
        </p:nvSpPr>
        <p:spPr>
          <a:xfrm rot="0">
            <a:off x="16267384" y="9115522"/>
            <a:ext cx="576759" cy="787405"/>
          </a:xfrm>
          <a:prstGeom prst="rect">
            <a:avLst/>
          </a:prstGeom>
        </p:spPr>
        <p:txBody>
          <a:bodyPr anchor="t" rtlCol="false" tIns="0" lIns="0" bIns="0" rIns="0">
            <a:spAutoFit/>
          </a:bodyPr>
          <a:lstStyle/>
          <a:p>
            <a:pPr algn="ctr">
              <a:lnSpc>
                <a:spcPts val="6474"/>
              </a:lnSpc>
              <a:spcBef>
                <a:spcPct val="0"/>
              </a:spcBef>
            </a:pPr>
            <a:r>
              <a:rPr lang="en-US" b="true" sz="4624">
                <a:solidFill>
                  <a:srgbClr val="8D0000"/>
                </a:solidFill>
                <a:latin typeface="Open Sans Bold"/>
                <a:ea typeface="Open Sans Bold"/>
                <a:cs typeface="Open Sans Bold"/>
                <a:sym typeface="Open Sans Bold"/>
              </a:rPr>
              <a:t>m</a:t>
            </a:r>
          </a:p>
        </p:txBody>
      </p:sp>
      <p:sp>
        <p:nvSpPr>
          <p:cNvPr name="TextBox 27" id="27"/>
          <p:cNvSpPr txBox="true"/>
          <p:nvPr/>
        </p:nvSpPr>
        <p:spPr>
          <a:xfrm rot="0">
            <a:off x="15366230" y="9329200"/>
            <a:ext cx="243384" cy="438154"/>
          </a:xfrm>
          <a:prstGeom prst="rect">
            <a:avLst/>
          </a:prstGeom>
        </p:spPr>
        <p:txBody>
          <a:bodyPr anchor="t" rtlCol="false" tIns="0" lIns="0" bIns="0" rIns="0">
            <a:spAutoFit/>
          </a:bodyPr>
          <a:lstStyle/>
          <a:p>
            <a:pPr algn="ctr">
              <a:lnSpc>
                <a:spcPts val="3674"/>
              </a:lnSpc>
              <a:spcBef>
                <a:spcPct val="0"/>
              </a:spcBef>
            </a:pPr>
            <a:r>
              <a:rPr lang="en-US" sz="2624">
                <a:solidFill>
                  <a:srgbClr val="000000"/>
                </a:solidFill>
                <a:latin typeface="Open Sans"/>
                <a:ea typeface="Open Sans"/>
                <a:cs typeface="Open Sans"/>
                <a:sym typeface="Open Sans"/>
              </a:rPr>
              <a:t>&amp;</a:t>
            </a:r>
          </a:p>
        </p:txBody>
      </p:sp>
      <p:sp>
        <p:nvSpPr>
          <p:cNvPr name="TextBox 28" id="28"/>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25584" y="2023992"/>
            <a:ext cx="4836832" cy="0"/>
          </a:xfrm>
          <a:prstGeom prst="line">
            <a:avLst/>
          </a:prstGeom>
          <a:ln cap="flat" w="28575">
            <a:solidFill>
              <a:srgbClr val="000000"/>
            </a:solidFill>
            <a:prstDash val="solid"/>
            <a:headEnd type="none" len="sm" w="sm"/>
            <a:tailEnd type="none" len="sm" w="sm"/>
          </a:ln>
        </p:spPr>
      </p:sp>
      <p:grpSp>
        <p:nvGrpSpPr>
          <p:cNvPr name="Group 3" id="3"/>
          <p:cNvGrpSpPr/>
          <p:nvPr/>
        </p:nvGrpSpPr>
        <p:grpSpPr>
          <a:xfrm rot="-3503507">
            <a:off x="16080414" y="1956382"/>
            <a:ext cx="12583451" cy="7382737"/>
            <a:chOff x="0" y="0"/>
            <a:chExt cx="3314160" cy="1944424"/>
          </a:xfrm>
        </p:grpSpPr>
        <p:sp>
          <p:nvSpPr>
            <p:cNvPr name="Freeform 4" id="4"/>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5" id="5"/>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grpSp>
        <p:nvGrpSpPr>
          <p:cNvPr name="Group 6" id="6"/>
          <p:cNvGrpSpPr/>
          <p:nvPr/>
        </p:nvGrpSpPr>
        <p:grpSpPr>
          <a:xfrm rot="-3503507">
            <a:off x="-10878133" y="751583"/>
            <a:ext cx="12583451" cy="7382737"/>
            <a:chOff x="0" y="0"/>
            <a:chExt cx="3314160" cy="1944424"/>
          </a:xfrm>
        </p:grpSpPr>
        <p:sp>
          <p:nvSpPr>
            <p:cNvPr name="Freeform 7" id="7"/>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8" id="8"/>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sp>
        <p:nvSpPr>
          <p:cNvPr name="Freeform 9" id="9"/>
          <p:cNvSpPr/>
          <p:nvPr/>
        </p:nvSpPr>
        <p:spPr>
          <a:xfrm flipH="false" flipV="false" rot="0">
            <a:off x="9774539" y="3169789"/>
            <a:ext cx="6156297" cy="6934050"/>
          </a:xfrm>
          <a:custGeom>
            <a:avLst/>
            <a:gdLst/>
            <a:ahLst/>
            <a:cxnLst/>
            <a:rect r="r" b="b" t="t" l="l"/>
            <a:pathLst>
              <a:path h="6934050" w="6156297">
                <a:moveTo>
                  <a:pt x="0" y="0"/>
                </a:moveTo>
                <a:lnTo>
                  <a:pt x="6156297" y="0"/>
                </a:lnTo>
                <a:lnTo>
                  <a:pt x="6156297" y="6934050"/>
                </a:lnTo>
                <a:lnTo>
                  <a:pt x="0" y="6934050"/>
                </a:lnTo>
                <a:lnTo>
                  <a:pt x="0" y="0"/>
                </a:lnTo>
                <a:close/>
              </a:path>
            </a:pathLst>
          </a:custGeom>
          <a:blipFill>
            <a:blip r:embed="rId2"/>
            <a:stretch>
              <a:fillRect l="0" t="0" r="0" b="0"/>
            </a:stretch>
          </a:blipFill>
        </p:spPr>
      </p:sp>
      <p:sp>
        <p:nvSpPr>
          <p:cNvPr name="Freeform 10" id="10"/>
          <p:cNvSpPr/>
          <p:nvPr/>
        </p:nvSpPr>
        <p:spPr>
          <a:xfrm flipH="false" flipV="false" rot="0">
            <a:off x="3434891" y="3762655"/>
            <a:ext cx="3595544" cy="2597781"/>
          </a:xfrm>
          <a:custGeom>
            <a:avLst/>
            <a:gdLst/>
            <a:ahLst/>
            <a:cxnLst/>
            <a:rect r="r" b="b" t="t" l="l"/>
            <a:pathLst>
              <a:path h="2597781" w="3595544">
                <a:moveTo>
                  <a:pt x="0" y="0"/>
                </a:moveTo>
                <a:lnTo>
                  <a:pt x="3595544" y="0"/>
                </a:lnTo>
                <a:lnTo>
                  <a:pt x="3595544" y="2597781"/>
                </a:lnTo>
                <a:lnTo>
                  <a:pt x="0" y="2597781"/>
                </a:lnTo>
                <a:lnTo>
                  <a:pt x="0" y="0"/>
                </a:lnTo>
                <a:close/>
              </a:path>
            </a:pathLst>
          </a:custGeom>
          <a:blipFill>
            <a:blip r:embed="rId3"/>
            <a:stretch>
              <a:fillRect l="0" t="0" r="0" b="0"/>
            </a:stretch>
          </a:blipFill>
        </p:spPr>
      </p:sp>
      <p:sp>
        <p:nvSpPr>
          <p:cNvPr name="Freeform 11" id="11"/>
          <p:cNvSpPr/>
          <p:nvPr/>
        </p:nvSpPr>
        <p:spPr>
          <a:xfrm flipH="false" flipV="false" rot="0">
            <a:off x="3434891" y="7497070"/>
            <a:ext cx="3595544" cy="2606770"/>
          </a:xfrm>
          <a:custGeom>
            <a:avLst/>
            <a:gdLst/>
            <a:ahLst/>
            <a:cxnLst/>
            <a:rect r="r" b="b" t="t" l="l"/>
            <a:pathLst>
              <a:path h="2606770" w="3595544">
                <a:moveTo>
                  <a:pt x="0" y="0"/>
                </a:moveTo>
                <a:lnTo>
                  <a:pt x="3595544" y="0"/>
                </a:lnTo>
                <a:lnTo>
                  <a:pt x="3595544" y="2606769"/>
                </a:lnTo>
                <a:lnTo>
                  <a:pt x="0" y="2606769"/>
                </a:lnTo>
                <a:lnTo>
                  <a:pt x="0" y="0"/>
                </a:lnTo>
                <a:close/>
              </a:path>
            </a:pathLst>
          </a:custGeom>
          <a:blipFill>
            <a:blip r:embed="rId4"/>
            <a:stretch>
              <a:fillRect l="0" t="0" r="0" b="0"/>
            </a:stretch>
          </a:blipFill>
        </p:spPr>
      </p:sp>
      <p:sp>
        <p:nvSpPr>
          <p:cNvPr name="TextBox 12" id="12"/>
          <p:cNvSpPr txBox="true"/>
          <p:nvPr/>
        </p:nvSpPr>
        <p:spPr>
          <a:xfrm rot="0">
            <a:off x="654156" y="234149"/>
            <a:ext cx="16821947" cy="1609725"/>
          </a:xfrm>
          <a:prstGeom prst="rect">
            <a:avLst/>
          </a:prstGeom>
        </p:spPr>
        <p:txBody>
          <a:bodyPr anchor="t" rtlCol="false" tIns="0" lIns="0" bIns="0" rIns="0">
            <a:spAutoFit/>
          </a:bodyPr>
          <a:lstStyle/>
          <a:p>
            <a:pPr algn="ctr">
              <a:lnSpc>
                <a:spcPts val="6299"/>
              </a:lnSpc>
            </a:pPr>
            <a:r>
              <a:rPr lang="en-US" b="true" sz="4500" spc="422">
                <a:solidFill>
                  <a:srgbClr val="8D0000"/>
                </a:solidFill>
                <a:latin typeface="Poppins Bold"/>
                <a:ea typeface="Poppins Bold"/>
                <a:cs typeface="Poppins Bold"/>
                <a:sym typeface="Poppins Bold"/>
              </a:rPr>
              <a:t>PRINCIPE DE SLIC(SIMPLE LINEAR ITERATIVE CLUSTERING) </a:t>
            </a:r>
          </a:p>
        </p:txBody>
      </p:sp>
      <p:sp>
        <p:nvSpPr>
          <p:cNvPr name="TextBox 13" id="13"/>
          <p:cNvSpPr txBox="true"/>
          <p:nvPr/>
        </p:nvSpPr>
        <p:spPr>
          <a:xfrm rot="0">
            <a:off x="3042827" y="2608390"/>
            <a:ext cx="4118897" cy="408024"/>
          </a:xfrm>
          <a:prstGeom prst="rect">
            <a:avLst/>
          </a:prstGeom>
        </p:spPr>
        <p:txBody>
          <a:bodyPr anchor="t" rtlCol="false" tIns="0" lIns="0" bIns="0" rIns="0">
            <a:spAutoFit/>
          </a:bodyPr>
          <a:lstStyle/>
          <a:p>
            <a:pPr algn="ctr">
              <a:lnSpc>
                <a:spcPts val="3235"/>
              </a:lnSpc>
            </a:pPr>
            <a:r>
              <a:rPr lang="en-US" b="true" sz="2311" spc="217">
                <a:solidFill>
                  <a:srgbClr val="8D0000"/>
                </a:solidFill>
                <a:latin typeface="Poppins Bold"/>
                <a:ea typeface="Poppins Bold"/>
                <a:cs typeface="Poppins Bold"/>
                <a:sym typeface="Poppins Bold"/>
              </a:rPr>
              <a:t>Principe fondemental </a:t>
            </a:r>
          </a:p>
        </p:txBody>
      </p:sp>
      <p:sp>
        <p:nvSpPr>
          <p:cNvPr name="TextBox 14" id="14"/>
          <p:cNvSpPr txBox="true"/>
          <p:nvPr/>
        </p:nvSpPr>
        <p:spPr>
          <a:xfrm rot="0">
            <a:off x="8649193" y="2608390"/>
            <a:ext cx="7054915" cy="408024"/>
          </a:xfrm>
          <a:prstGeom prst="rect">
            <a:avLst/>
          </a:prstGeom>
        </p:spPr>
        <p:txBody>
          <a:bodyPr anchor="t" rtlCol="false" tIns="0" lIns="0" bIns="0" rIns="0">
            <a:spAutoFit/>
          </a:bodyPr>
          <a:lstStyle/>
          <a:p>
            <a:pPr algn="ctr">
              <a:lnSpc>
                <a:spcPts val="3235"/>
              </a:lnSpc>
            </a:pPr>
            <a:r>
              <a:rPr lang="en-US" b="true" sz="2311" spc="217">
                <a:solidFill>
                  <a:srgbClr val="8D0000"/>
                </a:solidFill>
                <a:latin typeface="Poppins Bold"/>
                <a:ea typeface="Poppins Bold"/>
                <a:cs typeface="Poppins Bold"/>
                <a:sym typeface="Poppins Bold"/>
              </a:rPr>
              <a:t>Architecture de l’algorithme</a:t>
            </a:r>
          </a:p>
        </p:txBody>
      </p:sp>
      <p:sp>
        <p:nvSpPr>
          <p:cNvPr name="TextBox 15" id="15"/>
          <p:cNvSpPr txBox="true"/>
          <p:nvPr/>
        </p:nvSpPr>
        <p:spPr>
          <a:xfrm rot="0">
            <a:off x="4330403" y="3321330"/>
            <a:ext cx="1543745"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2E2E2E"/>
                </a:solidFill>
                <a:latin typeface="Poppins Bold"/>
                <a:ea typeface="Poppins Bold"/>
                <a:cs typeface="Poppins Bold"/>
                <a:sym typeface="Poppins Bold"/>
              </a:rPr>
              <a:t>K-means</a:t>
            </a:r>
          </a:p>
        </p:txBody>
      </p:sp>
      <p:sp>
        <p:nvSpPr>
          <p:cNvPr name="TextBox 16" id="16"/>
          <p:cNvSpPr txBox="true"/>
          <p:nvPr/>
        </p:nvSpPr>
        <p:spPr>
          <a:xfrm rot="0">
            <a:off x="4891549" y="7055745"/>
            <a:ext cx="682228"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2E2E2E"/>
                </a:solidFill>
                <a:latin typeface="Poppins Bold"/>
                <a:ea typeface="Poppins Bold"/>
                <a:cs typeface="Poppins Bold"/>
                <a:sym typeface="Poppins Bold"/>
              </a:rPr>
              <a:t>SLIC</a:t>
            </a:r>
          </a:p>
        </p:txBody>
      </p:sp>
      <p:sp>
        <p:nvSpPr>
          <p:cNvPr name="TextBox 17" id="17"/>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972191" y="1131232"/>
            <a:ext cx="4836832" cy="0"/>
          </a:xfrm>
          <a:prstGeom prst="line">
            <a:avLst/>
          </a:prstGeom>
          <a:ln cap="flat" w="28575">
            <a:solidFill>
              <a:srgbClr val="000000"/>
            </a:solidFill>
            <a:prstDash val="solid"/>
            <a:headEnd type="none" len="sm" w="sm"/>
            <a:tailEnd type="none" len="sm" w="sm"/>
          </a:ln>
        </p:spPr>
      </p:sp>
      <p:grpSp>
        <p:nvGrpSpPr>
          <p:cNvPr name="Group 3" id="3"/>
          <p:cNvGrpSpPr/>
          <p:nvPr/>
        </p:nvGrpSpPr>
        <p:grpSpPr>
          <a:xfrm rot="-3503507">
            <a:off x="15971842" y="1684952"/>
            <a:ext cx="12583451" cy="7382737"/>
            <a:chOff x="0" y="0"/>
            <a:chExt cx="3314160" cy="1944424"/>
          </a:xfrm>
        </p:grpSpPr>
        <p:sp>
          <p:nvSpPr>
            <p:cNvPr name="Freeform 4" id="4"/>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5" id="5"/>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grpSp>
        <p:nvGrpSpPr>
          <p:cNvPr name="Group 6" id="6"/>
          <p:cNvGrpSpPr/>
          <p:nvPr/>
        </p:nvGrpSpPr>
        <p:grpSpPr>
          <a:xfrm rot="-3503507">
            <a:off x="-10878133" y="751583"/>
            <a:ext cx="12583451" cy="7382737"/>
            <a:chOff x="0" y="0"/>
            <a:chExt cx="3314160" cy="1944424"/>
          </a:xfrm>
        </p:grpSpPr>
        <p:sp>
          <p:nvSpPr>
            <p:cNvPr name="Freeform 7" id="7"/>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8" id="8"/>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grpSp>
        <p:nvGrpSpPr>
          <p:cNvPr name="Group 9" id="9"/>
          <p:cNvGrpSpPr/>
          <p:nvPr/>
        </p:nvGrpSpPr>
        <p:grpSpPr>
          <a:xfrm rot="0">
            <a:off x="7704296" y="2310744"/>
            <a:ext cx="3162472" cy="2556738"/>
            <a:chOff x="0" y="0"/>
            <a:chExt cx="4216629" cy="3408984"/>
          </a:xfrm>
        </p:grpSpPr>
        <p:grpSp>
          <p:nvGrpSpPr>
            <p:cNvPr name="Group 10" id="10"/>
            <p:cNvGrpSpPr/>
            <p:nvPr/>
          </p:nvGrpSpPr>
          <p:grpSpPr>
            <a:xfrm rot="0">
              <a:off x="453420" y="250712"/>
              <a:ext cx="3763209" cy="3158272"/>
              <a:chOff x="0" y="0"/>
              <a:chExt cx="968484" cy="812800"/>
            </a:xfrm>
          </p:grpSpPr>
          <p:sp>
            <p:nvSpPr>
              <p:cNvPr name="Freeform 11" id="11"/>
              <p:cNvSpPr/>
              <p:nvPr/>
            </p:nvSpPr>
            <p:spPr>
              <a:xfrm flipH="false" flipV="false" rot="0">
                <a:off x="0" y="0"/>
                <a:ext cx="968484" cy="812800"/>
              </a:xfrm>
              <a:custGeom>
                <a:avLst/>
                <a:gdLst/>
                <a:ahLst/>
                <a:cxnLst/>
                <a:rect r="r" b="b" t="t" l="l"/>
                <a:pathLst>
                  <a:path h="812800" w="968484">
                    <a:moveTo>
                      <a:pt x="0" y="0"/>
                    </a:moveTo>
                    <a:lnTo>
                      <a:pt x="968484" y="0"/>
                    </a:lnTo>
                    <a:lnTo>
                      <a:pt x="968484" y="812800"/>
                    </a:lnTo>
                    <a:lnTo>
                      <a:pt x="0" y="812800"/>
                    </a:lnTo>
                    <a:close/>
                  </a:path>
                </a:pathLst>
              </a:custGeom>
              <a:solidFill>
                <a:srgbClr val="EAEEEC"/>
              </a:solidFill>
              <a:ln w="38100" cap="sq">
                <a:solidFill>
                  <a:srgbClr val="111111"/>
                </a:solidFill>
                <a:prstDash val="solid"/>
                <a:miter/>
              </a:ln>
            </p:spPr>
          </p:sp>
          <p:sp>
            <p:nvSpPr>
              <p:cNvPr name="TextBox 12" id="12"/>
              <p:cNvSpPr txBox="true"/>
              <p:nvPr/>
            </p:nvSpPr>
            <p:spPr>
              <a:xfrm>
                <a:off x="0" y="-47625"/>
                <a:ext cx="968484" cy="860425"/>
              </a:xfrm>
              <a:prstGeom prst="rect">
                <a:avLst/>
              </a:prstGeom>
            </p:spPr>
            <p:txBody>
              <a:bodyPr anchor="ctr" rtlCol="false" tIns="50800" lIns="50800" bIns="50800" rIns="50800"/>
              <a:lstStyle/>
              <a:p>
                <a:pPr algn="ctr">
                  <a:lnSpc>
                    <a:spcPts val="3254"/>
                  </a:lnSpc>
                </a:pPr>
              </a:p>
            </p:txBody>
          </p:sp>
        </p:grpSp>
        <p:sp>
          <p:nvSpPr>
            <p:cNvPr name="AutoShape 13" id="13"/>
            <p:cNvSpPr/>
            <p:nvPr/>
          </p:nvSpPr>
          <p:spPr>
            <a:xfrm>
              <a:off x="670586" y="515266"/>
              <a:ext cx="580780" cy="0"/>
            </a:xfrm>
            <a:prstGeom prst="line">
              <a:avLst/>
            </a:prstGeom>
            <a:ln cap="flat" w="19496">
              <a:solidFill>
                <a:srgbClr val="000000"/>
              </a:solidFill>
              <a:prstDash val="solid"/>
              <a:headEnd type="oval" len="lg" w="lg"/>
              <a:tailEnd type="oval" len="lg" w="lg"/>
            </a:ln>
          </p:spPr>
        </p:sp>
        <p:sp>
          <p:nvSpPr>
            <p:cNvPr name="AutoShape 14" id="14"/>
            <p:cNvSpPr/>
            <p:nvPr/>
          </p:nvSpPr>
          <p:spPr>
            <a:xfrm>
              <a:off x="670586" y="1018250"/>
              <a:ext cx="580780" cy="0"/>
            </a:xfrm>
            <a:prstGeom prst="line">
              <a:avLst/>
            </a:prstGeom>
            <a:ln cap="flat" w="19496">
              <a:solidFill>
                <a:srgbClr val="000000"/>
              </a:solidFill>
              <a:prstDash val="solid"/>
              <a:headEnd type="oval" len="lg" w="lg"/>
              <a:tailEnd type="oval" len="lg" w="lg"/>
            </a:ln>
          </p:spPr>
        </p:sp>
        <p:sp>
          <p:nvSpPr>
            <p:cNvPr name="AutoShape 15" id="15"/>
            <p:cNvSpPr/>
            <p:nvPr/>
          </p:nvSpPr>
          <p:spPr>
            <a:xfrm>
              <a:off x="1165976" y="515266"/>
              <a:ext cx="580780" cy="0"/>
            </a:xfrm>
            <a:prstGeom prst="line">
              <a:avLst/>
            </a:prstGeom>
            <a:ln cap="flat" w="19496">
              <a:solidFill>
                <a:srgbClr val="000000"/>
              </a:solidFill>
              <a:prstDash val="solid"/>
              <a:headEnd type="oval" len="lg" w="lg"/>
              <a:tailEnd type="oval" len="lg" w="lg"/>
            </a:ln>
          </p:spPr>
        </p:sp>
        <p:sp>
          <p:nvSpPr>
            <p:cNvPr name="AutoShape 16" id="16"/>
            <p:cNvSpPr/>
            <p:nvPr/>
          </p:nvSpPr>
          <p:spPr>
            <a:xfrm>
              <a:off x="1165976" y="1018250"/>
              <a:ext cx="580780" cy="0"/>
            </a:xfrm>
            <a:prstGeom prst="line">
              <a:avLst/>
            </a:prstGeom>
            <a:ln cap="flat" w="19496">
              <a:solidFill>
                <a:srgbClr val="000000"/>
              </a:solidFill>
              <a:prstDash val="solid"/>
              <a:headEnd type="oval" len="lg" w="lg"/>
              <a:tailEnd type="oval" len="lg" w="lg"/>
            </a:ln>
          </p:spPr>
        </p:sp>
        <p:sp>
          <p:nvSpPr>
            <p:cNvPr name="AutoShape 17" id="17"/>
            <p:cNvSpPr/>
            <p:nvPr/>
          </p:nvSpPr>
          <p:spPr>
            <a:xfrm>
              <a:off x="1668409" y="515266"/>
              <a:ext cx="580780" cy="0"/>
            </a:xfrm>
            <a:prstGeom prst="line">
              <a:avLst/>
            </a:prstGeom>
            <a:ln cap="flat" w="19496">
              <a:solidFill>
                <a:srgbClr val="000000"/>
              </a:solidFill>
              <a:prstDash val="solid"/>
              <a:headEnd type="oval" len="lg" w="lg"/>
              <a:tailEnd type="oval" len="lg" w="lg"/>
            </a:ln>
          </p:spPr>
        </p:sp>
        <p:sp>
          <p:nvSpPr>
            <p:cNvPr name="AutoShape 18" id="18"/>
            <p:cNvSpPr/>
            <p:nvPr/>
          </p:nvSpPr>
          <p:spPr>
            <a:xfrm>
              <a:off x="1668409" y="1018250"/>
              <a:ext cx="580780" cy="0"/>
            </a:xfrm>
            <a:prstGeom prst="line">
              <a:avLst/>
            </a:prstGeom>
            <a:ln cap="flat" w="19496">
              <a:solidFill>
                <a:srgbClr val="000000"/>
              </a:solidFill>
              <a:prstDash val="solid"/>
              <a:headEnd type="oval" len="lg" w="lg"/>
              <a:tailEnd type="oval" len="lg" w="lg"/>
            </a:ln>
          </p:spPr>
        </p:sp>
        <p:sp>
          <p:nvSpPr>
            <p:cNvPr name="TextBox 19" id="19"/>
            <p:cNvSpPr txBox="true"/>
            <p:nvPr/>
          </p:nvSpPr>
          <p:spPr>
            <a:xfrm rot="0">
              <a:off x="1315155" y="-38100"/>
              <a:ext cx="134460" cy="308308"/>
            </a:xfrm>
            <a:prstGeom prst="rect">
              <a:avLst/>
            </a:prstGeom>
          </p:spPr>
          <p:txBody>
            <a:bodyPr anchor="t" rtlCol="false" tIns="0" lIns="0" bIns="0" rIns="0">
              <a:spAutoFit/>
            </a:bodyPr>
            <a:lstStyle/>
            <a:p>
              <a:pPr algn="ctr">
                <a:lnSpc>
                  <a:spcPts val="1893"/>
                </a:lnSpc>
                <a:spcBef>
                  <a:spcPct val="0"/>
                </a:spcBef>
              </a:pPr>
              <a:r>
                <a:rPr lang="en-US" sz="1352">
                  <a:solidFill>
                    <a:srgbClr val="8D0000"/>
                  </a:solidFill>
                  <a:latin typeface="Poppins"/>
                  <a:ea typeface="Poppins"/>
                  <a:cs typeface="Poppins"/>
                  <a:sym typeface="Poppins"/>
                </a:rPr>
                <a:t>S</a:t>
              </a:r>
            </a:p>
          </p:txBody>
        </p:sp>
        <p:sp>
          <p:nvSpPr>
            <p:cNvPr name="TextBox 20" id="20"/>
            <p:cNvSpPr txBox="true"/>
            <p:nvPr/>
          </p:nvSpPr>
          <p:spPr>
            <a:xfrm rot="0">
              <a:off x="817972" y="-38100"/>
              <a:ext cx="134460" cy="308308"/>
            </a:xfrm>
            <a:prstGeom prst="rect">
              <a:avLst/>
            </a:prstGeom>
          </p:spPr>
          <p:txBody>
            <a:bodyPr anchor="t" rtlCol="false" tIns="0" lIns="0" bIns="0" rIns="0">
              <a:spAutoFit/>
            </a:bodyPr>
            <a:lstStyle/>
            <a:p>
              <a:pPr algn="ctr">
                <a:lnSpc>
                  <a:spcPts val="1893"/>
                </a:lnSpc>
                <a:spcBef>
                  <a:spcPct val="0"/>
                </a:spcBef>
              </a:pPr>
              <a:r>
                <a:rPr lang="en-US" sz="1352">
                  <a:solidFill>
                    <a:srgbClr val="8D0000"/>
                  </a:solidFill>
                  <a:latin typeface="Poppins"/>
                  <a:ea typeface="Poppins"/>
                  <a:cs typeface="Poppins"/>
                  <a:sym typeface="Poppins"/>
                </a:rPr>
                <a:t>S</a:t>
              </a:r>
            </a:p>
          </p:txBody>
        </p:sp>
        <p:sp>
          <p:nvSpPr>
            <p:cNvPr name="TextBox 21" id="21"/>
            <p:cNvSpPr txBox="true"/>
            <p:nvPr/>
          </p:nvSpPr>
          <p:spPr>
            <a:xfrm rot="0">
              <a:off x="497703" y="-19050"/>
              <a:ext cx="141061" cy="116546"/>
            </a:xfrm>
            <a:prstGeom prst="rect">
              <a:avLst/>
            </a:prstGeom>
          </p:spPr>
          <p:txBody>
            <a:bodyPr anchor="t" rtlCol="false" tIns="0" lIns="0" bIns="0" rIns="0">
              <a:spAutoFit/>
            </a:bodyPr>
            <a:lstStyle/>
            <a:p>
              <a:pPr algn="ctr">
                <a:lnSpc>
                  <a:spcPts val="711"/>
                </a:lnSpc>
                <a:spcBef>
                  <a:spcPct val="0"/>
                </a:spcBef>
              </a:pPr>
              <a:r>
                <a:rPr lang="en-US" b="true" sz="508">
                  <a:solidFill>
                    <a:srgbClr val="8D0000"/>
                  </a:solidFill>
                  <a:latin typeface="Poppins Bold"/>
                  <a:ea typeface="Poppins Bold"/>
                  <a:cs typeface="Poppins Bold"/>
                  <a:sym typeface="Poppins Bold"/>
                </a:rPr>
                <a:t>S/2</a:t>
              </a:r>
            </a:p>
          </p:txBody>
        </p:sp>
        <p:sp>
          <p:nvSpPr>
            <p:cNvPr name="TextBox 22" id="22"/>
            <p:cNvSpPr txBox="true"/>
            <p:nvPr/>
          </p:nvSpPr>
          <p:spPr>
            <a:xfrm rot="0">
              <a:off x="134385" y="289300"/>
              <a:ext cx="141061" cy="116546"/>
            </a:xfrm>
            <a:prstGeom prst="rect">
              <a:avLst/>
            </a:prstGeom>
          </p:spPr>
          <p:txBody>
            <a:bodyPr anchor="t" rtlCol="false" tIns="0" lIns="0" bIns="0" rIns="0">
              <a:spAutoFit/>
            </a:bodyPr>
            <a:lstStyle/>
            <a:p>
              <a:pPr algn="ctr">
                <a:lnSpc>
                  <a:spcPts val="711"/>
                </a:lnSpc>
                <a:spcBef>
                  <a:spcPct val="0"/>
                </a:spcBef>
              </a:pPr>
              <a:r>
                <a:rPr lang="en-US" b="true" sz="508">
                  <a:solidFill>
                    <a:srgbClr val="8D0000"/>
                  </a:solidFill>
                  <a:latin typeface="Poppins Bold"/>
                  <a:ea typeface="Poppins Bold"/>
                  <a:cs typeface="Poppins Bold"/>
                  <a:sym typeface="Poppins Bold"/>
                </a:rPr>
                <a:t>S/2</a:t>
              </a:r>
            </a:p>
          </p:txBody>
        </p:sp>
        <p:sp>
          <p:nvSpPr>
            <p:cNvPr name="TextBox 23" id="23"/>
            <p:cNvSpPr txBox="true"/>
            <p:nvPr/>
          </p:nvSpPr>
          <p:spPr>
            <a:xfrm rot="0">
              <a:off x="0" y="571497"/>
              <a:ext cx="134460" cy="308308"/>
            </a:xfrm>
            <a:prstGeom prst="rect">
              <a:avLst/>
            </a:prstGeom>
          </p:spPr>
          <p:txBody>
            <a:bodyPr anchor="t" rtlCol="false" tIns="0" lIns="0" bIns="0" rIns="0">
              <a:spAutoFit/>
            </a:bodyPr>
            <a:lstStyle/>
            <a:p>
              <a:pPr algn="ctr">
                <a:lnSpc>
                  <a:spcPts val="1893"/>
                </a:lnSpc>
                <a:spcBef>
                  <a:spcPct val="0"/>
                </a:spcBef>
              </a:pPr>
              <a:r>
                <a:rPr lang="en-US" sz="1352">
                  <a:solidFill>
                    <a:srgbClr val="8D0000"/>
                  </a:solidFill>
                  <a:latin typeface="Poppins"/>
                  <a:ea typeface="Poppins"/>
                  <a:cs typeface="Poppins"/>
                  <a:sym typeface="Poppins"/>
                </a:rPr>
                <a:t>S</a:t>
              </a:r>
            </a:p>
          </p:txBody>
        </p:sp>
        <p:sp>
          <p:nvSpPr>
            <p:cNvPr name="TextBox 24" id="24"/>
            <p:cNvSpPr txBox="true"/>
            <p:nvPr/>
          </p:nvSpPr>
          <p:spPr>
            <a:xfrm rot="0">
              <a:off x="1810281" y="-38100"/>
              <a:ext cx="134460" cy="308308"/>
            </a:xfrm>
            <a:prstGeom prst="rect">
              <a:avLst/>
            </a:prstGeom>
          </p:spPr>
          <p:txBody>
            <a:bodyPr anchor="t" rtlCol="false" tIns="0" lIns="0" bIns="0" rIns="0">
              <a:spAutoFit/>
            </a:bodyPr>
            <a:lstStyle/>
            <a:p>
              <a:pPr algn="ctr">
                <a:lnSpc>
                  <a:spcPts val="1893"/>
                </a:lnSpc>
                <a:spcBef>
                  <a:spcPct val="0"/>
                </a:spcBef>
              </a:pPr>
              <a:r>
                <a:rPr lang="en-US" sz="1352">
                  <a:solidFill>
                    <a:srgbClr val="8D0000"/>
                  </a:solidFill>
                  <a:latin typeface="Poppins"/>
                  <a:ea typeface="Poppins"/>
                  <a:cs typeface="Poppins"/>
                  <a:sym typeface="Poppins"/>
                </a:rPr>
                <a:t>S</a:t>
              </a:r>
            </a:p>
          </p:txBody>
        </p:sp>
        <p:sp>
          <p:nvSpPr>
            <p:cNvPr name="AutoShape 25" id="25"/>
            <p:cNvSpPr/>
            <p:nvPr/>
          </p:nvSpPr>
          <p:spPr>
            <a:xfrm>
              <a:off x="2258937" y="515266"/>
              <a:ext cx="1358583" cy="0"/>
            </a:xfrm>
            <a:prstGeom prst="line">
              <a:avLst/>
            </a:prstGeom>
            <a:ln cap="flat" w="38991">
              <a:solidFill>
                <a:srgbClr val="000000"/>
              </a:solidFill>
              <a:prstDash val="sysDot"/>
              <a:headEnd type="none" len="sm" w="sm"/>
              <a:tailEnd type="none" len="sm" w="sm"/>
            </a:ln>
          </p:spPr>
        </p:sp>
        <p:sp>
          <p:nvSpPr>
            <p:cNvPr name="AutoShape 26" id="26"/>
            <p:cNvSpPr/>
            <p:nvPr/>
          </p:nvSpPr>
          <p:spPr>
            <a:xfrm>
              <a:off x="709577" y="985171"/>
              <a:ext cx="0" cy="1115835"/>
            </a:xfrm>
            <a:prstGeom prst="line">
              <a:avLst/>
            </a:prstGeom>
            <a:ln cap="flat" w="38991">
              <a:solidFill>
                <a:srgbClr val="000000"/>
              </a:solidFill>
              <a:prstDash val="sysDot"/>
              <a:headEnd type="none" len="sm" w="sm"/>
              <a:tailEnd type="none" len="sm" w="sm"/>
            </a:ln>
          </p:spPr>
        </p:sp>
        <p:sp>
          <p:nvSpPr>
            <p:cNvPr name="AutoShape 27" id="27"/>
            <p:cNvSpPr/>
            <p:nvPr/>
          </p:nvSpPr>
          <p:spPr>
            <a:xfrm>
              <a:off x="295298" y="553761"/>
              <a:ext cx="0" cy="421663"/>
            </a:xfrm>
            <a:prstGeom prst="line">
              <a:avLst/>
            </a:prstGeom>
            <a:ln cap="flat" w="29243">
              <a:solidFill>
                <a:srgbClr val="000000"/>
              </a:solidFill>
              <a:prstDash val="solid"/>
              <a:headEnd type="arrow" len="sm" w="med"/>
              <a:tailEnd type="arrow" len="sm" w="med"/>
            </a:ln>
          </p:spPr>
        </p:sp>
        <p:sp>
          <p:nvSpPr>
            <p:cNvPr name="AutoShape 28" id="28"/>
            <p:cNvSpPr/>
            <p:nvPr/>
          </p:nvSpPr>
          <p:spPr>
            <a:xfrm>
              <a:off x="453420" y="130230"/>
              <a:ext cx="256157" cy="0"/>
            </a:xfrm>
            <a:prstGeom prst="line">
              <a:avLst/>
            </a:prstGeom>
            <a:ln cap="flat" w="9748">
              <a:solidFill>
                <a:srgbClr val="000000"/>
              </a:solidFill>
              <a:prstDash val="solid"/>
              <a:headEnd type="none" len="sm" w="sm"/>
              <a:tailEnd type="none" len="sm" w="sm"/>
            </a:ln>
          </p:spPr>
        </p:sp>
        <p:sp>
          <p:nvSpPr>
            <p:cNvPr name="AutoShape 29" id="29"/>
            <p:cNvSpPr/>
            <p:nvPr/>
          </p:nvSpPr>
          <p:spPr>
            <a:xfrm>
              <a:off x="295298" y="250712"/>
              <a:ext cx="0" cy="256157"/>
            </a:xfrm>
            <a:prstGeom prst="line">
              <a:avLst/>
            </a:prstGeom>
            <a:ln cap="flat" w="9748">
              <a:solidFill>
                <a:srgbClr val="000000"/>
              </a:solidFill>
              <a:prstDash val="solid"/>
              <a:headEnd type="none" len="sm" w="sm"/>
              <a:tailEnd type="none" len="sm" w="sm"/>
            </a:ln>
          </p:spPr>
        </p:sp>
      </p:grpSp>
      <p:grpSp>
        <p:nvGrpSpPr>
          <p:cNvPr name="Group 30" id="30"/>
          <p:cNvGrpSpPr/>
          <p:nvPr/>
        </p:nvGrpSpPr>
        <p:grpSpPr>
          <a:xfrm rot="0">
            <a:off x="12638491" y="2454247"/>
            <a:ext cx="3007620" cy="2496678"/>
            <a:chOff x="0" y="0"/>
            <a:chExt cx="709638" cy="589083"/>
          </a:xfrm>
        </p:grpSpPr>
        <p:sp>
          <p:nvSpPr>
            <p:cNvPr name="Freeform 31" id="31"/>
            <p:cNvSpPr/>
            <p:nvPr/>
          </p:nvSpPr>
          <p:spPr>
            <a:xfrm flipH="false" flipV="false" rot="0">
              <a:off x="0" y="0"/>
              <a:ext cx="709638" cy="589083"/>
            </a:xfrm>
            <a:custGeom>
              <a:avLst/>
              <a:gdLst/>
              <a:ahLst/>
              <a:cxnLst/>
              <a:rect r="r" b="b" t="t" l="l"/>
              <a:pathLst>
                <a:path h="589083" w="709638">
                  <a:moveTo>
                    <a:pt x="0" y="0"/>
                  </a:moveTo>
                  <a:lnTo>
                    <a:pt x="709638" y="0"/>
                  </a:lnTo>
                  <a:lnTo>
                    <a:pt x="709638" y="589083"/>
                  </a:lnTo>
                  <a:lnTo>
                    <a:pt x="0" y="589083"/>
                  </a:lnTo>
                  <a:close/>
                </a:path>
              </a:pathLst>
            </a:custGeom>
            <a:solidFill>
              <a:srgbClr val="EAEEEC"/>
            </a:solidFill>
            <a:ln w="38100" cap="sq">
              <a:solidFill>
                <a:srgbClr val="111111"/>
              </a:solidFill>
              <a:prstDash val="solid"/>
              <a:miter/>
            </a:ln>
          </p:spPr>
        </p:sp>
        <p:sp>
          <p:nvSpPr>
            <p:cNvPr name="TextBox 32" id="32"/>
            <p:cNvSpPr txBox="true"/>
            <p:nvPr/>
          </p:nvSpPr>
          <p:spPr>
            <a:xfrm>
              <a:off x="0" y="-47625"/>
              <a:ext cx="709638" cy="636708"/>
            </a:xfrm>
            <a:prstGeom prst="rect">
              <a:avLst/>
            </a:prstGeom>
          </p:spPr>
          <p:txBody>
            <a:bodyPr anchor="ctr" rtlCol="false" tIns="38991" lIns="38991" bIns="38991" rIns="38991"/>
            <a:lstStyle/>
            <a:p>
              <a:pPr algn="ctr">
                <a:lnSpc>
                  <a:spcPts val="3254"/>
                </a:lnSpc>
              </a:pPr>
            </a:p>
          </p:txBody>
        </p:sp>
      </p:grpSp>
      <p:grpSp>
        <p:nvGrpSpPr>
          <p:cNvPr name="Group 33" id="33"/>
          <p:cNvGrpSpPr/>
          <p:nvPr/>
        </p:nvGrpSpPr>
        <p:grpSpPr>
          <a:xfrm rot="0">
            <a:off x="12970936" y="2740133"/>
            <a:ext cx="1043327" cy="1004184"/>
            <a:chOff x="0" y="0"/>
            <a:chExt cx="246169" cy="236934"/>
          </a:xfrm>
        </p:grpSpPr>
        <p:sp>
          <p:nvSpPr>
            <p:cNvPr name="Freeform 34" id="34"/>
            <p:cNvSpPr/>
            <p:nvPr/>
          </p:nvSpPr>
          <p:spPr>
            <a:xfrm flipH="false" flipV="false" rot="0">
              <a:off x="0" y="0"/>
              <a:ext cx="246169" cy="236934"/>
            </a:xfrm>
            <a:custGeom>
              <a:avLst/>
              <a:gdLst/>
              <a:ahLst/>
              <a:cxnLst/>
              <a:rect r="r" b="b" t="t" l="l"/>
              <a:pathLst>
                <a:path h="236934" w="246169">
                  <a:moveTo>
                    <a:pt x="0" y="0"/>
                  </a:moveTo>
                  <a:lnTo>
                    <a:pt x="246169" y="0"/>
                  </a:lnTo>
                  <a:lnTo>
                    <a:pt x="246169" y="236934"/>
                  </a:lnTo>
                  <a:lnTo>
                    <a:pt x="0" y="236934"/>
                  </a:lnTo>
                  <a:close/>
                </a:path>
              </a:pathLst>
            </a:custGeom>
            <a:solidFill>
              <a:srgbClr val="8D2B2B"/>
            </a:solidFill>
            <a:ln cap="sq">
              <a:noFill/>
              <a:prstDash val="solid"/>
              <a:miter/>
            </a:ln>
          </p:spPr>
        </p:sp>
        <p:sp>
          <p:nvSpPr>
            <p:cNvPr name="TextBox 35" id="35"/>
            <p:cNvSpPr txBox="true"/>
            <p:nvPr/>
          </p:nvSpPr>
          <p:spPr>
            <a:xfrm>
              <a:off x="0" y="-47625"/>
              <a:ext cx="246169" cy="284559"/>
            </a:xfrm>
            <a:prstGeom prst="rect">
              <a:avLst/>
            </a:prstGeom>
          </p:spPr>
          <p:txBody>
            <a:bodyPr anchor="ctr" rtlCol="false" tIns="38991" lIns="38991" bIns="38991" rIns="38991"/>
            <a:lstStyle/>
            <a:p>
              <a:pPr algn="ctr">
                <a:lnSpc>
                  <a:spcPts val="3254"/>
                </a:lnSpc>
              </a:pPr>
            </a:p>
          </p:txBody>
        </p:sp>
      </p:grpSp>
      <p:grpSp>
        <p:nvGrpSpPr>
          <p:cNvPr name="Group 36" id="36"/>
          <p:cNvGrpSpPr/>
          <p:nvPr/>
        </p:nvGrpSpPr>
        <p:grpSpPr>
          <a:xfrm rot="0">
            <a:off x="13762609" y="3114029"/>
            <a:ext cx="515367" cy="442490"/>
            <a:chOff x="0" y="0"/>
            <a:chExt cx="93332" cy="80134"/>
          </a:xfrm>
        </p:grpSpPr>
        <p:sp>
          <p:nvSpPr>
            <p:cNvPr name="Freeform 37" id="37"/>
            <p:cNvSpPr/>
            <p:nvPr/>
          </p:nvSpPr>
          <p:spPr>
            <a:xfrm flipH="false" flipV="false" rot="0">
              <a:off x="0" y="0"/>
              <a:ext cx="93332" cy="80134"/>
            </a:xfrm>
            <a:custGeom>
              <a:avLst/>
              <a:gdLst/>
              <a:ahLst/>
              <a:cxnLst/>
              <a:rect r="r" b="b" t="t" l="l"/>
              <a:pathLst>
                <a:path h="80134" w="93332">
                  <a:moveTo>
                    <a:pt x="0" y="0"/>
                  </a:moveTo>
                  <a:lnTo>
                    <a:pt x="93332" y="0"/>
                  </a:lnTo>
                  <a:lnTo>
                    <a:pt x="93332" y="80134"/>
                  </a:lnTo>
                  <a:lnTo>
                    <a:pt x="0" y="80134"/>
                  </a:lnTo>
                  <a:close/>
                </a:path>
              </a:pathLst>
            </a:custGeom>
            <a:ln w="19050" cap="sq">
              <a:solidFill>
                <a:srgbClr val="000000"/>
              </a:solidFill>
              <a:prstDash val="solid"/>
              <a:miter/>
            </a:ln>
          </p:spPr>
        </p:sp>
        <p:sp>
          <p:nvSpPr>
            <p:cNvPr name="TextBox 38" id="38"/>
            <p:cNvSpPr txBox="true"/>
            <p:nvPr/>
          </p:nvSpPr>
          <p:spPr>
            <a:xfrm>
              <a:off x="0" y="-333375"/>
              <a:ext cx="93332" cy="413509"/>
            </a:xfrm>
            <a:prstGeom prst="rect">
              <a:avLst/>
            </a:prstGeom>
          </p:spPr>
          <p:txBody>
            <a:bodyPr anchor="ctr" rtlCol="false" tIns="50800" lIns="50800" bIns="50800" rIns="50800"/>
            <a:lstStyle/>
            <a:p>
              <a:pPr algn="ctr">
                <a:lnSpc>
                  <a:spcPts val="6249"/>
                </a:lnSpc>
              </a:pPr>
            </a:p>
          </p:txBody>
        </p:sp>
      </p:grpSp>
      <p:grpSp>
        <p:nvGrpSpPr>
          <p:cNvPr name="Group 39" id="39"/>
          <p:cNvGrpSpPr/>
          <p:nvPr/>
        </p:nvGrpSpPr>
        <p:grpSpPr>
          <a:xfrm rot="0">
            <a:off x="13942091" y="3248133"/>
            <a:ext cx="128698" cy="128698"/>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C0DF"/>
            </a:solidFill>
          </p:spPr>
        </p:sp>
        <p:sp>
          <p:nvSpPr>
            <p:cNvPr name="TextBox 41" id="41"/>
            <p:cNvSpPr txBox="true"/>
            <p:nvPr/>
          </p:nvSpPr>
          <p:spPr>
            <a:xfrm>
              <a:off x="76200" y="-257175"/>
              <a:ext cx="660400" cy="993775"/>
            </a:xfrm>
            <a:prstGeom prst="rect">
              <a:avLst/>
            </a:prstGeom>
          </p:spPr>
          <p:txBody>
            <a:bodyPr anchor="ctr" rtlCol="false" tIns="50800" lIns="50800" bIns="50800" rIns="50800"/>
            <a:lstStyle/>
            <a:p>
              <a:pPr algn="ctr">
                <a:lnSpc>
                  <a:spcPts val="6249"/>
                </a:lnSpc>
              </a:pPr>
            </a:p>
          </p:txBody>
        </p:sp>
      </p:grpSp>
      <p:grpSp>
        <p:nvGrpSpPr>
          <p:cNvPr name="Group 42" id="42"/>
          <p:cNvGrpSpPr/>
          <p:nvPr/>
        </p:nvGrpSpPr>
        <p:grpSpPr>
          <a:xfrm rot="0">
            <a:off x="14099365" y="3376830"/>
            <a:ext cx="128698" cy="128698"/>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751F"/>
            </a:solidFill>
          </p:spPr>
        </p:sp>
        <p:sp>
          <p:nvSpPr>
            <p:cNvPr name="TextBox 44" id="44"/>
            <p:cNvSpPr txBox="true"/>
            <p:nvPr/>
          </p:nvSpPr>
          <p:spPr>
            <a:xfrm>
              <a:off x="76200" y="-257175"/>
              <a:ext cx="660400" cy="993775"/>
            </a:xfrm>
            <a:prstGeom prst="rect">
              <a:avLst/>
            </a:prstGeom>
          </p:spPr>
          <p:txBody>
            <a:bodyPr anchor="ctr" rtlCol="false" tIns="50800" lIns="50800" bIns="50800" rIns="50800"/>
            <a:lstStyle/>
            <a:p>
              <a:pPr algn="ctr">
                <a:lnSpc>
                  <a:spcPts val="6249"/>
                </a:lnSpc>
              </a:pPr>
            </a:p>
          </p:txBody>
        </p:sp>
      </p:grpSp>
      <p:sp>
        <p:nvSpPr>
          <p:cNvPr name="AutoShape 45" id="45"/>
          <p:cNvSpPr/>
          <p:nvPr/>
        </p:nvSpPr>
        <p:spPr>
          <a:xfrm>
            <a:off x="13734174" y="2997669"/>
            <a:ext cx="543801" cy="0"/>
          </a:xfrm>
          <a:prstGeom prst="line">
            <a:avLst/>
          </a:prstGeom>
          <a:ln cap="flat" w="9525">
            <a:solidFill>
              <a:srgbClr val="000000"/>
            </a:solidFill>
            <a:prstDash val="solid"/>
            <a:headEnd type="arrow" len="sm" w="med"/>
            <a:tailEnd type="arrow" len="sm" w="med"/>
          </a:ln>
        </p:spPr>
      </p:sp>
      <p:sp>
        <p:nvSpPr>
          <p:cNvPr name="AutoShape 46" id="46"/>
          <p:cNvSpPr/>
          <p:nvPr/>
        </p:nvSpPr>
        <p:spPr>
          <a:xfrm>
            <a:off x="14421646" y="3012717"/>
            <a:ext cx="0" cy="543801"/>
          </a:xfrm>
          <a:prstGeom prst="line">
            <a:avLst/>
          </a:prstGeom>
          <a:ln cap="flat" w="9525">
            <a:solidFill>
              <a:srgbClr val="000000"/>
            </a:solidFill>
            <a:prstDash val="solid"/>
            <a:headEnd type="arrow" len="sm" w="med"/>
            <a:tailEnd type="arrow" len="sm" w="med"/>
          </a:ln>
        </p:spPr>
      </p:sp>
      <p:sp>
        <p:nvSpPr>
          <p:cNvPr name="Freeform 47" id="47"/>
          <p:cNvSpPr/>
          <p:nvPr/>
        </p:nvSpPr>
        <p:spPr>
          <a:xfrm flipH="false" flipV="false" rot="0">
            <a:off x="11944257" y="7075100"/>
            <a:ext cx="2232701" cy="2213165"/>
          </a:xfrm>
          <a:custGeom>
            <a:avLst/>
            <a:gdLst/>
            <a:ahLst/>
            <a:cxnLst/>
            <a:rect r="r" b="b" t="t" l="l"/>
            <a:pathLst>
              <a:path h="2213165" w="2232701">
                <a:moveTo>
                  <a:pt x="0" y="0"/>
                </a:moveTo>
                <a:lnTo>
                  <a:pt x="2232701" y="0"/>
                </a:lnTo>
                <a:lnTo>
                  <a:pt x="2232701" y="2213164"/>
                </a:lnTo>
                <a:lnTo>
                  <a:pt x="0" y="2213164"/>
                </a:lnTo>
                <a:lnTo>
                  <a:pt x="0" y="0"/>
                </a:lnTo>
                <a:close/>
              </a:path>
            </a:pathLst>
          </a:custGeom>
          <a:blipFill>
            <a:blip r:embed="rId2"/>
            <a:stretch>
              <a:fillRect l="0" t="0" r="0" b="0"/>
            </a:stretch>
          </a:blipFill>
        </p:spPr>
      </p:sp>
      <p:sp>
        <p:nvSpPr>
          <p:cNvPr name="Freeform 48" id="48"/>
          <p:cNvSpPr/>
          <p:nvPr/>
        </p:nvSpPr>
        <p:spPr>
          <a:xfrm flipH="false" flipV="false" rot="0">
            <a:off x="14510333" y="7075100"/>
            <a:ext cx="3052641" cy="2213165"/>
          </a:xfrm>
          <a:custGeom>
            <a:avLst/>
            <a:gdLst/>
            <a:ahLst/>
            <a:cxnLst/>
            <a:rect r="r" b="b" t="t" l="l"/>
            <a:pathLst>
              <a:path h="2213165" w="3052641">
                <a:moveTo>
                  <a:pt x="0" y="0"/>
                </a:moveTo>
                <a:lnTo>
                  <a:pt x="3052641" y="0"/>
                </a:lnTo>
                <a:lnTo>
                  <a:pt x="3052641" y="2213164"/>
                </a:lnTo>
                <a:lnTo>
                  <a:pt x="0" y="2213164"/>
                </a:lnTo>
                <a:lnTo>
                  <a:pt x="0" y="0"/>
                </a:lnTo>
                <a:close/>
              </a:path>
            </a:pathLst>
          </a:custGeom>
          <a:blipFill>
            <a:blip r:embed="rId3"/>
            <a:stretch>
              <a:fillRect l="0" t="0" r="0" b="0"/>
            </a:stretch>
          </a:blipFill>
        </p:spPr>
      </p:sp>
      <p:sp>
        <p:nvSpPr>
          <p:cNvPr name="Freeform 49" id="49"/>
          <p:cNvSpPr/>
          <p:nvPr/>
        </p:nvSpPr>
        <p:spPr>
          <a:xfrm flipH="false" flipV="false" rot="0">
            <a:off x="14886524" y="8772084"/>
            <a:ext cx="1684387" cy="406576"/>
          </a:xfrm>
          <a:custGeom>
            <a:avLst/>
            <a:gdLst/>
            <a:ahLst/>
            <a:cxnLst/>
            <a:rect r="r" b="b" t="t" l="l"/>
            <a:pathLst>
              <a:path h="406576" w="1684387">
                <a:moveTo>
                  <a:pt x="0" y="0"/>
                </a:moveTo>
                <a:lnTo>
                  <a:pt x="1684387" y="0"/>
                </a:lnTo>
                <a:lnTo>
                  <a:pt x="1684387" y="406576"/>
                </a:lnTo>
                <a:lnTo>
                  <a:pt x="0" y="406576"/>
                </a:lnTo>
                <a:lnTo>
                  <a:pt x="0" y="0"/>
                </a:lnTo>
                <a:close/>
              </a:path>
            </a:pathLst>
          </a:custGeom>
          <a:blipFill>
            <a:blip r:embed="rId4"/>
            <a:stretch>
              <a:fillRect l="0" t="0" r="0" b="0"/>
            </a:stretch>
          </a:blipFill>
        </p:spPr>
      </p:sp>
      <p:sp>
        <p:nvSpPr>
          <p:cNvPr name="Freeform 50" id="50"/>
          <p:cNvSpPr/>
          <p:nvPr/>
        </p:nvSpPr>
        <p:spPr>
          <a:xfrm flipH="false" flipV="false" rot="0">
            <a:off x="5419551" y="7147429"/>
            <a:ext cx="2824954" cy="2454179"/>
          </a:xfrm>
          <a:custGeom>
            <a:avLst/>
            <a:gdLst/>
            <a:ahLst/>
            <a:cxnLst/>
            <a:rect r="r" b="b" t="t" l="l"/>
            <a:pathLst>
              <a:path h="2454179" w="2824954">
                <a:moveTo>
                  <a:pt x="0" y="0"/>
                </a:moveTo>
                <a:lnTo>
                  <a:pt x="2824954" y="0"/>
                </a:lnTo>
                <a:lnTo>
                  <a:pt x="2824954" y="2454179"/>
                </a:lnTo>
                <a:lnTo>
                  <a:pt x="0" y="2454179"/>
                </a:lnTo>
                <a:lnTo>
                  <a:pt x="0" y="0"/>
                </a:lnTo>
                <a:close/>
              </a:path>
            </a:pathLst>
          </a:custGeom>
          <a:blipFill>
            <a:blip r:embed="rId5"/>
            <a:stretch>
              <a:fillRect l="0" t="0" r="0" b="0"/>
            </a:stretch>
          </a:blipFill>
        </p:spPr>
      </p:sp>
      <p:sp>
        <p:nvSpPr>
          <p:cNvPr name="AutoShape 51" id="51"/>
          <p:cNvSpPr/>
          <p:nvPr/>
        </p:nvSpPr>
        <p:spPr>
          <a:xfrm>
            <a:off x="5707778" y="7881816"/>
            <a:ext cx="0" cy="836876"/>
          </a:xfrm>
          <a:prstGeom prst="line">
            <a:avLst/>
          </a:prstGeom>
          <a:ln cap="flat" w="28575">
            <a:solidFill>
              <a:srgbClr val="000000"/>
            </a:solidFill>
            <a:prstDash val="sysDot"/>
            <a:headEnd type="none" len="sm" w="sm"/>
            <a:tailEnd type="none" len="sm" w="sm"/>
          </a:ln>
        </p:spPr>
      </p:sp>
      <p:sp>
        <p:nvSpPr>
          <p:cNvPr name="AutoShape 52" id="52"/>
          <p:cNvSpPr/>
          <p:nvPr/>
        </p:nvSpPr>
        <p:spPr>
          <a:xfrm>
            <a:off x="7014955" y="7527931"/>
            <a:ext cx="1018938" cy="0"/>
          </a:xfrm>
          <a:prstGeom prst="line">
            <a:avLst/>
          </a:prstGeom>
          <a:ln cap="flat" w="28575">
            <a:solidFill>
              <a:srgbClr val="000000"/>
            </a:solidFill>
            <a:prstDash val="sysDot"/>
            <a:headEnd type="none" len="sm" w="sm"/>
            <a:tailEnd type="none" len="sm" w="sm"/>
          </a:ln>
        </p:spPr>
      </p:sp>
      <p:sp>
        <p:nvSpPr>
          <p:cNvPr name="AutoShape 53" id="53"/>
          <p:cNvSpPr/>
          <p:nvPr/>
        </p:nvSpPr>
        <p:spPr>
          <a:xfrm>
            <a:off x="2830880" y="3257804"/>
            <a:ext cx="594309" cy="16342"/>
          </a:xfrm>
          <a:prstGeom prst="line">
            <a:avLst/>
          </a:prstGeom>
          <a:ln cap="flat" w="28575">
            <a:solidFill>
              <a:srgbClr val="000000"/>
            </a:solidFill>
            <a:prstDash val="solid"/>
            <a:headEnd type="none" len="sm" w="sm"/>
            <a:tailEnd type="triangle" len="med" w="lg"/>
          </a:ln>
        </p:spPr>
      </p:sp>
      <p:grpSp>
        <p:nvGrpSpPr>
          <p:cNvPr name="Group 54" id="54"/>
          <p:cNvGrpSpPr/>
          <p:nvPr/>
        </p:nvGrpSpPr>
        <p:grpSpPr>
          <a:xfrm rot="0">
            <a:off x="462259" y="7152682"/>
            <a:ext cx="3007620" cy="2496678"/>
            <a:chOff x="0" y="0"/>
            <a:chExt cx="4010159" cy="3328904"/>
          </a:xfrm>
        </p:grpSpPr>
        <p:grpSp>
          <p:nvGrpSpPr>
            <p:cNvPr name="Group 55" id="55"/>
            <p:cNvGrpSpPr/>
            <p:nvPr/>
          </p:nvGrpSpPr>
          <p:grpSpPr>
            <a:xfrm rot="0">
              <a:off x="0" y="0"/>
              <a:ext cx="4010159" cy="3328904"/>
              <a:chOff x="0" y="0"/>
              <a:chExt cx="709638" cy="589083"/>
            </a:xfrm>
          </p:grpSpPr>
          <p:sp>
            <p:nvSpPr>
              <p:cNvPr name="Freeform 56" id="56"/>
              <p:cNvSpPr/>
              <p:nvPr/>
            </p:nvSpPr>
            <p:spPr>
              <a:xfrm flipH="false" flipV="false" rot="0">
                <a:off x="0" y="0"/>
                <a:ext cx="709638" cy="589083"/>
              </a:xfrm>
              <a:custGeom>
                <a:avLst/>
                <a:gdLst/>
                <a:ahLst/>
                <a:cxnLst/>
                <a:rect r="r" b="b" t="t" l="l"/>
                <a:pathLst>
                  <a:path h="589083" w="709638">
                    <a:moveTo>
                      <a:pt x="0" y="0"/>
                    </a:moveTo>
                    <a:lnTo>
                      <a:pt x="709638" y="0"/>
                    </a:lnTo>
                    <a:lnTo>
                      <a:pt x="709638" y="589083"/>
                    </a:lnTo>
                    <a:lnTo>
                      <a:pt x="0" y="589083"/>
                    </a:lnTo>
                    <a:close/>
                  </a:path>
                </a:pathLst>
              </a:custGeom>
              <a:solidFill>
                <a:srgbClr val="EAEEEC"/>
              </a:solidFill>
              <a:ln w="38100" cap="sq">
                <a:solidFill>
                  <a:srgbClr val="111111"/>
                </a:solidFill>
                <a:prstDash val="solid"/>
                <a:miter/>
              </a:ln>
            </p:spPr>
          </p:sp>
          <p:sp>
            <p:nvSpPr>
              <p:cNvPr name="TextBox 57" id="57"/>
              <p:cNvSpPr txBox="true"/>
              <p:nvPr/>
            </p:nvSpPr>
            <p:spPr>
              <a:xfrm>
                <a:off x="0" y="-47625"/>
                <a:ext cx="709638" cy="636708"/>
              </a:xfrm>
              <a:prstGeom prst="rect">
                <a:avLst/>
              </a:prstGeom>
            </p:spPr>
            <p:txBody>
              <a:bodyPr anchor="ctr" rtlCol="false" tIns="38991" lIns="38991" bIns="38991" rIns="38991"/>
              <a:lstStyle/>
              <a:p>
                <a:pPr algn="ctr">
                  <a:lnSpc>
                    <a:spcPts val="3254"/>
                  </a:lnSpc>
                </a:pPr>
              </a:p>
            </p:txBody>
          </p:sp>
        </p:grpSp>
        <p:grpSp>
          <p:nvGrpSpPr>
            <p:cNvPr name="Group 58" id="58"/>
            <p:cNvGrpSpPr/>
            <p:nvPr/>
          </p:nvGrpSpPr>
          <p:grpSpPr>
            <a:xfrm rot="0">
              <a:off x="529325" y="901321"/>
              <a:ext cx="772378" cy="763131"/>
              <a:chOff x="0" y="0"/>
              <a:chExt cx="136680" cy="135044"/>
            </a:xfrm>
          </p:grpSpPr>
          <p:sp>
            <p:nvSpPr>
              <p:cNvPr name="Freeform 59" id="59"/>
              <p:cNvSpPr/>
              <p:nvPr/>
            </p:nvSpPr>
            <p:spPr>
              <a:xfrm flipH="false" flipV="false" rot="0">
                <a:off x="0" y="0"/>
                <a:ext cx="136680" cy="135044"/>
              </a:xfrm>
              <a:custGeom>
                <a:avLst/>
                <a:gdLst/>
                <a:ahLst/>
                <a:cxnLst/>
                <a:rect r="r" b="b" t="t" l="l"/>
                <a:pathLst>
                  <a:path h="135044" w="136680">
                    <a:moveTo>
                      <a:pt x="0" y="0"/>
                    </a:moveTo>
                    <a:lnTo>
                      <a:pt x="136680" y="0"/>
                    </a:lnTo>
                    <a:lnTo>
                      <a:pt x="136680" y="135044"/>
                    </a:lnTo>
                    <a:lnTo>
                      <a:pt x="0" y="135044"/>
                    </a:lnTo>
                    <a:close/>
                  </a:path>
                </a:pathLst>
              </a:custGeom>
              <a:solidFill>
                <a:srgbClr val="8D2B2B"/>
              </a:solidFill>
              <a:ln cap="sq">
                <a:noFill/>
                <a:prstDash val="solid"/>
                <a:miter/>
              </a:ln>
            </p:spPr>
          </p:sp>
          <p:sp>
            <p:nvSpPr>
              <p:cNvPr name="TextBox 60" id="60"/>
              <p:cNvSpPr txBox="true"/>
              <p:nvPr/>
            </p:nvSpPr>
            <p:spPr>
              <a:xfrm>
                <a:off x="0" y="-47625"/>
                <a:ext cx="136680" cy="182669"/>
              </a:xfrm>
              <a:prstGeom prst="rect">
                <a:avLst/>
              </a:prstGeom>
            </p:spPr>
            <p:txBody>
              <a:bodyPr anchor="ctr" rtlCol="false" tIns="38991" lIns="38991" bIns="38991" rIns="38991"/>
              <a:lstStyle/>
              <a:p>
                <a:pPr algn="ctr">
                  <a:lnSpc>
                    <a:spcPts val="3254"/>
                  </a:lnSpc>
                </a:pPr>
              </a:p>
            </p:txBody>
          </p:sp>
        </p:grpSp>
        <p:grpSp>
          <p:nvGrpSpPr>
            <p:cNvPr name="Group 61" id="61"/>
            <p:cNvGrpSpPr/>
            <p:nvPr/>
          </p:nvGrpSpPr>
          <p:grpSpPr>
            <a:xfrm rot="0">
              <a:off x="2612754" y="802970"/>
              <a:ext cx="772378" cy="763131"/>
              <a:chOff x="0" y="0"/>
              <a:chExt cx="136680" cy="135044"/>
            </a:xfrm>
          </p:grpSpPr>
          <p:sp>
            <p:nvSpPr>
              <p:cNvPr name="Freeform 62" id="62"/>
              <p:cNvSpPr/>
              <p:nvPr/>
            </p:nvSpPr>
            <p:spPr>
              <a:xfrm flipH="false" flipV="false" rot="0">
                <a:off x="0" y="0"/>
                <a:ext cx="136680" cy="135044"/>
              </a:xfrm>
              <a:custGeom>
                <a:avLst/>
                <a:gdLst/>
                <a:ahLst/>
                <a:cxnLst/>
                <a:rect r="r" b="b" t="t" l="l"/>
                <a:pathLst>
                  <a:path h="135044" w="136680">
                    <a:moveTo>
                      <a:pt x="0" y="0"/>
                    </a:moveTo>
                    <a:lnTo>
                      <a:pt x="136680" y="0"/>
                    </a:lnTo>
                    <a:lnTo>
                      <a:pt x="136680" y="135044"/>
                    </a:lnTo>
                    <a:lnTo>
                      <a:pt x="0" y="135044"/>
                    </a:lnTo>
                    <a:close/>
                  </a:path>
                </a:pathLst>
              </a:custGeom>
              <a:solidFill>
                <a:srgbClr val="8D2B2B"/>
              </a:solidFill>
              <a:ln cap="sq">
                <a:noFill/>
                <a:prstDash val="solid"/>
                <a:miter/>
              </a:ln>
            </p:spPr>
          </p:sp>
          <p:sp>
            <p:nvSpPr>
              <p:cNvPr name="TextBox 63" id="63"/>
              <p:cNvSpPr txBox="true"/>
              <p:nvPr/>
            </p:nvSpPr>
            <p:spPr>
              <a:xfrm>
                <a:off x="0" y="-47625"/>
                <a:ext cx="136680" cy="182669"/>
              </a:xfrm>
              <a:prstGeom prst="rect">
                <a:avLst/>
              </a:prstGeom>
            </p:spPr>
            <p:txBody>
              <a:bodyPr anchor="ctr" rtlCol="false" tIns="38991" lIns="38991" bIns="38991" rIns="38991"/>
              <a:lstStyle/>
              <a:p>
                <a:pPr algn="ctr">
                  <a:lnSpc>
                    <a:spcPts val="3254"/>
                  </a:lnSpc>
                </a:pPr>
              </a:p>
            </p:txBody>
          </p:sp>
        </p:grpSp>
        <p:grpSp>
          <p:nvGrpSpPr>
            <p:cNvPr name="Group 64" id="64"/>
            <p:cNvGrpSpPr/>
            <p:nvPr/>
          </p:nvGrpSpPr>
          <p:grpSpPr>
            <a:xfrm rot="0">
              <a:off x="614547" y="311334"/>
              <a:ext cx="687156" cy="589986"/>
              <a:chOff x="0" y="0"/>
              <a:chExt cx="93332" cy="80134"/>
            </a:xfrm>
          </p:grpSpPr>
          <p:sp>
            <p:nvSpPr>
              <p:cNvPr name="Freeform 65" id="65"/>
              <p:cNvSpPr/>
              <p:nvPr/>
            </p:nvSpPr>
            <p:spPr>
              <a:xfrm flipH="false" flipV="false" rot="0">
                <a:off x="0" y="0"/>
                <a:ext cx="93332" cy="80134"/>
              </a:xfrm>
              <a:custGeom>
                <a:avLst/>
                <a:gdLst/>
                <a:ahLst/>
                <a:cxnLst/>
                <a:rect r="r" b="b" t="t" l="l"/>
                <a:pathLst>
                  <a:path h="80134" w="93332">
                    <a:moveTo>
                      <a:pt x="0" y="0"/>
                    </a:moveTo>
                    <a:lnTo>
                      <a:pt x="93332" y="0"/>
                    </a:lnTo>
                    <a:lnTo>
                      <a:pt x="93332" y="80134"/>
                    </a:lnTo>
                    <a:lnTo>
                      <a:pt x="0" y="80134"/>
                    </a:lnTo>
                    <a:close/>
                  </a:path>
                </a:pathLst>
              </a:custGeom>
              <a:solidFill>
                <a:srgbClr val="0CC0DF"/>
              </a:solidFill>
              <a:ln w="19050" cap="sq">
                <a:solidFill>
                  <a:srgbClr val="000000"/>
                </a:solidFill>
                <a:prstDash val="solid"/>
                <a:miter/>
              </a:ln>
            </p:spPr>
          </p:sp>
          <p:sp>
            <p:nvSpPr>
              <p:cNvPr name="TextBox 66" id="66"/>
              <p:cNvSpPr txBox="true"/>
              <p:nvPr/>
            </p:nvSpPr>
            <p:spPr>
              <a:xfrm>
                <a:off x="0" y="-333375"/>
                <a:ext cx="93332" cy="413509"/>
              </a:xfrm>
              <a:prstGeom prst="rect">
                <a:avLst/>
              </a:prstGeom>
            </p:spPr>
            <p:txBody>
              <a:bodyPr anchor="ctr" rtlCol="false" tIns="50800" lIns="50800" bIns="50800" rIns="50800"/>
              <a:lstStyle/>
              <a:p>
                <a:pPr algn="ctr">
                  <a:lnSpc>
                    <a:spcPts val="6249"/>
                  </a:lnSpc>
                </a:pPr>
              </a:p>
            </p:txBody>
          </p:sp>
        </p:grpSp>
        <p:grpSp>
          <p:nvGrpSpPr>
            <p:cNvPr name="Group 67" id="67"/>
            <p:cNvGrpSpPr/>
            <p:nvPr/>
          </p:nvGrpSpPr>
          <p:grpSpPr>
            <a:xfrm rot="0">
              <a:off x="2697976" y="212984"/>
              <a:ext cx="687156" cy="589986"/>
              <a:chOff x="0" y="0"/>
              <a:chExt cx="93332" cy="80134"/>
            </a:xfrm>
          </p:grpSpPr>
          <p:sp>
            <p:nvSpPr>
              <p:cNvPr name="Freeform 68" id="68"/>
              <p:cNvSpPr/>
              <p:nvPr/>
            </p:nvSpPr>
            <p:spPr>
              <a:xfrm flipH="false" flipV="false" rot="0">
                <a:off x="0" y="0"/>
                <a:ext cx="93332" cy="80134"/>
              </a:xfrm>
              <a:custGeom>
                <a:avLst/>
                <a:gdLst/>
                <a:ahLst/>
                <a:cxnLst/>
                <a:rect r="r" b="b" t="t" l="l"/>
                <a:pathLst>
                  <a:path h="80134" w="93332">
                    <a:moveTo>
                      <a:pt x="0" y="0"/>
                    </a:moveTo>
                    <a:lnTo>
                      <a:pt x="93332" y="0"/>
                    </a:lnTo>
                    <a:lnTo>
                      <a:pt x="93332" y="80134"/>
                    </a:lnTo>
                    <a:lnTo>
                      <a:pt x="0" y="80134"/>
                    </a:lnTo>
                    <a:close/>
                  </a:path>
                </a:pathLst>
              </a:custGeom>
              <a:solidFill>
                <a:srgbClr val="0CC0DF"/>
              </a:solidFill>
              <a:ln w="19050" cap="sq">
                <a:solidFill>
                  <a:srgbClr val="000000"/>
                </a:solidFill>
                <a:prstDash val="solid"/>
                <a:miter/>
              </a:ln>
            </p:spPr>
          </p:sp>
          <p:sp>
            <p:nvSpPr>
              <p:cNvPr name="TextBox 69" id="69"/>
              <p:cNvSpPr txBox="true"/>
              <p:nvPr/>
            </p:nvSpPr>
            <p:spPr>
              <a:xfrm>
                <a:off x="0" y="-333375"/>
                <a:ext cx="93332" cy="413509"/>
              </a:xfrm>
              <a:prstGeom prst="rect">
                <a:avLst/>
              </a:prstGeom>
            </p:spPr>
            <p:txBody>
              <a:bodyPr anchor="ctr" rtlCol="false" tIns="50800" lIns="50800" bIns="50800" rIns="50800"/>
              <a:lstStyle/>
              <a:p>
                <a:pPr algn="ctr">
                  <a:lnSpc>
                    <a:spcPts val="6249"/>
                  </a:lnSpc>
                </a:pPr>
              </a:p>
            </p:txBody>
          </p:sp>
        </p:grpSp>
        <p:grpSp>
          <p:nvGrpSpPr>
            <p:cNvPr name="Group 70" id="70"/>
            <p:cNvGrpSpPr/>
            <p:nvPr/>
          </p:nvGrpSpPr>
          <p:grpSpPr>
            <a:xfrm rot="0">
              <a:off x="357728" y="1028116"/>
              <a:ext cx="171597" cy="171597"/>
              <a:chOff x="0" y="0"/>
              <a:chExt cx="812800" cy="812800"/>
            </a:xfrm>
          </p:grpSpPr>
          <p:sp>
            <p:nvSpPr>
              <p:cNvPr name="Freeform 71" id="7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CC0DF"/>
              </a:solidFill>
            </p:spPr>
          </p:sp>
          <p:sp>
            <p:nvSpPr>
              <p:cNvPr name="TextBox 72" id="72"/>
              <p:cNvSpPr txBox="true"/>
              <p:nvPr/>
            </p:nvSpPr>
            <p:spPr>
              <a:xfrm>
                <a:off x="76200" y="-257175"/>
                <a:ext cx="660400" cy="993775"/>
              </a:xfrm>
              <a:prstGeom prst="rect">
                <a:avLst/>
              </a:prstGeom>
            </p:spPr>
            <p:txBody>
              <a:bodyPr anchor="ctr" rtlCol="false" tIns="50800" lIns="50800" bIns="50800" rIns="50800"/>
              <a:lstStyle/>
              <a:p>
                <a:pPr algn="ctr">
                  <a:lnSpc>
                    <a:spcPts val="6249"/>
                  </a:lnSpc>
                </a:pPr>
              </a:p>
            </p:txBody>
          </p:sp>
        </p:grpSp>
        <p:grpSp>
          <p:nvGrpSpPr>
            <p:cNvPr name="Group 73" id="73"/>
            <p:cNvGrpSpPr/>
            <p:nvPr/>
          </p:nvGrpSpPr>
          <p:grpSpPr>
            <a:xfrm rot="0">
              <a:off x="2441157" y="929765"/>
              <a:ext cx="171597" cy="171597"/>
              <a:chOff x="0" y="0"/>
              <a:chExt cx="812800" cy="812800"/>
            </a:xfrm>
          </p:grpSpPr>
          <p:sp>
            <p:nvSpPr>
              <p:cNvPr name="Freeform 74" id="7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0000"/>
              </a:solidFill>
            </p:spPr>
          </p:sp>
          <p:sp>
            <p:nvSpPr>
              <p:cNvPr name="TextBox 75" id="75"/>
              <p:cNvSpPr txBox="true"/>
              <p:nvPr/>
            </p:nvSpPr>
            <p:spPr>
              <a:xfrm>
                <a:off x="76200" y="-257175"/>
                <a:ext cx="660400" cy="993775"/>
              </a:xfrm>
              <a:prstGeom prst="rect">
                <a:avLst/>
              </a:prstGeom>
            </p:spPr>
            <p:txBody>
              <a:bodyPr anchor="ctr" rtlCol="false" tIns="50800" lIns="50800" bIns="50800" rIns="50800"/>
              <a:lstStyle/>
              <a:p>
                <a:pPr algn="ctr">
                  <a:lnSpc>
                    <a:spcPts val="6249"/>
                  </a:lnSpc>
                </a:pPr>
              </a:p>
            </p:txBody>
          </p:sp>
        </p:grpSp>
        <p:sp>
          <p:nvSpPr>
            <p:cNvPr name="AutoShape 76" id="76"/>
            <p:cNvSpPr/>
            <p:nvPr/>
          </p:nvSpPr>
          <p:spPr>
            <a:xfrm>
              <a:off x="1604780" y="1101362"/>
              <a:ext cx="606089" cy="0"/>
            </a:xfrm>
            <a:prstGeom prst="line">
              <a:avLst/>
            </a:prstGeom>
            <a:ln cap="flat" w="50800">
              <a:solidFill>
                <a:srgbClr val="000000"/>
              </a:solidFill>
              <a:prstDash val="solid"/>
              <a:headEnd type="none" len="sm" w="sm"/>
              <a:tailEnd type="triangle" len="med" w="lg"/>
            </a:ln>
          </p:spPr>
        </p:sp>
      </p:grpSp>
      <p:grpSp>
        <p:nvGrpSpPr>
          <p:cNvPr name="Group 77" id="77"/>
          <p:cNvGrpSpPr/>
          <p:nvPr/>
        </p:nvGrpSpPr>
        <p:grpSpPr>
          <a:xfrm rot="0">
            <a:off x="11323967" y="3190769"/>
            <a:ext cx="731497" cy="731497"/>
            <a:chOff x="0" y="0"/>
            <a:chExt cx="812800" cy="812800"/>
          </a:xfrm>
        </p:grpSpPr>
        <p:sp>
          <p:nvSpPr>
            <p:cNvPr name="Freeform 78" id="78"/>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8D2B2B"/>
            </a:solidFill>
          </p:spPr>
        </p:sp>
        <p:sp>
          <p:nvSpPr>
            <p:cNvPr name="TextBox 79" id="79"/>
            <p:cNvSpPr txBox="true"/>
            <p:nvPr/>
          </p:nvSpPr>
          <p:spPr>
            <a:xfrm>
              <a:off x="0" y="-130175"/>
              <a:ext cx="711200" cy="739775"/>
            </a:xfrm>
            <a:prstGeom prst="rect">
              <a:avLst/>
            </a:prstGeom>
          </p:spPr>
          <p:txBody>
            <a:bodyPr anchor="ctr" rtlCol="false" tIns="50800" lIns="50800" bIns="50800" rIns="50800"/>
            <a:lstStyle/>
            <a:p>
              <a:pPr algn="ctr">
                <a:lnSpc>
                  <a:spcPts val="6249"/>
                </a:lnSpc>
              </a:pPr>
            </a:p>
          </p:txBody>
        </p:sp>
      </p:grpSp>
      <p:grpSp>
        <p:nvGrpSpPr>
          <p:cNvPr name="Group 80" id="80"/>
          <p:cNvGrpSpPr/>
          <p:nvPr/>
        </p:nvGrpSpPr>
        <p:grpSpPr>
          <a:xfrm rot="-10800000">
            <a:off x="3966526" y="7881816"/>
            <a:ext cx="731497" cy="731497"/>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8D2B2B"/>
            </a:solidFill>
          </p:spPr>
        </p:sp>
        <p:sp>
          <p:nvSpPr>
            <p:cNvPr name="TextBox 82" id="82"/>
            <p:cNvSpPr txBox="true"/>
            <p:nvPr/>
          </p:nvSpPr>
          <p:spPr>
            <a:xfrm>
              <a:off x="0" y="-130175"/>
              <a:ext cx="711200" cy="739775"/>
            </a:xfrm>
            <a:prstGeom prst="rect">
              <a:avLst/>
            </a:prstGeom>
          </p:spPr>
          <p:txBody>
            <a:bodyPr anchor="ctr" rtlCol="false" tIns="50800" lIns="50800" bIns="50800" rIns="50800"/>
            <a:lstStyle/>
            <a:p>
              <a:pPr algn="ctr">
                <a:lnSpc>
                  <a:spcPts val="6249"/>
                </a:lnSpc>
              </a:pPr>
            </a:p>
          </p:txBody>
        </p:sp>
      </p:grpSp>
      <p:grpSp>
        <p:nvGrpSpPr>
          <p:cNvPr name="Group 83" id="83"/>
          <p:cNvGrpSpPr/>
          <p:nvPr/>
        </p:nvGrpSpPr>
        <p:grpSpPr>
          <a:xfrm rot="0">
            <a:off x="6528994" y="3075431"/>
            <a:ext cx="731497" cy="731497"/>
            <a:chOff x="0" y="0"/>
            <a:chExt cx="812800" cy="812800"/>
          </a:xfrm>
        </p:grpSpPr>
        <p:sp>
          <p:nvSpPr>
            <p:cNvPr name="Freeform 84" id="84"/>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8D2B2B"/>
            </a:solidFill>
          </p:spPr>
        </p:sp>
        <p:sp>
          <p:nvSpPr>
            <p:cNvPr name="TextBox 85" id="85"/>
            <p:cNvSpPr txBox="true"/>
            <p:nvPr/>
          </p:nvSpPr>
          <p:spPr>
            <a:xfrm>
              <a:off x="0" y="-130175"/>
              <a:ext cx="711200" cy="739775"/>
            </a:xfrm>
            <a:prstGeom prst="rect">
              <a:avLst/>
            </a:prstGeom>
          </p:spPr>
          <p:txBody>
            <a:bodyPr anchor="ctr" rtlCol="false" tIns="50800" lIns="50800" bIns="50800" rIns="50800"/>
            <a:lstStyle/>
            <a:p>
              <a:pPr algn="ctr">
                <a:lnSpc>
                  <a:spcPts val="6249"/>
                </a:lnSpc>
              </a:pPr>
            </a:p>
          </p:txBody>
        </p:sp>
      </p:grpSp>
      <p:grpSp>
        <p:nvGrpSpPr>
          <p:cNvPr name="Group 86" id="86"/>
          <p:cNvGrpSpPr/>
          <p:nvPr/>
        </p:nvGrpSpPr>
        <p:grpSpPr>
          <a:xfrm rot="5400000">
            <a:off x="13942091" y="5282479"/>
            <a:ext cx="731497" cy="731497"/>
            <a:chOff x="0" y="0"/>
            <a:chExt cx="812800" cy="812800"/>
          </a:xfrm>
        </p:grpSpPr>
        <p:sp>
          <p:nvSpPr>
            <p:cNvPr name="Freeform 87" id="87"/>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8D2B2B"/>
            </a:solidFill>
          </p:spPr>
        </p:sp>
        <p:sp>
          <p:nvSpPr>
            <p:cNvPr name="TextBox 88" id="88"/>
            <p:cNvSpPr txBox="true"/>
            <p:nvPr/>
          </p:nvSpPr>
          <p:spPr>
            <a:xfrm>
              <a:off x="0" y="-130175"/>
              <a:ext cx="711200" cy="739775"/>
            </a:xfrm>
            <a:prstGeom prst="rect">
              <a:avLst/>
            </a:prstGeom>
          </p:spPr>
          <p:txBody>
            <a:bodyPr anchor="ctr" rtlCol="false" tIns="50800" lIns="50800" bIns="50800" rIns="50800"/>
            <a:lstStyle/>
            <a:p>
              <a:pPr algn="ctr">
                <a:lnSpc>
                  <a:spcPts val="6249"/>
                </a:lnSpc>
              </a:pPr>
            </a:p>
          </p:txBody>
        </p:sp>
      </p:grpSp>
      <p:grpSp>
        <p:nvGrpSpPr>
          <p:cNvPr name="Group 89" id="89"/>
          <p:cNvGrpSpPr/>
          <p:nvPr/>
        </p:nvGrpSpPr>
        <p:grpSpPr>
          <a:xfrm rot="0">
            <a:off x="8697701" y="7527931"/>
            <a:ext cx="2541706" cy="1577611"/>
            <a:chOff x="0" y="0"/>
            <a:chExt cx="736600" cy="457200"/>
          </a:xfrm>
        </p:grpSpPr>
        <p:sp>
          <p:nvSpPr>
            <p:cNvPr name="Freeform 90" id="90"/>
            <p:cNvSpPr/>
            <p:nvPr/>
          </p:nvSpPr>
          <p:spPr>
            <a:xfrm flipH="false" flipV="false" rot="0">
              <a:off x="0" y="0"/>
              <a:ext cx="736600" cy="457200"/>
            </a:xfrm>
            <a:custGeom>
              <a:avLst/>
              <a:gdLst/>
              <a:ahLst/>
              <a:cxnLst/>
              <a:rect r="r" b="b" t="t" l="l"/>
              <a:pathLst>
                <a:path h="457200" w="736600">
                  <a:moveTo>
                    <a:pt x="736600" y="228606"/>
                  </a:moveTo>
                  <a:lnTo>
                    <a:pt x="476634" y="457200"/>
                  </a:lnTo>
                  <a:lnTo>
                    <a:pt x="492392" y="332453"/>
                  </a:lnTo>
                  <a:lnTo>
                    <a:pt x="244208" y="332453"/>
                  </a:lnTo>
                  <a:lnTo>
                    <a:pt x="259966" y="457200"/>
                  </a:lnTo>
                  <a:lnTo>
                    <a:pt x="0" y="228606"/>
                  </a:lnTo>
                  <a:lnTo>
                    <a:pt x="259966" y="0"/>
                  </a:lnTo>
                  <a:lnTo>
                    <a:pt x="244196" y="124785"/>
                  </a:lnTo>
                  <a:lnTo>
                    <a:pt x="492404" y="124785"/>
                  </a:lnTo>
                  <a:lnTo>
                    <a:pt x="476634" y="0"/>
                  </a:lnTo>
                  <a:lnTo>
                    <a:pt x="736600" y="228606"/>
                  </a:lnTo>
                  <a:close/>
                </a:path>
              </a:pathLst>
            </a:custGeom>
            <a:solidFill>
              <a:srgbClr val="8D2B2B"/>
            </a:solidFill>
          </p:spPr>
        </p:sp>
        <p:sp>
          <p:nvSpPr>
            <p:cNvPr name="TextBox 91" id="91"/>
            <p:cNvSpPr txBox="true"/>
            <p:nvPr/>
          </p:nvSpPr>
          <p:spPr>
            <a:xfrm>
              <a:off x="114300" y="-206375"/>
              <a:ext cx="508000" cy="536575"/>
            </a:xfrm>
            <a:prstGeom prst="rect">
              <a:avLst/>
            </a:prstGeom>
          </p:spPr>
          <p:txBody>
            <a:bodyPr anchor="ctr" rtlCol="false" tIns="50800" lIns="50800" bIns="50800" rIns="50800"/>
            <a:lstStyle/>
            <a:p>
              <a:pPr algn="ctr">
                <a:lnSpc>
                  <a:spcPts val="6249"/>
                </a:lnSpc>
              </a:pPr>
            </a:p>
          </p:txBody>
        </p:sp>
      </p:grpSp>
      <p:sp>
        <p:nvSpPr>
          <p:cNvPr name="TextBox 92" id="92"/>
          <p:cNvSpPr txBox="true"/>
          <p:nvPr/>
        </p:nvSpPr>
        <p:spPr>
          <a:xfrm rot="0">
            <a:off x="1772981" y="154047"/>
            <a:ext cx="15025100" cy="809625"/>
          </a:xfrm>
          <a:prstGeom prst="rect">
            <a:avLst/>
          </a:prstGeom>
        </p:spPr>
        <p:txBody>
          <a:bodyPr anchor="t" rtlCol="false" tIns="0" lIns="0" bIns="0" rIns="0">
            <a:spAutoFit/>
          </a:bodyPr>
          <a:lstStyle/>
          <a:p>
            <a:pPr algn="ctr">
              <a:lnSpc>
                <a:spcPts val="6299"/>
              </a:lnSpc>
            </a:pPr>
            <a:r>
              <a:rPr lang="en-US" b="true" sz="4500" spc="422">
                <a:solidFill>
                  <a:srgbClr val="8D0000"/>
                </a:solidFill>
                <a:latin typeface="Poppins Bold"/>
                <a:ea typeface="Poppins Bold"/>
                <a:cs typeface="Poppins Bold"/>
                <a:sym typeface="Poppins Bold"/>
              </a:rPr>
              <a:t>IMPLÉMENTATION MATLAB</a:t>
            </a:r>
          </a:p>
        </p:txBody>
      </p:sp>
      <p:sp>
        <p:nvSpPr>
          <p:cNvPr name="TextBox 93" id="93"/>
          <p:cNvSpPr txBox="true"/>
          <p:nvPr/>
        </p:nvSpPr>
        <p:spPr>
          <a:xfrm rot="0">
            <a:off x="6972191" y="1869419"/>
            <a:ext cx="4626681" cy="441281"/>
          </a:xfrm>
          <a:prstGeom prst="rect">
            <a:avLst/>
          </a:prstGeom>
        </p:spPr>
        <p:txBody>
          <a:bodyPr anchor="t" rtlCol="false" tIns="0" lIns="0" bIns="0" rIns="0">
            <a:spAutoFit/>
          </a:bodyPr>
          <a:lstStyle/>
          <a:p>
            <a:pPr algn="l" marL="539749" indent="-269875" lvl="1">
              <a:lnSpc>
                <a:spcPts val="3499"/>
              </a:lnSpc>
              <a:spcBef>
                <a:spcPct val="0"/>
              </a:spcBef>
              <a:buAutoNum type="arabicPeriod" startAt="1"/>
            </a:pPr>
            <a:r>
              <a:rPr lang="en-US" b="true" sz="2499">
                <a:solidFill>
                  <a:srgbClr val="000000"/>
                </a:solidFill>
                <a:latin typeface="Poppins Bold"/>
                <a:ea typeface="Poppins Bold"/>
                <a:cs typeface="Poppins Bold"/>
                <a:sym typeface="Poppins Bold"/>
              </a:rPr>
              <a:t> I</a:t>
            </a:r>
            <a:r>
              <a:rPr lang="en-US" b="true" sz="2499">
                <a:solidFill>
                  <a:srgbClr val="000000"/>
                </a:solidFill>
                <a:latin typeface="Poppins Bold"/>
                <a:ea typeface="Poppins Bold"/>
                <a:cs typeface="Poppins Bold"/>
                <a:sym typeface="Poppins Bold"/>
              </a:rPr>
              <a:t>nitialisation des centres</a:t>
            </a:r>
          </a:p>
        </p:txBody>
      </p:sp>
      <p:sp>
        <p:nvSpPr>
          <p:cNvPr name="TextBox 94" id="94"/>
          <p:cNvSpPr txBox="true"/>
          <p:nvPr/>
        </p:nvSpPr>
        <p:spPr>
          <a:xfrm rot="0">
            <a:off x="12180992" y="1869419"/>
            <a:ext cx="3965443" cy="441281"/>
          </a:xfrm>
          <a:prstGeom prst="rect">
            <a:avLst/>
          </a:prstGeom>
        </p:spPr>
        <p:txBody>
          <a:bodyPr anchor="t" rtlCol="false" tIns="0" lIns="0" bIns="0" rIns="0">
            <a:spAutoFit/>
          </a:bodyPr>
          <a:lstStyle/>
          <a:p>
            <a:pPr algn="l" marL="539749" indent="-269875" lvl="1">
              <a:lnSpc>
                <a:spcPts val="3499"/>
              </a:lnSpc>
              <a:spcBef>
                <a:spcPct val="0"/>
              </a:spcBef>
              <a:buAutoNum type="arabicPeriod" startAt="1"/>
            </a:pPr>
            <a:r>
              <a:rPr lang="en-US" b="true" sz="2499">
                <a:solidFill>
                  <a:srgbClr val="000000"/>
                </a:solidFill>
                <a:latin typeface="Poppins Bold"/>
                <a:ea typeface="Poppins Bold"/>
                <a:cs typeface="Poppins Bold"/>
                <a:sym typeface="Poppins Bold"/>
              </a:rPr>
              <a:t> </a:t>
            </a:r>
            <a:r>
              <a:rPr lang="en-US" b="true" sz="2499">
                <a:solidFill>
                  <a:srgbClr val="000000"/>
                </a:solidFill>
                <a:latin typeface="Poppins Bold"/>
                <a:ea typeface="Poppins Bold"/>
                <a:cs typeface="Poppins Bold"/>
                <a:sym typeface="Poppins Bold"/>
              </a:rPr>
              <a:t>Affinage des centres</a:t>
            </a:r>
          </a:p>
        </p:txBody>
      </p:sp>
      <p:sp>
        <p:nvSpPr>
          <p:cNvPr name="TextBox 95" id="95"/>
          <p:cNvSpPr txBox="true"/>
          <p:nvPr/>
        </p:nvSpPr>
        <p:spPr>
          <a:xfrm rot="0">
            <a:off x="12274101" y="6290201"/>
            <a:ext cx="3989917" cy="441281"/>
          </a:xfrm>
          <a:prstGeom prst="rect">
            <a:avLst/>
          </a:prstGeom>
        </p:spPr>
        <p:txBody>
          <a:bodyPr anchor="t" rtlCol="false" tIns="0" lIns="0" bIns="0" rIns="0">
            <a:spAutoFit/>
          </a:bodyPr>
          <a:lstStyle/>
          <a:p>
            <a:pPr algn="l" marL="539749" indent="-269875" lvl="1">
              <a:lnSpc>
                <a:spcPts val="3499"/>
              </a:lnSpc>
              <a:spcBef>
                <a:spcPct val="0"/>
              </a:spcBef>
              <a:buAutoNum type="arabicPeriod" startAt="1"/>
            </a:pPr>
            <a:r>
              <a:rPr lang="en-US" b="true" sz="2499">
                <a:solidFill>
                  <a:srgbClr val="000000"/>
                </a:solidFill>
                <a:latin typeface="Poppins Bold"/>
                <a:ea typeface="Poppins Bold"/>
                <a:cs typeface="Poppins Bold"/>
                <a:sym typeface="Poppins Bold"/>
              </a:rPr>
              <a:t> C</a:t>
            </a:r>
            <a:r>
              <a:rPr lang="en-US" b="true" sz="2499">
                <a:solidFill>
                  <a:srgbClr val="000000"/>
                </a:solidFill>
                <a:latin typeface="Poppins Bold"/>
                <a:ea typeface="Poppins Bold"/>
                <a:cs typeface="Poppins Bold"/>
                <a:sym typeface="Poppins Bold"/>
              </a:rPr>
              <a:t>alcul des distances</a:t>
            </a:r>
          </a:p>
        </p:txBody>
      </p:sp>
      <p:sp>
        <p:nvSpPr>
          <p:cNvPr name="TextBox 96" id="96"/>
          <p:cNvSpPr txBox="true"/>
          <p:nvPr/>
        </p:nvSpPr>
        <p:spPr>
          <a:xfrm rot="0">
            <a:off x="4558347" y="6477504"/>
            <a:ext cx="4257477" cy="441281"/>
          </a:xfrm>
          <a:prstGeom prst="rect">
            <a:avLst/>
          </a:prstGeom>
        </p:spPr>
        <p:txBody>
          <a:bodyPr anchor="t" rtlCol="false" tIns="0" lIns="0" bIns="0" rIns="0">
            <a:spAutoFit/>
          </a:bodyPr>
          <a:lstStyle/>
          <a:p>
            <a:pPr algn="l" marL="539749" indent="-269875" lvl="1">
              <a:lnSpc>
                <a:spcPts val="3499"/>
              </a:lnSpc>
              <a:spcBef>
                <a:spcPct val="0"/>
              </a:spcBef>
              <a:buAutoNum type="arabicPeriod" startAt="1"/>
            </a:pPr>
            <a:r>
              <a:rPr lang="en-US" b="true" sz="2499">
                <a:solidFill>
                  <a:srgbClr val="000000"/>
                </a:solidFill>
                <a:latin typeface="Poppins Bold"/>
                <a:ea typeface="Poppins Bold"/>
                <a:cs typeface="Poppins Bold"/>
                <a:sym typeface="Poppins Bold"/>
              </a:rPr>
              <a:t> </a:t>
            </a:r>
            <a:r>
              <a:rPr lang="en-US" b="true" sz="2499">
                <a:solidFill>
                  <a:srgbClr val="000000"/>
                </a:solidFill>
                <a:latin typeface="Poppins Bold"/>
                <a:ea typeface="Poppins Bold"/>
                <a:cs typeface="Poppins Bold"/>
                <a:sym typeface="Poppins Bold"/>
              </a:rPr>
              <a:t>Assignation des pixels</a:t>
            </a:r>
          </a:p>
        </p:txBody>
      </p:sp>
      <p:sp>
        <p:nvSpPr>
          <p:cNvPr name="TextBox 97" id="97"/>
          <p:cNvSpPr txBox="true"/>
          <p:nvPr/>
        </p:nvSpPr>
        <p:spPr>
          <a:xfrm rot="0">
            <a:off x="9120398" y="9191625"/>
            <a:ext cx="1947966" cy="743254"/>
          </a:xfrm>
          <a:prstGeom prst="rect">
            <a:avLst/>
          </a:prstGeom>
        </p:spPr>
        <p:txBody>
          <a:bodyPr anchor="t" rtlCol="false" tIns="0" lIns="0" bIns="0" rIns="0">
            <a:spAutoFit/>
          </a:bodyPr>
          <a:lstStyle/>
          <a:p>
            <a:pPr algn="ctr">
              <a:lnSpc>
                <a:spcPts val="2913"/>
              </a:lnSpc>
              <a:spcBef>
                <a:spcPct val="0"/>
              </a:spcBef>
            </a:pPr>
            <a:r>
              <a:rPr lang="en-US" sz="2081">
                <a:solidFill>
                  <a:srgbClr val="000000"/>
                </a:solidFill>
                <a:latin typeface="Poppins"/>
                <a:ea typeface="Poppins"/>
                <a:cs typeface="Poppins"/>
                <a:sym typeface="Poppins"/>
              </a:rPr>
              <a:t>Recalcul des centres</a:t>
            </a:r>
          </a:p>
        </p:txBody>
      </p:sp>
      <p:sp>
        <p:nvSpPr>
          <p:cNvPr name="TextBox 98" id="98"/>
          <p:cNvSpPr txBox="true"/>
          <p:nvPr/>
        </p:nvSpPr>
        <p:spPr>
          <a:xfrm rot="0">
            <a:off x="8994571" y="8095529"/>
            <a:ext cx="1947966" cy="375740"/>
          </a:xfrm>
          <a:prstGeom prst="rect">
            <a:avLst/>
          </a:prstGeom>
        </p:spPr>
        <p:txBody>
          <a:bodyPr anchor="t" rtlCol="false" tIns="0" lIns="0" bIns="0" rIns="0">
            <a:spAutoFit/>
          </a:bodyPr>
          <a:lstStyle/>
          <a:p>
            <a:pPr algn="ctr">
              <a:lnSpc>
                <a:spcPts val="2913"/>
              </a:lnSpc>
              <a:spcBef>
                <a:spcPct val="0"/>
              </a:spcBef>
            </a:pPr>
            <a:r>
              <a:rPr lang="en-US" b="true" sz="2081">
                <a:solidFill>
                  <a:srgbClr val="FFFFFF"/>
                </a:solidFill>
                <a:latin typeface="Poppins Bold"/>
                <a:ea typeface="Poppins Bold"/>
                <a:cs typeface="Poppins Bold"/>
                <a:sym typeface="Poppins Bold"/>
              </a:rPr>
              <a:t>E&lt;=seuil</a:t>
            </a:r>
          </a:p>
        </p:txBody>
      </p:sp>
      <p:sp>
        <p:nvSpPr>
          <p:cNvPr name="TextBox 99" id="99"/>
          <p:cNvSpPr txBox="true"/>
          <p:nvPr/>
        </p:nvSpPr>
        <p:spPr>
          <a:xfrm rot="0">
            <a:off x="253457" y="6326114"/>
            <a:ext cx="3153503" cy="441281"/>
          </a:xfrm>
          <a:prstGeom prst="rect">
            <a:avLst/>
          </a:prstGeom>
        </p:spPr>
        <p:txBody>
          <a:bodyPr anchor="t" rtlCol="false" tIns="0" lIns="0" bIns="0" rIns="0">
            <a:spAutoFit/>
          </a:bodyPr>
          <a:lstStyle/>
          <a:p>
            <a:pPr algn="l" marL="539749" indent="-269875" lvl="1">
              <a:lnSpc>
                <a:spcPts val="3499"/>
              </a:lnSpc>
              <a:spcBef>
                <a:spcPct val="0"/>
              </a:spcBef>
              <a:buAutoNum type="arabicPeriod" startAt="1"/>
            </a:pPr>
            <a:r>
              <a:rPr lang="en-US" b="true" sz="2499">
                <a:solidFill>
                  <a:srgbClr val="000000"/>
                </a:solidFill>
                <a:latin typeface="Poppins Bold"/>
                <a:ea typeface="Poppins Bold"/>
                <a:cs typeface="Poppins Bold"/>
                <a:sym typeface="Poppins Bold"/>
              </a:rPr>
              <a:t> Post traitement</a:t>
            </a:r>
          </a:p>
        </p:txBody>
      </p:sp>
      <p:sp>
        <p:nvSpPr>
          <p:cNvPr name="TextBox 100" id="100"/>
          <p:cNvSpPr txBox="true"/>
          <p:nvPr/>
        </p:nvSpPr>
        <p:spPr>
          <a:xfrm rot="0">
            <a:off x="14012558" y="2843324"/>
            <a:ext cx="69338" cy="148950"/>
          </a:xfrm>
          <a:prstGeom prst="rect">
            <a:avLst/>
          </a:prstGeom>
        </p:spPr>
        <p:txBody>
          <a:bodyPr anchor="t" rtlCol="false" tIns="0" lIns="0" bIns="0" rIns="0">
            <a:spAutoFit/>
          </a:bodyPr>
          <a:lstStyle/>
          <a:p>
            <a:pPr algn="ctr">
              <a:lnSpc>
                <a:spcPts val="1263"/>
              </a:lnSpc>
              <a:spcBef>
                <a:spcPct val="0"/>
              </a:spcBef>
            </a:pPr>
            <a:r>
              <a:rPr lang="en-US" b="true" sz="902">
                <a:solidFill>
                  <a:srgbClr val="2E4033"/>
                </a:solidFill>
                <a:latin typeface="Poppins Bold"/>
                <a:ea typeface="Poppins Bold"/>
                <a:cs typeface="Poppins Bold"/>
                <a:sym typeface="Poppins Bold"/>
              </a:rPr>
              <a:t>3</a:t>
            </a:r>
          </a:p>
        </p:txBody>
      </p:sp>
      <p:sp>
        <p:nvSpPr>
          <p:cNvPr name="TextBox 101" id="101"/>
          <p:cNvSpPr txBox="true"/>
          <p:nvPr/>
        </p:nvSpPr>
        <p:spPr>
          <a:xfrm rot="0">
            <a:off x="14483538" y="3203486"/>
            <a:ext cx="69338" cy="148950"/>
          </a:xfrm>
          <a:prstGeom prst="rect">
            <a:avLst/>
          </a:prstGeom>
        </p:spPr>
        <p:txBody>
          <a:bodyPr anchor="t" rtlCol="false" tIns="0" lIns="0" bIns="0" rIns="0">
            <a:spAutoFit/>
          </a:bodyPr>
          <a:lstStyle/>
          <a:p>
            <a:pPr algn="ctr">
              <a:lnSpc>
                <a:spcPts val="1263"/>
              </a:lnSpc>
              <a:spcBef>
                <a:spcPct val="0"/>
              </a:spcBef>
            </a:pPr>
            <a:r>
              <a:rPr lang="en-US" b="true" sz="902">
                <a:solidFill>
                  <a:srgbClr val="2E4033"/>
                </a:solidFill>
                <a:latin typeface="Poppins Bold"/>
                <a:ea typeface="Poppins Bold"/>
                <a:cs typeface="Poppins Bold"/>
                <a:sym typeface="Poppins Bold"/>
              </a:rPr>
              <a:t>3</a:t>
            </a:r>
          </a:p>
        </p:txBody>
      </p:sp>
      <p:sp>
        <p:nvSpPr>
          <p:cNvPr name="TextBox 102" id="102"/>
          <p:cNvSpPr txBox="true"/>
          <p:nvPr/>
        </p:nvSpPr>
        <p:spPr>
          <a:xfrm rot="0">
            <a:off x="1301514" y="2387572"/>
            <a:ext cx="564587" cy="388080"/>
          </a:xfrm>
          <a:prstGeom prst="rect">
            <a:avLst/>
          </a:prstGeom>
        </p:spPr>
        <p:txBody>
          <a:bodyPr anchor="t" rtlCol="false" tIns="0" lIns="0" bIns="0" rIns="0">
            <a:spAutoFit/>
          </a:bodyPr>
          <a:lstStyle/>
          <a:p>
            <a:pPr algn="ctr">
              <a:lnSpc>
                <a:spcPts val="3002"/>
              </a:lnSpc>
              <a:spcBef>
                <a:spcPct val="0"/>
              </a:spcBef>
            </a:pPr>
            <a:r>
              <a:rPr lang="en-US" b="true" sz="2144">
                <a:solidFill>
                  <a:srgbClr val="000000"/>
                </a:solidFill>
                <a:latin typeface="Poppins Bold"/>
                <a:ea typeface="Poppins Bold"/>
                <a:cs typeface="Poppins Bold"/>
                <a:sym typeface="Poppins Bold"/>
              </a:rPr>
              <a:t>RGB</a:t>
            </a:r>
          </a:p>
        </p:txBody>
      </p:sp>
      <p:sp>
        <p:nvSpPr>
          <p:cNvPr name="TextBox 103" id="103"/>
          <p:cNvSpPr txBox="true"/>
          <p:nvPr/>
        </p:nvSpPr>
        <p:spPr>
          <a:xfrm rot="0">
            <a:off x="4558347" y="2387572"/>
            <a:ext cx="510171" cy="388118"/>
          </a:xfrm>
          <a:prstGeom prst="rect">
            <a:avLst/>
          </a:prstGeom>
        </p:spPr>
        <p:txBody>
          <a:bodyPr anchor="t" rtlCol="false" tIns="0" lIns="0" bIns="0" rIns="0">
            <a:spAutoFit/>
          </a:bodyPr>
          <a:lstStyle/>
          <a:p>
            <a:pPr algn="ctr">
              <a:lnSpc>
                <a:spcPts val="3002"/>
              </a:lnSpc>
              <a:spcBef>
                <a:spcPct val="0"/>
              </a:spcBef>
            </a:pPr>
            <a:r>
              <a:rPr lang="en-US" b="true" sz="2144">
                <a:solidFill>
                  <a:srgbClr val="000000"/>
                </a:solidFill>
                <a:latin typeface="Poppins Bold"/>
                <a:ea typeface="Poppins Bold"/>
                <a:cs typeface="Poppins Bold"/>
                <a:sym typeface="Poppins Bold"/>
              </a:rPr>
              <a:t>LAB</a:t>
            </a:r>
          </a:p>
        </p:txBody>
      </p:sp>
      <p:sp>
        <p:nvSpPr>
          <p:cNvPr name="TextBox 104" id="104"/>
          <p:cNvSpPr txBox="true"/>
          <p:nvPr/>
        </p:nvSpPr>
        <p:spPr>
          <a:xfrm rot="0">
            <a:off x="771848" y="3066176"/>
            <a:ext cx="1059331" cy="450772"/>
          </a:xfrm>
          <a:prstGeom prst="rect">
            <a:avLst/>
          </a:prstGeom>
        </p:spPr>
        <p:txBody>
          <a:bodyPr anchor="t" rtlCol="false" tIns="0" lIns="0" bIns="0" rIns="0">
            <a:spAutoFit/>
          </a:bodyPr>
          <a:lstStyle/>
          <a:p>
            <a:pPr algn="ctr">
              <a:lnSpc>
                <a:spcPts val="3603"/>
              </a:lnSpc>
              <a:spcBef>
                <a:spcPct val="0"/>
              </a:spcBef>
            </a:pPr>
            <a:r>
              <a:rPr lang="en-US" sz="2573">
                <a:solidFill>
                  <a:srgbClr val="000000"/>
                </a:solidFill>
                <a:latin typeface="Poppins"/>
                <a:ea typeface="Poppins"/>
                <a:cs typeface="Poppins"/>
                <a:sym typeface="Poppins"/>
              </a:rPr>
              <a:t>[R,G,B]</a:t>
            </a:r>
          </a:p>
        </p:txBody>
      </p:sp>
      <p:sp>
        <p:nvSpPr>
          <p:cNvPr name="TextBox 105" id="105"/>
          <p:cNvSpPr txBox="true"/>
          <p:nvPr/>
        </p:nvSpPr>
        <p:spPr>
          <a:xfrm rot="0">
            <a:off x="4332275" y="3064367"/>
            <a:ext cx="967819" cy="450772"/>
          </a:xfrm>
          <a:prstGeom prst="rect">
            <a:avLst/>
          </a:prstGeom>
        </p:spPr>
        <p:txBody>
          <a:bodyPr anchor="t" rtlCol="false" tIns="0" lIns="0" bIns="0" rIns="0">
            <a:spAutoFit/>
          </a:bodyPr>
          <a:lstStyle/>
          <a:p>
            <a:pPr algn="ctr">
              <a:lnSpc>
                <a:spcPts val="3603"/>
              </a:lnSpc>
              <a:spcBef>
                <a:spcPct val="0"/>
              </a:spcBef>
            </a:pPr>
            <a:r>
              <a:rPr lang="en-US" sz="2573">
                <a:solidFill>
                  <a:srgbClr val="000000"/>
                </a:solidFill>
                <a:latin typeface="Poppins"/>
                <a:ea typeface="Poppins"/>
                <a:cs typeface="Poppins"/>
                <a:sym typeface="Poppins"/>
              </a:rPr>
              <a:t>[L,A,B]</a:t>
            </a:r>
          </a:p>
        </p:txBody>
      </p:sp>
      <p:sp>
        <p:nvSpPr>
          <p:cNvPr name="TextBox 106" id="106"/>
          <p:cNvSpPr txBox="true"/>
          <p:nvPr/>
        </p:nvSpPr>
        <p:spPr>
          <a:xfrm rot="0">
            <a:off x="284927" y="3803817"/>
            <a:ext cx="2597762" cy="388118"/>
          </a:xfrm>
          <a:prstGeom prst="rect">
            <a:avLst/>
          </a:prstGeom>
        </p:spPr>
        <p:txBody>
          <a:bodyPr anchor="t" rtlCol="false" tIns="0" lIns="0" bIns="0" rIns="0">
            <a:spAutoFit/>
          </a:bodyPr>
          <a:lstStyle/>
          <a:p>
            <a:pPr algn="ctr">
              <a:lnSpc>
                <a:spcPts val="3002"/>
              </a:lnSpc>
              <a:spcBef>
                <a:spcPct val="0"/>
              </a:spcBef>
            </a:pPr>
            <a:r>
              <a:rPr lang="en-US" b="true" sz="2144">
                <a:solidFill>
                  <a:srgbClr val="000000"/>
                </a:solidFill>
                <a:latin typeface="Poppins Bold"/>
                <a:ea typeface="Poppins Bold"/>
                <a:cs typeface="Poppins Bold"/>
                <a:sym typeface="Poppins Bold"/>
              </a:rPr>
              <a:t>langag</a:t>
            </a:r>
            <a:r>
              <a:rPr lang="en-US" b="true" sz="2144">
                <a:solidFill>
                  <a:srgbClr val="000000"/>
                </a:solidFill>
                <a:latin typeface="Poppins Bold"/>
                <a:ea typeface="Poppins Bold"/>
                <a:cs typeface="Poppins Bold"/>
                <a:sym typeface="Poppins Bold"/>
              </a:rPr>
              <a:t>e de l'écran</a:t>
            </a:r>
          </a:p>
        </p:txBody>
      </p:sp>
      <p:sp>
        <p:nvSpPr>
          <p:cNvPr name="TextBox 107" id="107"/>
          <p:cNvSpPr txBox="true"/>
          <p:nvPr/>
        </p:nvSpPr>
        <p:spPr>
          <a:xfrm rot="0">
            <a:off x="3341295" y="3776576"/>
            <a:ext cx="3187698" cy="764043"/>
          </a:xfrm>
          <a:prstGeom prst="rect">
            <a:avLst/>
          </a:prstGeom>
        </p:spPr>
        <p:txBody>
          <a:bodyPr anchor="t" rtlCol="false" tIns="0" lIns="0" bIns="0" rIns="0">
            <a:spAutoFit/>
          </a:bodyPr>
          <a:lstStyle/>
          <a:p>
            <a:pPr algn="ctr">
              <a:lnSpc>
                <a:spcPts val="3002"/>
              </a:lnSpc>
              <a:spcBef>
                <a:spcPct val="0"/>
              </a:spcBef>
            </a:pPr>
            <a:r>
              <a:rPr lang="en-US" b="true" sz="2144">
                <a:solidFill>
                  <a:srgbClr val="000000"/>
                </a:solidFill>
                <a:latin typeface="Poppins Bold"/>
                <a:ea typeface="Poppins Bold"/>
                <a:cs typeface="Poppins Bold"/>
                <a:sym typeface="Poppins Bold"/>
              </a:rPr>
              <a:t> Plus proche de </a:t>
            </a:r>
          </a:p>
          <a:p>
            <a:pPr algn="ctr">
              <a:lnSpc>
                <a:spcPts val="3002"/>
              </a:lnSpc>
              <a:spcBef>
                <a:spcPct val="0"/>
              </a:spcBef>
            </a:pPr>
            <a:r>
              <a:rPr lang="en-US" b="true" sz="2144">
                <a:solidFill>
                  <a:srgbClr val="000000"/>
                </a:solidFill>
                <a:latin typeface="Poppins Bold"/>
                <a:ea typeface="Poppins Bold"/>
                <a:cs typeface="Poppins Bold"/>
                <a:sym typeface="Poppins Bold"/>
              </a:rPr>
              <a:t>la perception humaine</a:t>
            </a:r>
          </a:p>
        </p:txBody>
      </p:sp>
      <p:sp>
        <p:nvSpPr>
          <p:cNvPr name="TextBox 108" id="108"/>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266781" y="1145556"/>
            <a:ext cx="4836832" cy="0"/>
          </a:xfrm>
          <a:prstGeom prst="line">
            <a:avLst/>
          </a:prstGeom>
          <a:ln cap="flat" w="28575">
            <a:solidFill>
              <a:srgbClr val="000000"/>
            </a:solidFill>
            <a:prstDash val="solid"/>
            <a:headEnd type="none" len="sm" w="sm"/>
            <a:tailEnd type="none" len="sm" w="sm"/>
          </a:ln>
        </p:spPr>
      </p:sp>
      <p:grpSp>
        <p:nvGrpSpPr>
          <p:cNvPr name="Group 3" id="3"/>
          <p:cNvGrpSpPr/>
          <p:nvPr/>
        </p:nvGrpSpPr>
        <p:grpSpPr>
          <a:xfrm rot="-3503507">
            <a:off x="15971842" y="1684952"/>
            <a:ext cx="12583451" cy="7382737"/>
            <a:chOff x="0" y="0"/>
            <a:chExt cx="3314160" cy="1944424"/>
          </a:xfrm>
        </p:grpSpPr>
        <p:sp>
          <p:nvSpPr>
            <p:cNvPr name="Freeform 4" id="4"/>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5" id="5"/>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grpSp>
        <p:nvGrpSpPr>
          <p:cNvPr name="Group 6" id="6"/>
          <p:cNvGrpSpPr/>
          <p:nvPr/>
        </p:nvGrpSpPr>
        <p:grpSpPr>
          <a:xfrm rot="-3503507">
            <a:off x="-10878133" y="751583"/>
            <a:ext cx="12583451" cy="7382737"/>
            <a:chOff x="0" y="0"/>
            <a:chExt cx="3314160" cy="1944424"/>
          </a:xfrm>
        </p:grpSpPr>
        <p:sp>
          <p:nvSpPr>
            <p:cNvPr name="Freeform 7" id="7"/>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8" id="8"/>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sp>
        <p:nvSpPr>
          <p:cNvPr name="Freeform 9" id="9"/>
          <p:cNvSpPr/>
          <p:nvPr/>
        </p:nvSpPr>
        <p:spPr>
          <a:xfrm flipH="false" flipV="false" rot="0">
            <a:off x="1609649" y="2125043"/>
            <a:ext cx="3328764" cy="3646680"/>
          </a:xfrm>
          <a:custGeom>
            <a:avLst/>
            <a:gdLst/>
            <a:ahLst/>
            <a:cxnLst/>
            <a:rect r="r" b="b" t="t" l="l"/>
            <a:pathLst>
              <a:path h="3646680" w="3328764">
                <a:moveTo>
                  <a:pt x="0" y="0"/>
                </a:moveTo>
                <a:lnTo>
                  <a:pt x="3328764" y="0"/>
                </a:lnTo>
                <a:lnTo>
                  <a:pt x="3328764" y="3646680"/>
                </a:lnTo>
                <a:lnTo>
                  <a:pt x="0" y="3646680"/>
                </a:lnTo>
                <a:lnTo>
                  <a:pt x="0" y="0"/>
                </a:lnTo>
                <a:close/>
              </a:path>
            </a:pathLst>
          </a:custGeom>
          <a:blipFill>
            <a:blip r:embed="rId2"/>
            <a:stretch>
              <a:fillRect l="0" t="0" r="0" b="0"/>
            </a:stretch>
          </a:blipFill>
        </p:spPr>
      </p:sp>
      <p:grpSp>
        <p:nvGrpSpPr>
          <p:cNvPr name="Group 10" id="10"/>
          <p:cNvGrpSpPr/>
          <p:nvPr/>
        </p:nvGrpSpPr>
        <p:grpSpPr>
          <a:xfrm rot="0">
            <a:off x="5205113" y="3497453"/>
            <a:ext cx="1980088" cy="1112186"/>
            <a:chOff x="0" y="0"/>
            <a:chExt cx="1099845" cy="617767"/>
          </a:xfrm>
        </p:grpSpPr>
        <p:sp>
          <p:nvSpPr>
            <p:cNvPr name="Freeform 11" id="11"/>
            <p:cNvSpPr/>
            <p:nvPr/>
          </p:nvSpPr>
          <p:spPr>
            <a:xfrm flipH="false" flipV="false" rot="0">
              <a:off x="0" y="0"/>
              <a:ext cx="1099845" cy="617767"/>
            </a:xfrm>
            <a:custGeom>
              <a:avLst/>
              <a:gdLst/>
              <a:ahLst/>
              <a:cxnLst/>
              <a:rect r="r" b="b" t="t" l="l"/>
              <a:pathLst>
                <a:path h="617767" w="1099845">
                  <a:moveTo>
                    <a:pt x="1099845" y="308883"/>
                  </a:moveTo>
                  <a:lnTo>
                    <a:pt x="693445" y="0"/>
                  </a:lnTo>
                  <a:lnTo>
                    <a:pt x="693445" y="203200"/>
                  </a:lnTo>
                  <a:lnTo>
                    <a:pt x="0" y="203200"/>
                  </a:lnTo>
                  <a:lnTo>
                    <a:pt x="0" y="414567"/>
                  </a:lnTo>
                  <a:lnTo>
                    <a:pt x="693445" y="414567"/>
                  </a:lnTo>
                  <a:lnTo>
                    <a:pt x="693445" y="617767"/>
                  </a:lnTo>
                  <a:lnTo>
                    <a:pt x="1099845" y="308883"/>
                  </a:lnTo>
                  <a:close/>
                </a:path>
              </a:pathLst>
            </a:custGeom>
            <a:solidFill>
              <a:srgbClr val="8D2B2B"/>
            </a:solidFill>
          </p:spPr>
        </p:sp>
        <p:sp>
          <p:nvSpPr>
            <p:cNvPr name="TextBox 12" id="12"/>
            <p:cNvSpPr txBox="true"/>
            <p:nvPr/>
          </p:nvSpPr>
          <p:spPr>
            <a:xfrm>
              <a:off x="0" y="155575"/>
              <a:ext cx="998245" cy="258992"/>
            </a:xfrm>
            <a:prstGeom prst="rect">
              <a:avLst/>
            </a:prstGeom>
          </p:spPr>
          <p:txBody>
            <a:bodyPr anchor="ctr" rtlCol="false" tIns="50800" lIns="50800" bIns="50800" rIns="50800"/>
            <a:lstStyle/>
            <a:p>
              <a:pPr algn="ctr">
                <a:lnSpc>
                  <a:spcPts val="3254"/>
                </a:lnSpc>
              </a:pPr>
            </a:p>
          </p:txBody>
        </p:sp>
      </p:grpSp>
      <p:sp>
        <p:nvSpPr>
          <p:cNvPr name="Freeform 13" id="13"/>
          <p:cNvSpPr/>
          <p:nvPr/>
        </p:nvSpPr>
        <p:spPr>
          <a:xfrm flipH="false" flipV="false" rot="0">
            <a:off x="7451901" y="2125043"/>
            <a:ext cx="3394968" cy="3857005"/>
          </a:xfrm>
          <a:custGeom>
            <a:avLst/>
            <a:gdLst/>
            <a:ahLst/>
            <a:cxnLst/>
            <a:rect r="r" b="b" t="t" l="l"/>
            <a:pathLst>
              <a:path h="3857005" w="3394968">
                <a:moveTo>
                  <a:pt x="0" y="0"/>
                </a:moveTo>
                <a:lnTo>
                  <a:pt x="3394968" y="0"/>
                </a:lnTo>
                <a:lnTo>
                  <a:pt x="3394968" y="3857005"/>
                </a:lnTo>
                <a:lnTo>
                  <a:pt x="0" y="3857005"/>
                </a:lnTo>
                <a:lnTo>
                  <a:pt x="0" y="0"/>
                </a:lnTo>
                <a:close/>
              </a:path>
            </a:pathLst>
          </a:custGeom>
          <a:blipFill>
            <a:blip r:embed="rId3"/>
            <a:stretch>
              <a:fillRect l="0" t="0" r="0" b="0"/>
            </a:stretch>
          </a:blipFill>
        </p:spPr>
      </p:sp>
      <p:grpSp>
        <p:nvGrpSpPr>
          <p:cNvPr name="Group 14" id="14"/>
          <p:cNvGrpSpPr/>
          <p:nvPr/>
        </p:nvGrpSpPr>
        <p:grpSpPr>
          <a:xfrm rot="0">
            <a:off x="11113569" y="3497453"/>
            <a:ext cx="1980088" cy="1112186"/>
            <a:chOff x="0" y="0"/>
            <a:chExt cx="1099845" cy="617767"/>
          </a:xfrm>
        </p:grpSpPr>
        <p:sp>
          <p:nvSpPr>
            <p:cNvPr name="Freeform 15" id="15"/>
            <p:cNvSpPr/>
            <p:nvPr/>
          </p:nvSpPr>
          <p:spPr>
            <a:xfrm flipH="false" flipV="false" rot="0">
              <a:off x="0" y="0"/>
              <a:ext cx="1099845" cy="617767"/>
            </a:xfrm>
            <a:custGeom>
              <a:avLst/>
              <a:gdLst/>
              <a:ahLst/>
              <a:cxnLst/>
              <a:rect r="r" b="b" t="t" l="l"/>
              <a:pathLst>
                <a:path h="617767" w="1099845">
                  <a:moveTo>
                    <a:pt x="1099845" y="308883"/>
                  </a:moveTo>
                  <a:lnTo>
                    <a:pt x="693445" y="0"/>
                  </a:lnTo>
                  <a:lnTo>
                    <a:pt x="693445" y="203200"/>
                  </a:lnTo>
                  <a:lnTo>
                    <a:pt x="0" y="203200"/>
                  </a:lnTo>
                  <a:lnTo>
                    <a:pt x="0" y="414567"/>
                  </a:lnTo>
                  <a:lnTo>
                    <a:pt x="693445" y="414567"/>
                  </a:lnTo>
                  <a:lnTo>
                    <a:pt x="693445" y="617767"/>
                  </a:lnTo>
                  <a:lnTo>
                    <a:pt x="1099845" y="308883"/>
                  </a:lnTo>
                  <a:close/>
                </a:path>
              </a:pathLst>
            </a:custGeom>
            <a:solidFill>
              <a:srgbClr val="8D0000"/>
            </a:solidFill>
          </p:spPr>
        </p:sp>
        <p:sp>
          <p:nvSpPr>
            <p:cNvPr name="TextBox 16" id="16"/>
            <p:cNvSpPr txBox="true"/>
            <p:nvPr/>
          </p:nvSpPr>
          <p:spPr>
            <a:xfrm>
              <a:off x="0" y="155575"/>
              <a:ext cx="998245" cy="258992"/>
            </a:xfrm>
            <a:prstGeom prst="rect">
              <a:avLst/>
            </a:prstGeom>
          </p:spPr>
          <p:txBody>
            <a:bodyPr anchor="ctr" rtlCol="false" tIns="50800" lIns="50800" bIns="50800" rIns="50800"/>
            <a:lstStyle/>
            <a:p>
              <a:pPr algn="ctr">
                <a:lnSpc>
                  <a:spcPts val="3254"/>
                </a:lnSpc>
              </a:pPr>
            </a:p>
          </p:txBody>
        </p:sp>
      </p:grpSp>
      <p:sp>
        <p:nvSpPr>
          <p:cNvPr name="Freeform 17" id="17"/>
          <p:cNvSpPr/>
          <p:nvPr/>
        </p:nvSpPr>
        <p:spPr>
          <a:xfrm flipH="false" flipV="false" rot="0">
            <a:off x="13356991" y="2125043"/>
            <a:ext cx="3609516" cy="4029228"/>
          </a:xfrm>
          <a:custGeom>
            <a:avLst/>
            <a:gdLst/>
            <a:ahLst/>
            <a:cxnLst/>
            <a:rect r="r" b="b" t="t" l="l"/>
            <a:pathLst>
              <a:path h="4029228" w="3609516">
                <a:moveTo>
                  <a:pt x="0" y="0"/>
                </a:moveTo>
                <a:lnTo>
                  <a:pt x="3609516" y="0"/>
                </a:lnTo>
                <a:lnTo>
                  <a:pt x="3609516" y="4029228"/>
                </a:lnTo>
                <a:lnTo>
                  <a:pt x="0" y="4029228"/>
                </a:lnTo>
                <a:lnTo>
                  <a:pt x="0" y="0"/>
                </a:lnTo>
                <a:close/>
              </a:path>
            </a:pathLst>
          </a:custGeom>
          <a:blipFill>
            <a:blip r:embed="rId4"/>
            <a:stretch>
              <a:fillRect l="0" t="0" r="0" b="0"/>
            </a:stretch>
          </a:blipFill>
        </p:spPr>
      </p:sp>
      <p:sp>
        <p:nvSpPr>
          <p:cNvPr name="Freeform 18" id="18"/>
          <p:cNvSpPr/>
          <p:nvPr/>
        </p:nvSpPr>
        <p:spPr>
          <a:xfrm flipH="false" flipV="false" rot="0">
            <a:off x="1652988" y="6546974"/>
            <a:ext cx="3282935" cy="3683759"/>
          </a:xfrm>
          <a:custGeom>
            <a:avLst/>
            <a:gdLst/>
            <a:ahLst/>
            <a:cxnLst/>
            <a:rect r="r" b="b" t="t" l="l"/>
            <a:pathLst>
              <a:path h="3683759" w="3282935">
                <a:moveTo>
                  <a:pt x="0" y="0"/>
                </a:moveTo>
                <a:lnTo>
                  <a:pt x="3282935" y="0"/>
                </a:lnTo>
                <a:lnTo>
                  <a:pt x="3282935" y="3683759"/>
                </a:lnTo>
                <a:lnTo>
                  <a:pt x="0" y="3683759"/>
                </a:lnTo>
                <a:lnTo>
                  <a:pt x="0" y="0"/>
                </a:lnTo>
                <a:close/>
              </a:path>
            </a:pathLst>
          </a:custGeom>
          <a:blipFill>
            <a:blip r:embed="rId5"/>
            <a:stretch>
              <a:fillRect l="0" t="0" r="0" b="0"/>
            </a:stretch>
          </a:blipFill>
        </p:spPr>
      </p:sp>
      <p:grpSp>
        <p:nvGrpSpPr>
          <p:cNvPr name="Group 19" id="19"/>
          <p:cNvGrpSpPr/>
          <p:nvPr/>
        </p:nvGrpSpPr>
        <p:grpSpPr>
          <a:xfrm rot="0">
            <a:off x="5100525" y="7276668"/>
            <a:ext cx="1980088" cy="1112186"/>
            <a:chOff x="0" y="0"/>
            <a:chExt cx="1099845" cy="617767"/>
          </a:xfrm>
        </p:grpSpPr>
        <p:sp>
          <p:nvSpPr>
            <p:cNvPr name="Freeform 20" id="20"/>
            <p:cNvSpPr/>
            <p:nvPr/>
          </p:nvSpPr>
          <p:spPr>
            <a:xfrm flipH="false" flipV="false" rot="0">
              <a:off x="0" y="0"/>
              <a:ext cx="1099845" cy="617767"/>
            </a:xfrm>
            <a:custGeom>
              <a:avLst/>
              <a:gdLst/>
              <a:ahLst/>
              <a:cxnLst/>
              <a:rect r="r" b="b" t="t" l="l"/>
              <a:pathLst>
                <a:path h="617767" w="1099845">
                  <a:moveTo>
                    <a:pt x="1099845" y="308883"/>
                  </a:moveTo>
                  <a:lnTo>
                    <a:pt x="693445" y="0"/>
                  </a:lnTo>
                  <a:lnTo>
                    <a:pt x="693445" y="203200"/>
                  </a:lnTo>
                  <a:lnTo>
                    <a:pt x="0" y="203200"/>
                  </a:lnTo>
                  <a:lnTo>
                    <a:pt x="0" y="414567"/>
                  </a:lnTo>
                  <a:lnTo>
                    <a:pt x="693445" y="414567"/>
                  </a:lnTo>
                  <a:lnTo>
                    <a:pt x="693445" y="617767"/>
                  </a:lnTo>
                  <a:lnTo>
                    <a:pt x="1099845" y="308883"/>
                  </a:lnTo>
                  <a:close/>
                </a:path>
              </a:pathLst>
            </a:custGeom>
            <a:solidFill>
              <a:srgbClr val="8D0000"/>
            </a:solidFill>
          </p:spPr>
        </p:sp>
        <p:sp>
          <p:nvSpPr>
            <p:cNvPr name="TextBox 21" id="21"/>
            <p:cNvSpPr txBox="true"/>
            <p:nvPr/>
          </p:nvSpPr>
          <p:spPr>
            <a:xfrm>
              <a:off x="0" y="155575"/>
              <a:ext cx="998245" cy="258992"/>
            </a:xfrm>
            <a:prstGeom prst="rect">
              <a:avLst/>
            </a:prstGeom>
          </p:spPr>
          <p:txBody>
            <a:bodyPr anchor="ctr" rtlCol="false" tIns="50800" lIns="50800" bIns="50800" rIns="50800"/>
            <a:lstStyle/>
            <a:p>
              <a:pPr algn="ctr">
                <a:lnSpc>
                  <a:spcPts val="3254"/>
                </a:lnSpc>
              </a:pPr>
            </a:p>
          </p:txBody>
        </p:sp>
      </p:grpSp>
      <p:grpSp>
        <p:nvGrpSpPr>
          <p:cNvPr name="Group 22" id="22"/>
          <p:cNvGrpSpPr/>
          <p:nvPr/>
        </p:nvGrpSpPr>
        <p:grpSpPr>
          <a:xfrm rot="0">
            <a:off x="11113569" y="7276668"/>
            <a:ext cx="1980088" cy="1112186"/>
            <a:chOff x="0" y="0"/>
            <a:chExt cx="1099845" cy="617767"/>
          </a:xfrm>
        </p:grpSpPr>
        <p:sp>
          <p:nvSpPr>
            <p:cNvPr name="Freeform 23" id="23"/>
            <p:cNvSpPr/>
            <p:nvPr/>
          </p:nvSpPr>
          <p:spPr>
            <a:xfrm flipH="false" flipV="false" rot="0">
              <a:off x="0" y="0"/>
              <a:ext cx="1099845" cy="617767"/>
            </a:xfrm>
            <a:custGeom>
              <a:avLst/>
              <a:gdLst/>
              <a:ahLst/>
              <a:cxnLst/>
              <a:rect r="r" b="b" t="t" l="l"/>
              <a:pathLst>
                <a:path h="617767" w="1099845">
                  <a:moveTo>
                    <a:pt x="1099845" y="308883"/>
                  </a:moveTo>
                  <a:lnTo>
                    <a:pt x="693445" y="0"/>
                  </a:lnTo>
                  <a:lnTo>
                    <a:pt x="693445" y="203200"/>
                  </a:lnTo>
                  <a:lnTo>
                    <a:pt x="0" y="203200"/>
                  </a:lnTo>
                  <a:lnTo>
                    <a:pt x="0" y="414567"/>
                  </a:lnTo>
                  <a:lnTo>
                    <a:pt x="693445" y="414567"/>
                  </a:lnTo>
                  <a:lnTo>
                    <a:pt x="693445" y="617767"/>
                  </a:lnTo>
                  <a:lnTo>
                    <a:pt x="1099845" y="308883"/>
                  </a:lnTo>
                  <a:close/>
                </a:path>
              </a:pathLst>
            </a:custGeom>
            <a:solidFill>
              <a:srgbClr val="8D0000"/>
            </a:solidFill>
          </p:spPr>
        </p:sp>
        <p:sp>
          <p:nvSpPr>
            <p:cNvPr name="TextBox 24" id="24"/>
            <p:cNvSpPr txBox="true"/>
            <p:nvPr/>
          </p:nvSpPr>
          <p:spPr>
            <a:xfrm>
              <a:off x="0" y="155575"/>
              <a:ext cx="998245" cy="258992"/>
            </a:xfrm>
            <a:prstGeom prst="rect">
              <a:avLst/>
            </a:prstGeom>
          </p:spPr>
          <p:txBody>
            <a:bodyPr anchor="ctr" rtlCol="false" tIns="50800" lIns="50800" bIns="50800" rIns="50800"/>
            <a:lstStyle/>
            <a:p>
              <a:pPr algn="ctr">
                <a:lnSpc>
                  <a:spcPts val="3254"/>
                </a:lnSpc>
              </a:pPr>
            </a:p>
          </p:txBody>
        </p:sp>
      </p:grpSp>
      <p:sp>
        <p:nvSpPr>
          <p:cNvPr name="Freeform 25" id="25"/>
          <p:cNvSpPr/>
          <p:nvPr/>
        </p:nvSpPr>
        <p:spPr>
          <a:xfrm flipH="false" flipV="false" rot="0">
            <a:off x="7542866" y="6546974"/>
            <a:ext cx="3394968" cy="3683759"/>
          </a:xfrm>
          <a:custGeom>
            <a:avLst/>
            <a:gdLst/>
            <a:ahLst/>
            <a:cxnLst/>
            <a:rect r="r" b="b" t="t" l="l"/>
            <a:pathLst>
              <a:path h="3683759" w="3394968">
                <a:moveTo>
                  <a:pt x="0" y="0"/>
                </a:moveTo>
                <a:lnTo>
                  <a:pt x="3394968" y="0"/>
                </a:lnTo>
                <a:lnTo>
                  <a:pt x="3394968" y="3683759"/>
                </a:lnTo>
                <a:lnTo>
                  <a:pt x="0" y="3683759"/>
                </a:lnTo>
                <a:lnTo>
                  <a:pt x="0" y="0"/>
                </a:lnTo>
                <a:close/>
              </a:path>
            </a:pathLst>
          </a:custGeom>
          <a:blipFill>
            <a:blip r:embed="rId6"/>
            <a:stretch>
              <a:fillRect l="-686" t="-3806" r="-686" b="0"/>
            </a:stretch>
          </a:blipFill>
        </p:spPr>
      </p:sp>
      <p:sp>
        <p:nvSpPr>
          <p:cNvPr name="Freeform 26" id="26"/>
          <p:cNvSpPr/>
          <p:nvPr/>
        </p:nvSpPr>
        <p:spPr>
          <a:xfrm flipH="false" flipV="false" rot="0">
            <a:off x="13703880" y="6546974"/>
            <a:ext cx="3149355" cy="3604684"/>
          </a:xfrm>
          <a:custGeom>
            <a:avLst/>
            <a:gdLst/>
            <a:ahLst/>
            <a:cxnLst/>
            <a:rect r="r" b="b" t="t" l="l"/>
            <a:pathLst>
              <a:path h="3604684" w="3149355">
                <a:moveTo>
                  <a:pt x="0" y="0"/>
                </a:moveTo>
                <a:lnTo>
                  <a:pt x="3149355" y="0"/>
                </a:lnTo>
                <a:lnTo>
                  <a:pt x="3149355" y="3604684"/>
                </a:lnTo>
                <a:lnTo>
                  <a:pt x="0" y="3604684"/>
                </a:lnTo>
                <a:lnTo>
                  <a:pt x="0" y="0"/>
                </a:lnTo>
                <a:close/>
              </a:path>
            </a:pathLst>
          </a:custGeom>
          <a:blipFill>
            <a:blip r:embed="rId7"/>
            <a:stretch>
              <a:fillRect l="0" t="0" r="0" b="0"/>
            </a:stretch>
          </a:blipFill>
        </p:spPr>
      </p:sp>
      <p:sp>
        <p:nvSpPr>
          <p:cNvPr name="TextBox 27" id="27"/>
          <p:cNvSpPr txBox="true"/>
          <p:nvPr/>
        </p:nvSpPr>
        <p:spPr>
          <a:xfrm rot="0">
            <a:off x="3807157" y="234149"/>
            <a:ext cx="11471401" cy="809625"/>
          </a:xfrm>
          <a:prstGeom prst="rect">
            <a:avLst/>
          </a:prstGeom>
        </p:spPr>
        <p:txBody>
          <a:bodyPr anchor="t" rtlCol="false" tIns="0" lIns="0" bIns="0" rIns="0">
            <a:spAutoFit/>
          </a:bodyPr>
          <a:lstStyle/>
          <a:p>
            <a:pPr algn="ctr">
              <a:lnSpc>
                <a:spcPts val="6299"/>
              </a:lnSpc>
            </a:pPr>
            <a:r>
              <a:rPr lang="en-US" b="true" sz="4500" spc="422">
                <a:solidFill>
                  <a:srgbClr val="8D0000"/>
                </a:solidFill>
                <a:latin typeface="Poppins Bold"/>
                <a:ea typeface="Poppins Bold"/>
                <a:cs typeface="Poppins Bold"/>
                <a:sym typeface="Poppins Bold"/>
              </a:rPr>
              <a:t>IMPLÉMENTATION MATLAB</a:t>
            </a:r>
          </a:p>
        </p:txBody>
      </p:sp>
      <p:sp>
        <p:nvSpPr>
          <p:cNvPr name="TextBox 28" id="28"/>
          <p:cNvSpPr txBox="true"/>
          <p:nvPr/>
        </p:nvSpPr>
        <p:spPr>
          <a:xfrm rot="0">
            <a:off x="1757576" y="1409098"/>
            <a:ext cx="2987080" cy="44132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Poppins"/>
                <a:ea typeface="Poppins"/>
                <a:cs typeface="Poppins"/>
                <a:sym typeface="Poppins"/>
              </a:rPr>
              <a:t>Image synthétique</a:t>
            </a:r>
          </a:p>
        </p:txBody>
      </p:sp>
      <p:sp>
        <p:nvSpPr>
          <p:cNvPr name="TextBox 29" id="29"/>
          <p:cNvSpPr txBox="true"/>
          <p:nvPr/>
        </p:nvSpPr>
        <p:spPr>
          <a:xfrm rot="0">
            <a:off x="13979427" y="1143000"/>
            <a:ext cx="2987080" cy="8794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Poppins"/>
                <a:ea typeface="Poppins"/>
                <a:cs typeface="Poppins"/>
                <a:sym typeface="Poppins"/>
              </a:rPr>
              <a:t>Affinage des centres</a:t>
            </a:r>
          </a:p>
        </p:txBody>
      </p:sp>
      <p:sp>
        <p:nvSpPr>
          <p:cNvPr name="TextBox 30" id="30"/>
          <p:cNvSpPr txBox="true"/>
          <p:nvPr/>
        </p:nvSpPr>
        <p:spPr>
          <a:xfrm rot="0">
            <a:off x="7748729" y="1245568"/>
            <a:ext cx="2987080" cy="87947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Poppins"/>
                <a:ea typeface="Poppins"/>
                <a:cs typeface="Poppins"/>
                <a:sym typeface="Poppins"/>
              </a:rPr>
              <a:t>Initialisation des centres</a:t>
            </a:r>
          </a:p>
        </p:txBody>
      </p:sp>
      <p:sp>
        <p:nvSpPr>
          <p:cNvPr name="TextBox 31" id="31"/>
          <p:cNvSpPr txBox="true"/>
          <p:nvPr/>
        </p:nvSpPr>
        <p:spPr>
          <a:xfrm rot="0">
            <a:off x="1652988" y="5695523"/>
            <a:ext cx="3447536" cy="891718"/>
          </a:xfrm>
          <a:prstGeom prst="rect">
            <a:avLst/>
          </a:prstGeom>
        </p:spPr>
        <p:txBody>
          <a:bodyPr anchor="t" rtlCol="false" tIns="0" lIns="0" bIns="0" rIns="0">
            <a:spAutoFit/>
          </a:bodyPr>
          <a:lstStyle/>
          <a:p>
            <a:pPr algn="ctr">
              <a:lnSpc>
                <a:spcPts val="3511"/>
              </a:lnSpc>
            </a:pPr>
            <a:r>
              <a:rPr lang="en-US" sz="2508">
                <a:solidFill>
                  <a:srgbClr val="000000"/>
                </a:solidFill>
                <a:latin typeface="Poppins"/>
                <a:ea typeface="Poppins"/>
                <a:cs typeface="Poppins"/>
                <a:sym typeface="Poppins"/>
              </a:rPr>
              <a:t>Calcul de la distance </a:t>
            </a:r>
          </a:p>
          <a:p>
            <a:pPr algn="ctr">
              <a:lnSpc>
                <a:spcPts val="3511"/>
              </a:lnSpc>
              <a:spcBef>
                <a:spcPct val="0"/>
              </a:spcBef>
            </a:pPr>
            <a:r>
              <a:rPr lang="en-US" sz="2508">
                <a:solidFill>
                  <a:srgbClr val="000000"/>
                </a:solidFill>
                <a:latin typeface="Poppins"/>
                <a:ea typeface="Poppins"/>
                <a:cs typeface="Poppins"/>
                <a:sym typeface="Poppins"/>
              </a:rPr>
              <a:t>jusqu’a  convergence</a:t>
            </a:r>
          </a:p>
        </p:txBody>
      </p:sp>
      <p:sp>
        <p:nvSpPr>
          <p:cNvPr name="TextBox 32" id="32"/>
          <p:cNvSpPr txBox="true"/>
          <p:nvPr/>
        </p:nvSpPr>
        <p:spPr>
          <a:xfrm rot="0">
            <a:off x="7621810" y="5951886"/>
            <a:ext cx="3157339" cy="44132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Poppins"/>
                <a:ea typeface="Poppins"/>
                <a:cs typeface="Poppins"/>
                <a:sym typeface="Poppins"/>
              </a:rPr>
              <a:t>Pour K=500 &amp; m=10 </a:t>
            </a:r>
          </a:p>
        </p:txBody>
      </p:sp>
      <p:sp>
        <p:nvSpPr>
          <p:cNvPr name="TextBox 33" id="33"/>
          <p:cNvSpPr txBox="true"/>
          <p:nvPr/>
        </p:nvSpPr>
        <p:spPr>
          <a:xfrm rot="0">
            <a:off x="13639764" y="5951886"/>
            <a:ext cx="3130649" cy="44132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Poppins"/>
                <a:ea typeface="Poppins"/>
                <a:cs typeface="Poppins"/>
                <a:sym typeface="Poppins"/>
              </a:rPr>
              <a:t>Pour k=1200 &amp; m=10</a:t>
            </a:r>
          </a:p>
        </p:txBody>
      </p:sp>
      <p:sp>
        <p:nvSpPr>
          <p:cNvPr name="TextBox 34" id="34"/>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84952" y="7037186"/>
            <a:ext cx="7970054" cy="2221114"/>
            <a:chOff x="0" y="0"/>
            <a:chExt cx="10626739" cy="2961485"/>
          </a:xfrm>
        </p:grpSpPr>
        <p:pic>
          <p:nvPicPr>
            <p:cNvPr name="Picture 3" id="3"/>
            <p:cNvPicPr>
              <a:picLocks noChangeAspect="true"/>
            </p:cNvPicPr>
            <p:nvPr/>
          </p:nvPicPr>
          <p:blipFill>
            <a:blip r:embed="rId2"/>
            <a:srcRect l="0" t="7174" r="0" b="7174"/>
            <a:stretch>
              <a:fillRect/>
            </a:stretch>
          </p:blipFill>
          <p:spPr>
            <a:xfrm flipH="false" flipV="false">
              <a:off x="0" y="0"/>
              <a:ext cx="3457580" cy="2961485"/>
            </a:xfrm>
            <a:prstGeom prst="rect">
              <a:avLst/>
            </a:prstGeom>
          </p:spPr>
        </p:pic>
        <p:pic>
          <p:nvPicPr>
            <p:cNvPr name="Picture 4" id="4"/>
            <p:cNvPicPr>
              <a:picLocks noChangeAspect="true"/>
            </p:cNvPicPr>
            <p:nvPr/>
          </p:nvPicPr>
          <p:blipFill>
            <a:blip r:embed="rId3"/>
            <a:srcRect l="0" t="7174" r="0" b="7174"/>
            <a:stretch>
              <a:fillRect/>
            </a:stretch>
          </p:blipFill>
          <p:spPr>
            <a:xfrm flipH="false" flipV="false">
              <a:off x="3584580" y="0"/>
              <a:ext cx="3457580" cy="2961485"/>
            </a:xfrm>
            <a:prstGeom prst="rect">
              <a:avLst/>
            </a:prstGeom>
          </p:spPr>
        </p:pic>
        <p:pic>
          <p:nvPicPr>
            <p:cNvPr name="Picture 5" id="5"/>
            <p:cNvPicPr>
              <a:picLocks noChangeAspect="true"/>
            </p:cNvPicPr>
            <p:nvPr/>
          </p:nvPicPr>
          <p:blipFill>
            <a:blip r:embed="rId4"/>
            <a:srcRect l="0" t="7174" r="0" b="7174"/>
            <a:stretch>
              <a:fillRect/>
            </a:stretch>
          </p:blipFill>
          <p:spPr>
            <a:xfrm flipH="false" flipV="false">
              <a:off x="7169159" y="0"/>
              <a:ext cx="3457580" cy="2961485"/>
            </a:xfrm>
            <a:prstGeom prst="rect">
              <a:avLst/>
            </a:prstGeom>
          </p:spPr>
        </p:pic>
      </p:grpSp>
      <p:grpSp>
        <p:nvGrpSpPr>
          <p:cNvPr name="Group 6" id="6"/>
          <p:cNvGrpSpPr/>
          <p:nvPr/>
        </p:nvGrpSpPr>
        <p:grpSpPr>
          <a:xfrm rot="-476095">
            <a:off x="-731573" y="2709409"/>
            <a:ext cx="4274843" cy="3901570"/>
            <a:chOff x="0" y="0"/>
            <a:chExt cx="1125884" cy="1027574"/>
          </a:xfrm>
        </p:grpSpPr>
        <p:sp>
          <p:nvSpPr>
            <p:cNvPr name="Freeform 7" id="7"/>
            <p:cNvSpPr/>
            <p:nvPr/>
          </p:nvSpPr>
          <p:spPr>
            <a:xfrm flipH="false" flipV="false" rot="0">
              <a:off x="0" y="0"/>
              <a:ext cx="1125884" cy="1027574"/>
            </a:xfrm>
            <a:custGeom>
              <a:avLst/>
              <a:gdLst/>
              <a:ahLst/>
              <a:cxnLst/>
              <a:rect r="r" b="b" t="t" l="l"/>
              <a:pathLst>
                <a:path h="1027574" w="1125884">
                  <a:moveTo>
                    <a:pt x="47087" y="0"/>
                  </a:moveTo>
                  <a:lnTo>
                    <a:pt x="1078797" y="0"/>
                  </a:lnTo>
                  <a:cubicBezTo>
                    <a:pt x="1104803" y="0"/>
                    <a:pt x="1125884" y="21082"/>
                    <a:pt x="1125884" y="47087"/>
                  </a:cubicBezTo>
                  <a:lnTo>
                    <a:pt x="1125884" y="980487"/>
                  </a:lnTo>
                  <a:cubicBezTo>
                    <a:pt x="1125884" y="992975"/>
                    <a:pt x="1120924" y="1004952"/>
                    <a:pt x="1112093" y="1013782"/>
                  </a:cubicBezTo>
                  <a:cubicBezTo>
                    <a:pt x="1103262" y="1022613"/>
                    <a:pt x="1091286" y="1027574"/>
                    <a:pt x="1078797" y="1027574"/>
                  </a:cubicBezTo>
                  <a:lnTo>
                    <a:pt x="47087" y="1027574"/>
                  </a:lnTo>
                  <a:cubicBezTo>
                    <a:pt x="21082" y="1027574"/>
                    <a:pt x="0" y="1006492"/>
                    <a:pt x="0" y="980487"/>
                  </a:cubicBezTo>
                  <a:lnTo>
                    <a:pt x="0" y="47087"/>
                  </a:lnTo>
                  <a:cubicBezTo>
                    <a:pt x="0" y="21082"/>
                    <a:pt x="21082" y="0"/>
                    <a:pt x="47087" y="0"/>
                  </a:cubicBezTo>
                  <a:close/>
                </a:path>
              </a:pathLst>
            </a:custGeom>
            <a:solidFill>
              <a:srgbClr val="FFCFCF"/>
            </a:solidFill>
          </p:spPr>
        </p:sp>
        <p:sp>
          <p:nvSpPr>
            <p:cNvPr name="TextBox 8" id="8"/>
            <p:cNvSpPr txBox="true"/>
            <p:nvPr/>
          </p:nvSpPr>
          <p:spPr>
            <a:xfrm>
              <a:off x="0" y="-47625"/>
              <a:ext cx="1125884" cy="1075199"/>
            </a:xfrm>
            <a:prstGeom prst="rect">
              <a:avLst/>
            </a:prstGeom>
          </p:spPr>
          <p:txBody>
            <a:bodyPr anchor="ctr" rtlCol="false" tIns="50800" lIns="50800" bIns="50800" rIns="50800"/>
            <a:lstStyle/>
            <a:p>
              <a:pPr algn="ctr">
                <a:lnSpc>
                  <a:spcPts val="3254"/>
                </a:lnSpc>
              </a:pPr>
            </a:p>
          </p:txBody>
        </p:sp>
      </p:grpSp>
      <p:grpSp>
        <p:nvGrpSpPr>
          <p:cNvPr name="Group 9" id="9"/>
          <p:cNvGrpSpPr/>
          <p:nvPr/>
        </p:nvGrpSpPr>
        <p:grpSpPr>
          <a:xfrm rot="824359">
            <a:off x="16045488" y="2224461"/>
            <a:ext cx="4095327" cy="3953092"/>
            <a:chOff x="0" y="0"/>
            <a:chExt cx="1078605" cy="1041144"/>
          </a:xfrm>
        </p:grpSpPr>
        <p:sp>
          <p:nvSpPr>
            <p:cNvPr name="Freeform 10" id="10"/>
            <p:cNvSpPr/>
            <p:nvPr/>
          </p:nvSpPr>
          <p:spPr>
            <a:xfrm flipH="false" flipV="false" rot="0">
              <a:off x="0" y="0"/>
              <a:ext cx="1078605" cy="1041144"/>
            </a:xfrm>
            <a:custGeom>
              <a:avLst/>
              <a:gdLst/>
              <a:ahLst/>
              <a:cxnLst/>
              <a:rect r="r" b="b" t="t" l="l"/>
              <a:pathLst>
                <a:path h="1041144" w="1078605">
                  <a:moveTo>
                    <a:pt x="49151" y="0"/>
                  </a:moveTo>
                  <a:lnTo>
                    <a:pt x="1029454" y="0"/>
                  </a:lnTo>
                  <a:cubicBezTo>
                    <a:pt x="1056599" y="0"/>
                    <a:pt x="1078605" y="22006"/>
                    <a:pt x="1078605" y="49151"/>
                  </a:cubicBezTo>
                  <a:lnTo>
                    <a:pt x="1078605" y="991992"/>
                  </a:lnTo>
                  <a:cubicBezTo>
                    <a:pt x="1078605" y="1005028"/>
                    <a:pt x="1073426" y="1017530"/>
                    <a:pt x="1064209" y="1026748"/>
                  </a:cubicBezTo>
                  <a:cubicBezTo>
                    <a:pt x="1054991" y="1035965"/>
                    <a:pt x="1042489" y="1041144"/>
                    <a:pt x="1029454" y="1041144"/>
                  </a:cubicBezTo>
                  <a:lnTo>
                    <a:pt x="49151" y="1041144"/>
                  </a:lnTo>
                  <a:cubicBezTo>
                    <a:pt x="36115" y="1041144"/>
                    <a:pt x="23614" y="1035965"/>
                    <a:pt x="14396" y="1026748"/>
                  </a:cubicBezTo>
                  <a:cubicBezTo>
                    <a:pt x="5178" y="1017530"/>
                    <a:pt x="0" y="1005028"/>
                    <a:pt x="0" y="991992"/>
                  </a:cubicBezTo>
                  <a:lnTo>
                    <a:pt x="0" y="49151"/>
                  </a:lnTo>
                  <a:cubicBezTo>
                    <a:pt x="0" y="36115"/>
                    <a:pt x="5178" y="23614"/>
                    <a:pt x="14396" y="14396"/>
                  </a:cubicBezTo>
                  <a:cubicBezTo>
                    <a:pt x="23614" y="5178"/>
                    <a:pt x="36115" y="0"/>
                    <a:pt x="49151" y="0"/>
                  </a:cubicBezTo>
                  <a:close/>
                </a:path>
              </a:pathLst>
            </a:custGeom>
            <a:solidFill>
              <a:srgbClr val="997A7A">
                <a:alpha val="21961"/>
              </a:srgbClr>
            </a:solidFill>
          </p:spPr>
        </p:sp>
        <p:sp>
          <p:nvSpPr>
            <p:cNvPr name="TextBox 11" id="11"/>
            <p:cNvSpPr txBox="true"/>
            <p:nvPr/>
          </p:nvSpPr>
          <p:spPr>
            <a:xfrm>
              <a:off x="0" y="-47625"/>
              <a:ext cx="1078605" cy="1088769"/>
            </a:xfrm>
            <a:prstGeom prst="rect">
              <a:avLst/>
            </a:prstGeom>
          </p:spPr>
          <p:txBody>
            <a:bodyPr anchor="ctr" rtlCol="false" tIns="50800" lIns="50800" bIns="50800" rIns="50800"/>
            <a:lstStyle/>
            <a:p>
              <a:pPr algn="ctr">
                <a:lnSpc>
                  <a:spcPts val="3254"/>
                </a:lnSpc>
              </a:pPr>
            </a:p>
          </p:txBody>
        </p:sp>
      </p:grpSp>
      <p:grpSp>
        <p:nvGrpSpPr>
          <p:cNvPr name="Group 12" id="12"/>
          <p:cNvGrpSpPr/>
          <p:nvPr/>
        </p:nvGrpSpPr>
        <p:grpSpPr>
          <a:xfrm rot="0">
            <a:off x="1947584" y="1403926"/>
            <a:ext cx="13402205" cy="2133028"/>
            <a:chOff x="0" y="0"/>
            <a:chExt cx="17869607" cy="2844037"/>
          </a:xfrm>
        </p:grpSpPr>
        <p:pic>
          <p:nvPicPr>
            <p:cNvPr name="Picture 13" id="13"/>
            <p:cNvPicPr>
              <a:picLocks noChangeAspect="true"/>
            </p:cNvPicPr>
            <p:nvPr/>
          </p:nvPicPr>
          <p:blipFill>
            <a:blip r:embed="rId5"/>
            <a:srcRect l="0" t="1448" r="0" b="1448"/>
            <a:stretch>
              <a:fillRect/>
            </a:stretch>
          </p:blipFill>
          <p:spPr>
            <a:xfrm flipH="false" flipV="false">
              <a:off x="0" y="0"/>
              <a:ext cx="4388736" cy="2844037"/>
            </a:xfrm>
            <a:prstGeom prst="rect">
              <a:avLst/>
            </a:prstGeom>
          </p:spPr>
        </p:pic>
        <p:pic>
          <p:nvPicPr>
            <p:cNvPr name="Picture 14" id="14"/>
            <p:cNvPicPr>
              <a:picLocks noChangeAspect="true"/>
            </p:cNvPicPr>
            <p:nvPr/>
          </p:nvPicPr>
          <p:blipFill>
            <a:blip r:embed="rId6"/>
            <a:srcRect l="0" t="1448" r="0" b="1448"/>
            <a:stretch>
              <a:fillRect/>
            </a:stretch>
          </p:blipFill>
          <p:spPr>
            <a:xfrm flipH="false" flipV="false">
              <a:off x="4493624" y="0"/>
              <a:ext cx="4388736" cy="2844037"/>
            </a:xfrm>
            <a:prstGeom prst="rect">
              <a:avLst/>
            </a:prstGeom>
          </p:spPr>
        </p:pic>
        <p:pic>
          <p:nvPicPr>
            <p:cNvPr name="Picture 15" id="15"/>
            <p:cNvPicPr>
              <a:picLocks noChangeAspect="true"/>
            </p:cNvPicPr>
            <p:nvPr/>
          </p:nvPicPr>
          <p:blipFill>
            <a:blip r:embed="rId7"/>
            <a:srcRect l="0" t="1448" r="0" b="1448"/>
            <a:stretch>
              <a:fillRect/>
            </a:stretch>
          </p:blipFill>
          <p:spPr>
            <a:xfrm flipH="false" flipV="false">
              <a:off x="8987247" y="0"/>
              <a:ext cx="4388736" cy="2844037"/>
            </a:xfrm>
            <a:prstGeom prst="rect">
              <a:avLst/>
            </a:prstGeom>
          </p:spPr>
        </p:pic>
        <p:pic>
          <p:nvPicPr>
            <p:cNvPr name="Picture 16" id="16"/>
            <p:cNvPicPr>
              <a:picLocks noChangeAspect="true"/>
            </p:cNvPicPr>
            <p:nvPr/>
          </p:nvPicPr>
          <p:blipFill>
            <a:blip r:embed="rId8"/>
            <a:srcRect l="0" t="1448" r="0" b="1448"/>
            <a:stretch>
              <a:fillRect/>
            </a:stretch>
          </p:blipFill>
          <p:spPr>
            <a:xfrm flipH="false" flipV="false">
              <a:off x="13480871" y="0"/>
              <a:ext cx="4388736" cy="2844037"/>
            </a:xfrm>
            <a:prstGeom prst="rect">
              <a:avLst/>
            </a:prstGeom>
          </p:spPr>
        </p:pic>
      </p:grpSp>
      <p:sp>
        <p:nvSpPr>
          <p:cNvPr name="Freeform 17" id="17"/>
          <p:cNvSpPr/>
          <p:nvPr/>
        </p:nvSpPr>
        <p:spPr>
          <a:xfrm flipH="false" flipV="false" rot="0">
            <a:off x="16673738" y="811134"/>
            <a:ext cx="585562" cy="482914"/>
          </a:xfrm>
          <a:custGeom>
            <a:avLst/>
            <a:gdLst/>
            <a:ahLst/>
            <a:cxnLst/>
            <a:rect r="r" b="b" t="t" l="l"/>
            <a:pathLst>
              <a:path h="482914" w="585562">
                <a:moveTo>
                  <a:pt x="0" y="0"/>
                </a:moveTo>
                <a:lnTo>
                  <a:pt x="585562" y="0"/>
                </a:lnTo>
                <a:lnTo>
                  <a:pt x="585562" y="482913"/>
                </a:lnTo>
                <a:lnTo>
                  <a:pt x="0" y="48291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8" id="18"/>
          <p:cNvGrpSpPr/>
          <p:nvPr/>
        </p:nvGrpSpPr>
        <p:grpSpPr>
          <a:xfrm rot="0">
            <a:off x="1947584" y="3642483"/>
            <a:ext cx="13402205" cy="2133028"/>
            <a:chOff x="0" y="0"/>
            <a:chExt cx="17869607" cy="2844037"/>
          </a:xfrm>
        </p:grpSpPr>
        <p:pic>
          <p:nvPicPr>
            <p:cNvPr name="Picture 19" id="19"/>
            <p:cNvPicPr>
              <a:picLocks noChangeAspect="true"/>
            </p:cNvPicPr>
            <p:nvPr/>
          </p:nvPicPr>
          <p:blipFill>
            <a:blip r:embed="rId11"/>
            <a:srcRect l="0" t="0" r="0" b="2896"/>
            <a:stretch>
              <a:fillRect/>
            </a:stretch>
          </p:blipFill>
          <p:spPr>
            <a:xfrm flipH="false" flipV="false">
              <a:off x="0" y="0"/>
              <a:ext cx="4388736" cy="2844037"/>
            </a:xfrm>
            <a:prstGeom prst="rect">
              <a:avLst/>
            </a:prstGeom>
          </p:spPr>
        </p:pic>
        <p:pic>
          <p:nvPicPr>
            <p:cNvPr name="Picture 20" id="20"/>
            <p:cNvPicPr>
              <a:picLocks noChangeAspect="true"/>
            </p:cNvPicPr>
            <p:nvPr/>
          </p:nvPicPr>
          <p:blipFill>
            <a:blip r:embed="rId12"/>
            <a:srcRect l="0" t="1448" r="0" b="1448"/>
            <a:stretch>
              <a:fillRect/>
            </a:stretch>
          </p:blipFill>
          <p:spPr>
            <a:xfrm flipH="false" flipV="false">
              <a:off x="4493624" y="0"/>
              <a:ext cx="4388736" cy="2844037"/>
            </a:xfrm>
            <a:prstGeom prst="rect">
              <a:avLst/>
            </a:prstGeom>
          </p:spPr>
        </p:pic>
        <p:pic>
          <p:nvPicPr>
            <p:cNvPr name="Picture 21" id="21"/>
            <p:cNvPicPr>
              <a:picLocks noChangeAspect="true"/>
            </p:cNvPicPr>
            <p:nvPr/>
          </p:nvPicPr>
          <p:blipFill>
            <a:blip r:embed="rId13"/>
            <a:srcRect l="0" t="1448" r="0" b="1448"/>
            <a:stretch>
              <a:fillRect/>
            </a:stretch>
          </p:blipFill>
          <p:spPr>
            <a:xfrm flipH="false" flipV="false">
              <a:off x="8987247" y="0"/>
              <a:ext cx="4388736" cy="2844037"/>
            </a:xfrm>
            <a:prstGeom prst="rect">
              <a:avLst/>
            </a:prstGeom>
          </p:spPr>
        </p:pic>
        <p:pic>
          <p:nvPicPr>
            <p:cNvPr name="Picture 22" id="22"/>
            <p:cNvPicPr>
              <a:picLocks noChangeAspect="true"/>
            </p:cNvPicPr>
            <p:nvPr/>
          </p:nvPicPr>
          <p:blipFill>
            <a:blip r:embed="rId14"/>
            <a:srcRect l="0" t="1448" r="0" b="1448"/>
            <a:stretch>
              <a:fillRect/>
            </a:stretch>
          </p:blipFill>
          <p:spPr>
            <a:xfrm flipH="false" flipV="false">
              <a:off x="13480871" y="0"/>
              <a:ext cx="4388736" cy="2844037"/>
            </a:xfrm>
            <a:prstGeom prst="rect">
              <a:avLst/>
            </a:prstGeom>
          </p:spPr>
        </p:pic>
      </p:grpSp>
      <p:grpSp>
        <p:nvGrpSpPr>
          <p:cNvPr name="Group 23" id="23"/>
          <p:cNvGrpSpPr/>
          <p:nvPr/>
        </p:nvGrpSpPr>
        <p:grpSpPr>
          <a:xfrm rot="0">
            <a:off x="14476744" y="0"/>
            <a:ext cx="5565113" cy="672181"/>
            <a:chOff x="0" y="0"/>
            <a:chExt cx="1465709" cy="177035"/>
          </a:xfrm>
        </p:grpSpPr>
        <p:sp>
          <p:nvSpPr>
            <p:cNvPr name="Freeform 24" id="24"/>
            <p:cNvSpPr/>
            <p:nvPr/>
          </p:nvSpPr>
          <p:spPr>
            <a:xfrm flipH="false" flipV="false" rot="0">
              <a:off x="0" y="0"/>
              <a:ext cx="1465709" cy="177035"/>
            </a:xfrm>
            <a:custGeom>
              <a:avLst/>
              <a:gdLst/>
              <a:ahLst/>
              <a:cxnLst/>
              <a:rect r="r" b="b" t="t" l="l"/>
              <a:pathLst>
                <a:path h="177035" w="1465709">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D0000"/>
            </a:solidFill>
          </p:spPr>
        </p:sp>
        <p:sp>
          <p:nvSpPr>
            <p:cNvPr name="TextBox 25" id="25"/>
            <p:cNvSpPr txBox="true"/>
            <p:nvPr/>
          </p:nvSpPr>
          <p:spPr>
            <a:xfrm>
              <a:off x="0" y="-333375"/>
              <a:ext cx="1465709" cy="510410"/>
            </a:xfrm>
            <a:prstGeom prst="rect">
              <a:avLst/>
            </a:prstGeom>
          </p:spPr>
          <p:txBody>
            <a:bodyPr anchor="ctr" rtlCol="false" tIns="50800" lIns="50800" bIns="50800" rIns="50800"/>
            <a:lstStyle/>
            <a:p>
              <a:pPr algn="ctr">
                <a:lnSpc>
                  <a:spcPts val="6249"/>
                </a:lnSpc>
              </a:pPr>
            </a:p>
          </p:txBody>
        </p:sp>
      </p:grpSp>
      <p:sp>
        <p:nvSpPr>
          <p:cNvPr name="Freeform 26" id="26"/>
          <p:cNvSpPr/>
          <p:nvPr/>
        </p:nvSpPr>
        <p:spPr>
          <a:xfrm flipH="false" flipV="false" rot="0">
            <a:off x="9661553" y="6432065"/>
            <a:ext cx="4249244" cy="2977047"/>
          </a:xfrm>
          <a:custGeom>
            <a:avLst/>
            <a:gdLst/>
            <a:ahLst/>
            <a:cxnLst/>
            <a:rect r="r" b="b" t="t" l="l"/>
            <a:pathLst>
              <a:path h="2977047" w="4249244">
                <a:moveTo>
                  <a:pt x="0" y="0"/>
                </a:moveTo>
                <a:lnTo>
                  <a:pt x="4249245" y="0"/>
                </a:lnTo>
                <a:lnTo>
                  <a:pt x="4249245" y="2977047"/>
                </a:lnTo>
                <a:lnTo>
                  <a:pt x="0" y="2977047"/>
                </a:lnTo>
                <a:lnTo>
                  <a:pt x="0" y="0"/>
                </a:lnTo>
                <a:close/>
              </a:path>
            </a:pathLst>
          </a:custGeom>
          <a:blipFill>
            <a:blip r:embed="rId15"/>
            <a:stretch>
              <a:fillRect l="-582" t="-2371" r="-4120" b="0"/>
            </a:stretch>
          </a:blipFill>
        </p:spPr>
      </p:sp>
      <p:sp>
        <p:nvSpPr>
          <p:cNvPr name="Freeform 27" id="27"/>
          <p:cNvSpPr/>
          <p:nvPr/>
        </p:nvSpPr>
        <p:spPr>
          <a:xfrm flipH="false" flipV="false" rot="0">
            <a:off x="14179750" y="6451786"/>
            <a:ext cx="3788898" cy="3050989"/>
          </a:xfrm>
          <a:custGeom>
            <a:avLst/>
            <a:gdLst/>
            <a:ahLst/>
            <a:cxnLst/>
            <a:rect r="r" b="b" t="t" l="l"/>
            <a:pathLst>
              <a:path h="3050989" w="3788898">
                <a:moveTo>
                  <a:pt x="0" y="0"/>
                </a:moveTo>
                <a:lnTo>
                  <a:pt x="3788898" y="0"/>
                </a:lnTo>
                <a:lnTo>
                  <a:pt x="3788898" y="3050989"/>
                </a:lnTo>
                <a:lnTo>
                  <a:pt x="0" y="3050989"/>
                </a:lnTo>
                <a:lnTo>
                  <a:pt x="0" y="0"/>
                </a:lnTo>
                <a:close/>
              </a:path>
            </a:pathLst>
          </a:custGeom>
          <a:blipFill>
            <a:blip r:embed="rId16"/>
            <a:stretch>
              <a:fillRect l="-2783" t="0" r="-12870" b="0"/>
            </a:stretch>
          </a:blipFill>
        </p:spPr>
      </p:sp>
      <p:sp>
        <p:nvSpPr>
          <p:cNvPr name="TextBox 28" id="28"/>
          <p:cNvSpPr txBox="true"/>
          <p:nvPr/>
        </p:nvSpPr>
        <p:spPr>
          <a:xfrm rot="0">
            <a:off x="575836" y="266306"/>
            <a:ext cx="5814311" cy="720090"/>
          </a:xfrm>
          <a:prstGeom prst="rect">
            <a:avLst/>
          </a:prstGeom>
        </p:spPr>
        <p:txBody>
          <a:bodyPr anchor="t" rtlCol="false" tIns="0" lIns="0" bIns="0" rIns="0">
            <a:spAutoFit/>
          </a:bodyPr>
          <a:lstStyle/>
          <a:p>
            <a:pPr algn="l">
              <a:lnSpc>
                <a:spcPts val="4905"/>
              </a:lnSpc>
            </a:pPr>
            <a:r>
              <a:rPr lang="en-US" sz="4500" b="true">
                <a:solidFill>
                  <a:srgbClr val="8D0000"/>
                </a:solidFill>
                <a:latin typeface="Codec Pro Bold"/>
                <a:ea typeface="Codec Pro Bold"/>
                <a:cs typeface="Codec Pro Bold"/>
                <a:sym typeface="Codec Pro Bold"/>
              </a:rPr>
              <a:t>DATASET UTILISÉS</a:t>
            </a:r>
          </a:p>
        </p:txBody>
      </p:sp>
      <p:sp>
        <p:nvSpPr>
          <p:cNvPr name="TextBox 29" id="29"/>
          <p:cNvSpPr txBox="true"/>
          <p:nvPr/>
        </p:nvSpPr>
        <p:spPr>
          <a:xfrm rot="0">
            <a:off x="7372640" y="763509"/>
            <a:ext cx="4179689" cy="398149"/>
          </a:xfrm>
          <a:prstGeom prst="rect">
            <a:avLst/>
          </a:prstGeom>
        </p:spPr>
        <p:txBody>
          <a:bodyPr anchor="t" rtlCol="false" tIns="0" lIns="0" bIns="0" rIns="0">
            <a:spAutoFit/>
          </a:bodyPr>
          <a:lstStyle/>
          <a:p>
            <a:pPr algn="ctr">
              <a:lnSpc>
                <a:spcPts val="3254"/>
              </a:lnSpc>
              <a:spcBef>
                <a:spcPct val="0"/>
              </a:spcBef>
            </a:pPr>
            <a:r>
              <a:rPr lang="en-US" b="true" sz="2324">
                <a:solidFill>
                  <a:srgbClr val="000000"/>
                </a:solidFill>
                <a:latin typeface="Open Sans Bold"/>
                <a:ea typeface="Open Sans Bold"/>
                <a:cs typeface="Open Sans Bold"/>
                <a:sym typeface="Open Sans Bold"/>
              </a:rPr>
              <a:t>Da</a:t>
            </a:r>
            <a:r>
              <a:rPr lang="en-US" b="true" sz="2324">
                <a:solidFill>
                  <a:srgbClr val="000000"/>
                </a:solidFill>
                <a:latin typeface="Open Sans Bold"/>
                <a:ea typeface="Open Sans Bold"/>
                <a:cs typeface="Open Sans Bold"/>
                <a:sym typeface="Open Sans Bold"/>
              </a:rPr>
              <a:t>taset 1: Berkeley BSDS500</a:t>
            </a:r>
          </a:p>
        </p:txBody>
      </p:sp>
      <p:sp>
        <p:nvSpPr>
          <p:cNvPr name="TextBox 30" id="30"/>
          <p:cNvSpPr txBox="true"/>
          <p:nvPr/>
        </p:nvSpPr>
        <p:spPr>
          <a:xfrm rot="0">
            <a:off x="3482991" y="6384440"/>
            <a:ext cx="4237534" cy="398149"/>
          </a:xfrm>
          <a:prstGeom prst="rect">
            <a:avLst/>
          </a:prstGeom>
        </p:spPr>
        <p:txBody>
          <a:bodyPr anchor="t" rtlCol="false" tIns="0" lIns="0" bIns="0" rIns="0">
            <a:spAutoFit/>
          </a:bodyPr>
          <a:lstStyle/>
          <a:p>
            <a:pPr algn="ctr">
              <a:lnSpc>
                <a:spcPts val="3254"/>
              </a:lnSpc>
              <a:spcBef>
                <a:spcPct val="0"/>
              </a:spcBef>
            </a:pPr>
            <a:r>
              <a:rPr lang="en-US" b="true" sz="2324">
                <a:solidFill>
                  <a:srgbClr val="000000"/>
                </a:solidFill>
                <a:latin typeface="Open Sans Bold"/>
                <a:ea typeface="Open Sans Bold"/>
                <a:cs typeface="Open Sans Bold"/>
                <a:sym typeface="Open Sans Bold"/>
              </a:rPr>
              <a:t>Da</a:t>
            </a:r>
            <a:r>
              <a:rPr lang="en-US" b="true" sz="2324">
                <a:solidFill>
                  <a:srgbClr val="000000"/>
                </a:solidFill>
                <a:latin typeface="Open Sans Bold"/>
                <a:ea typeface="Open Sans Bold"/>
                <a:cs typeface="Open Sans Bold"/>
                <a:sym typeface="Open Sans Bold"/>
              </a:rPr>
              <a:t>taset 2 : RSUA Chest X-Ray</a:t>
            </a:r>
          </a:p>
        </p:txBody>
      </p:sp>
      <p:sp>
        <p:nvSpPr>
          <p:cNvPr name="TextBox 31" id="31"/>
          <p:cNvSpPr txBox="true"/>
          <p:nvPr/>
        </p:nvSpPr>
        <p:spPr>
          <a:xfrm rot="0">
            <a:off x="9991097" y="5880901"/>
            <a:ext cx="5853897" cy="1217299"/>
          </a:xfrm>
          <a:prstGeom prst="rect">
            <a:avLst/>
          </a:prstGeom>
        </p:spPr>
        <p:txBody>
          <a:bodyPr anchor="t" rtlCol="false" tIns="0" lIns="0" bIns="0" rIns="0">
            <a:spAutoFit/>
          </a:bodyPr>
          <a:lstStyle/>
          <a:p>
            <a:pPr algn="ctr">
              <a:lnSpc>
                <a:spcPts val="3254"/>
              </a:lnSpc>
              <a:spcBef>
                <a:spcPct val="0"/>
              </a:spcBef>
            </a:pPr>
            <a:r>
              <a:rPr lang="en-US" b="true" sz="2324">
                <a:solidFill>
                  <a:srgbClr val="000000"/>
                </a:solidFill>
                <a:latin typeface="Open Sans Bold"/>
                <a:ea typeface="Open Sans Bold"/>
                <a:cs typeface="Open Sans Bold"/>
                <a:sym typeface="Open Sans Bold"/>
              </a:rPr>
              <a:t>Da</a:t>
            </a:r>
            <a:r>
              <a:rPr lang="en-US" b="true" sz="2324">
                <a:solidFill>
                  <a:srgbClr val="000000"/>
                </a:solidFill>
                <a:latin typeface="Open Sans Bold"/>
                <a:ea typeface="Open Sans Bold"/>
                <a:cs typeface="Open Sans Bold"/>
                <a:sym typeface="Open Sans Bold"/>
              </a:rPr>
              <a:t>taset 3 : Imagerie spatiale (Kaggle)</a:t>
            </a:r>
          </a:p>
          <a:p>
            <a:pPr algn="ctr" marL="501937" indent="-250968" lvl="1">
              <a:lnSpc>
                <a:spcPts val="3254"/>
              </a:lnSpc>
              <a:spcBef>
                <a:spcPct val="0"/>
              </a:spcBef>
              <a:buFont typeface="Arial"/>
              <a:buChar char="•"/>
            </a:pPr>
          </a:p>
          <a:p>
            <a:pPr algn="ctr">
              <a:lnSpc>
                <a:spcPts val="3254"/>
              </a:lnSpc>
              <a:spcBef>
                <a:spcPct val="0"/>
              </a:spcBef>
            </a:pPr>
          </a:p>
        </p:txBody>
      </p:sp>
      <p:sp>
        <p:nvSpPr>
          <p:cNvPr name="TextBox 32" id="32"/>
          <p:cNvSpPr txBox="true"/>
          <p:nvPr/>
        </p:nvSpPr>
        <p:spPr>
          <a:xfrm rot="0">
            <a:off x="17849288" y="943610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8</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3503507">
            <a:off x="4815290" y="9220924"/>
            <a:ext cx="5068421" cy="1710448"/>
            <a:chOff x="0" y="0"/>
            <a:chExt cx="1334893" cy="450488"/>
          </a:xfrm>
        </p:grpSpPr>
        <p:sp>
          <p:nvSpPr>
            <p:cNvPr name="Freeform 3" id="3"/>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4" id="4"/>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grpSp>
        <p:nvGrpSpPr>
          <p:cNvPr name="Group 5" id="5"/>
          <p:cNvGrpSpPr/>
          <p:nvPr/>
        </p:nvGrpSpPr>
        <p:grpSpPr>
          <a:xfrm rot="-3503507">
            <a:off x="551042" y="-1554003"/>
            <a:ext cx="5068421" cy="1710448"/>
            <a:chOff x="0" y="0"/>
            <a:chExt cx="1334893" cy="450488"/>
          </a:xfrm>
        </p:grpSpPr>
        <p:sp>
          <p:nvSpPr>
            <p:cNvPr name="Freeform 6" id="6"/>
            <p:cNvSpPr/>
            <p:nvPr/>
          </p:nvSpPr>
          <p:spPr>
            <a:xfrm flipH="false" flipV="false" rot="0">
              <a:off x="0" y="0"/>
              <a:ext cx="1334893" cy="450488"/>
            </a:xfrm>
            <a:custGeom>
              <a:avLst/>
              <a:gdLst/>
              <a:ahLst/>
              <a:cxnLst/>
              <a:rect r="r" b="b" t="t" l="l"/>
              <a:pathLst>
                <a:path h="450488" w="1334893">
                  <a:moveTo>
                    <a:pt x="77902" y="0"/>
                  </a:moveTo>
                  <a:lnTo>
                    <a:pt x="1256991" y="0"/>
                  </a:lnTo>
                  <a:cubicBezTo>
                    <a:pt x="1277652" y="0"/>
                    <a:pt x="1297467" y="8207"/>
                    <a:pt x="1312076" y="22817"/>
                  </a:cubicBezTo>
                  <a:cubicBezTo>
                    <a:pt x="1326685" y="37426"/>
                    <a:pt x="1334893" y="57241"/>
                    <a:pt x="1334893" y="77902"/>
                  </a:cubicBezTo>
                  <a:lnTo>
                    <a:pt x="1334893" y="372587"/>
                  </a:lnTo>
                  <a:cubicBezTo>
                    <a:pt x="1334893" y="393248"/>
                    <a:pt x="1326685" y="413062"/>
                    <a:pt x="1312076" y="427672"/>
                  </a:cubicBezTo>
                  <a:cubicBezTo>
                    <a:pt x="1297467" y="442281"/>
                    <a:pt x="1277652" y="450488"/>
                    <a:pt x="1256991" y="450488"/>
                  </a:cubicBezTo>
                  <a:lnTo>
                    <a:pt x="77902" y="450488"/>
                  </a:lnTo>
                  <a:cubicBezTo>
                    <a:pt x="57241" y="450488"/>
                    <a:pt x="37426" y="442281"/>
                    <a:pt x="22817" y="427672"/>
                  </a:cubicBezTo>
                  <a:cubicBezTo>
                    <a:pt x="8207" y="413062"/>
                    <a:pt x="0" y="393248"/>
                    <a:pt x="0" y="372587"/>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7" id="7"/>
            <p:cNvSpPr txBox="true"/>
            <p:nvPr/>
          </p:nvSpPr>
          <p:spPr>
            <a:xfrm>
              <a:off x="0" y="-333375"/>
              <a:ext cx="1334893" cy="783863"/>
            </a:xfrm>
            <a:prstGeom prst="rect">
              <a:avLst/>
            </a:prstGeom>
          </p:spPr>
          <p:txBody>
            <a:bodyPr anchor="ctr" rtlCol="false" tIns="50800" lIns="50800" bIns="50800" rIns="50800"/>
            <a:lstStyle/>
            <a:p>
              <a:pPr algn="ctr">
                <a:lnSpc>
                  <a:spcPts val="6249"/>
                </a:lnSpc>
              </a:pPr>
            </a:p>
          </p:txBody>
        </p:sp>
      </p:grpSp>
      <p:sp>
        <p:nvSpPr>
          <p:cNvPr name="TextBox 8" id="8"/>
          <p:cNvSpPr txBox="true"/>
          <p:nvPr/>
        </p:nvSpPr>
        <p:spPr>
          <a:xfrm rot="0">
            <a:off x="5476528" y="360804"/>
            <a:ext cx="7798353" cy="647700"/>
          </a:xfrm>
          <a:prstGeom prst="rect">
            <a:avLst/>
          </a:prstGeom>
        </p:spPr>
        <p:txBody>
          <a:bodyPr anchor="t" rtlCol="false" tIns="0" lIns="0" bIns="0" rIns="0">
            <a:spAutoFit/>
          </a:bodyPr>
          <a:lstStyle/>
          <a:p>
            <a:pPr algn="l">
              <a:lnSpc>
                <a:spcPts val="4500"/>
              </a:lnSpc>
            </a:pPr>
            <a:r>
              <a:rPr lang="en-US" sz="4500" b="true">
                <a:solidFill>
                  <a:srgbClr val="8D0000"/>
                </a:solidFill>
                <a:latin typeface="Poppins Bold"/>
                <a:ea typeface="Poppins Bold"/>
                <a:cs typeface="Poppins Bold"/>
                <a:sym typeface="Poppins Bold"/>
              </a:rPr>
              <a:t>MÉTRIQUES D’ÉVALUATION</a:t>
            </a:r>
          </a:p>
        </p:txBody>
      </p:sp>
      <p:grpSp>
        <p:nvGrpSpPr>
          <p:cNvPr name="Group 9" id="9"/>
          <p:cNvGrpSpPr/>
          <p:nvPr/>
        </p:nvGrpSpPr>
        <p:grpSpPr>
          <a:xfrm rot="0">
            <a:off x="931086" y="2821790"/>
            <a:ext cx="1407460" cy="879016"/>
            <a:chOff x="0" y="0"/>
            <a:chExt cx="370689" cy="231510"/>
          </a:xfrm>
        </p:grpSpPr>
        <p:sp>
          <p:nvSpPr>
            <p:cNvPr name="Freeform 10" id="10"/>
            <p:cNvSpPr/>
            <p:nvPr/>
          </p:nvSpPr>
          <p:spPr>
            <a:xfrm flipH="false" flipV="false" rot="0">
              <a:off x="0" y="0"/>
              <a:ext cx="370689" cy="231511"/>
            </a:xfrm>
            <a:custGeom>
              <a:avLst/>
              <a:gdLst/>
              <a:ahLst/>
              <a:cxnLst/>
              <a:rect r="r" b="b" t="t" l="l"/>
              <a:pathLst>
                <a:path h="231511" w="370689">
                  <a:moveTo>
                    <a:pt x="185344" y="0"/>
                  </a:moveTo>
                  <a:cubicBezTo>
                    <a:pt x="82982" y="0"/>
                    <a:pt x="0" y="51825"/>
                    <a:pt x="0" y="115755"/>
                  </a:cubicBezTo>
                  <a:cubicBezTo>
                    <a:pt x="0" y="179685"/>
                    <a:pt x="82982" y="231511"/>
                    <a:pt x="185344" y="231511"/>
                  </a:cubicBezTo>
                  <a:cubicBezTo>
                    <a:pt x="287707" y="231511"/>
                    <a:pt x="370689" y="179685"/>
                    <a:pt x="370689" y="115755"/>
                  </a:cubicBezTo>
                  <a:cubicBezTo>
                    <a:pt x="370689" y="51825"/>
                    <a:pt x="287707" y="0"/>
                    <a:pt x="185344" y="0"/>
                  </a:cubicBezTo>
                  <a:close/>
                </a:path>
              </a:pathLst>
            </a:custGeom>
            <a:solidFill>
              <a:srgbClr val="8D0000"/>
            </a:solidFill>
          </p:spPr>
        </p:sp>
        <p:sp>
          <p:nvSpPr>
            <p:cNvPr name="TextBox 11" id="11"/>
            <p:cNvSpPr txBox="true"/>
            <p:nvPr/>
          </p:nvSpPr>
          <p:spPr>
            <a:xfrm>
              <a:off x="34752" y="-311671"/>
              <a:ext cx="301185" cy="521477"/>
            </a:xfrm>
            <a:prstGeom prst="rect">
              <a:avLst/>
            </a:prstGeom>
          </p:spPr>
          <p:txBody>
            <a:bodyPr anchor="ctr" rtlCol="false" tIns="50800" lIns="50800" bIns="50800" rIns="50800"/>
            <a:lstStyle/>
            <a:p>
              <a:pPr algn="ctr">
                <a:lnSpc>
                  <a:spcPts val="6249"/>
                </a:lnSpc>
              </a:pPr>
              <a:r>
                <a:rPr lang="en-US" sz="2499">
                  <a:solidFill>
                    <a:srgbClr val="FFFFFF"/>
                  </a:solidFill>
                  <a:latin typeface="Poppins"/>
                  <a:ea typeface="Poppins"/>
                  <a:cs typeface="Poppins"/>
                  <a:sym typeface="Poppins"/>
                </a:rPr>
                <a:t>1</a:t>
              </a:r>
            </a:p>
          </p:txBody>
        </p:sp>
      </p:grpSp>
      <p:sp>
        <p:nvSpPr>
          <p:cNvPr name="TextBox 12" id="12"/>
          <p:cNvSpPr txBox="true"/>
          <p:nvPr/>
        </p:nvSpPr>
        <p:spPr>
          <a:xfrm rot="0">
            <a:off x="1982522" y="3007298"/>
            <a:ext cx="4655349"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2B2B2B"/>
                </a:solidFill>
                <a:latin typeface="Poppins Bold"/>
                <a:ea typeface="Poppins Bold"/>
                <a:cs typeface="Poppins Bold"/>
                <a:sym typeface="Poppins Bold"/>
              </a:rPr>
              <a:t>Boundary Recall (BR)</a:t>
            </a:r>
          </a:p>
        </p:txBody>
      </p:sp>
      <p:grpSp>
        <p:nvGrpSpPr>
          <p:cNvPr name="Group 13" id="13"/>
          <p:cNvGrpSpPr/>
          <p:nvPr/>
        </p:nvGrpSpPr>
        <p:grpSpPr>
          <a:xfrm rot="0">
            <a:off x="931086" y="4415372"/>
            <a:ext cx="1407460" cy="879016"/>
            <a:chOff x="0" y="0"/>
            <a:chExt cx="370689" cy="231510"/>
          </a:xfrm>
        </p:grpSpPr>
        <p:sp>
          <p:nvSpPr>
            <p:cNvPr name="Freeform 14" id="14"/>
            <p:cNvSpPr/>
            <p:nvPr/>
          </p:nvSpPr>
          <p:spPr>
            <a:xfrm flipH="false" flipV="false" rot="0">
              <a:off x="0" y="0"/>
              <a:ext cx="370689" cy="231511"/>
            </a:xfrm>
            <a:custGeom>
              <a:avLst/>
              <a:gdLst/>
              <a:ahLst/>
              <a:cxnLst/>
              <a:rect r="r" b="b" t="t" l="l"/>
              <a:pathLst>
                <a:path h="231511" w="370689">
                  <a:moveTo>
                    <a:pt x="185344" y="0"/>
                  </a:moveTo>
                  <a:cubicBezTo>
                    <a:pt x="82982" y="0"/>
                    <a:pt x="0" y="51825"/>
                    <a:pt x="0" y="115755"/>
                  </a:cubicBezTo>
                  <a:cubicBezTo>
                    <a:pt x="0" y="179685"/>
                    <a:pt x="82982" y="231511"/>
                    <a:pt x="185344" y="231511"/>
                  </a:cubicBezTo>
                  <a:cubicBezTo>
                    <a:pt x="287707" y="231511"/>
                    <a:pt x="370689" y="179685"/>
                    <a:pt x="370689" y="115755"/>
                  </a:cubicBezTo>
                  <a:cubicBezTo>
                    <a:pt x="370689" y="51825"/>
                    <a:pt x="287707" y="0"/>
                    <a:pt x="185344" y="0"/>
                  </a:cubicBezTo>
                  <a:close/>
                </a:path>
              </a:pathLst>
            </a:custGeom>
            <a:solidFill>
              <a:srgbClr val="8D0000"/>
            </a:solidFill>
          </p:spPr>
        </p:sp>
        <p:sp>
          <p:nvSpPr>
            <p:cNvPr name="TextBox 15" id="15"/>
            <p:cNvSpPr txBox="true"/>
            <p:nvPr/>
          </p:nvSpPr>
          <p:spPr>
            <a:xfrm>
              <a:off x="34752" y="-311671"/>
              <a:ext cx="301185" cy="521477"/>
            </a:xfrm>
            <a:prstGeom prst="rect">
              <a:avLst/>
            </a:prstGeom>
          </p:spPr>
          <p:txBody>
            <a:bodyPr anchor="ctr" rtlCol="false" tIns="50800" lIns="50800" bIns="50800" rIns="50800"/>
            <a:lstStyle/>
            <a:p>
              <a:pPr algn="ctr">
                <a:lnSpc>
                  <a:spcPts val="6249"/>
                </a:lnSpc>
              </a:pPr>
              <a:r>
                <a:rPr lang="en-US" sz="2499">
                  <a:solidFill>
                    <a:srgbClr val="FFFFFF"/>
                  </a:solidFill>
                  <a:latin typeface="Poppins"/>
                  <a:ea typeface="Poppins"/>
                  <a:cs typeface="Poppins"/>
                  <a:sym typeface="Poppins"/>
                </a:rPr>
                <a:t>2</a:t>
              </a:r>
            </a:p>
          </p:txBody>
        </p:sp>
      </p:grpSp>
      <p:sp>
        <p:nvSpPr>
          <p:cNvPr name="TextBox 16" id="16"/>
          <p:cNvSpPr txBox="true"/>
          <p:nvPr/>
        </p:nvSpPr>
        <p:spPr>
          <a:xfrm rot="0">
            <a:off x="2582607" y="4600880"/>
            <a:ext cx="5118398"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2B2B2B"/>
                </a:solidFill>
                <a:latin typeface="Poppins Bold"/>
                <a:ea typeface="Poppins Bold"/>
                <a:cs typeface="Poppins Bold"/>
                <a:sym typeface="Poppins Bold"/>
              </a:rPr>
              <a:t>Under-Segmentation Error (UE)</a:t>
            </a:r>
          </a:p>
        </p:txBody>
      </p:sp>
      <p:grpSp>
        <p:nvGrpSpPr>
          <p:cNvPr name="Group 17" id="17"/>
          <p:cNvGrpSpPr/>
          <p:nvPr/>
        </p:nvGrpSpPr>
        <p:grpSpPr>
          <a:xfrm rot="0">
            <a:off x="1028700" y="6028363"/>
            <a:ext cx="1407460" cy="879016"/>
            <a:chOff x="0" y="0"/>
            <a:chExt cx="370689" cy="231510"/>
          </a:xfrm>
        </p:grpSpPr>
        <p:sp>
          <p:nvSpPr>
            <p:cNvPr name="Freeform 18" id="18"/>
            <p:cNvSpPr/>
            <p:nvPr/>
          </p:nvSpPr>
          <p:spPr>
            <a:xfrm flipH="false" flipV="false" rot="0">
              <a:off x="0" y="0"/>
              <a:ext cx="370689" cy="231511"/>
            </a:xfrm>
            <a:custGeom>
              <a:avLst/>
              <a:gdLst/>
              <a:ahLst/>
              <a:cxnLst/>
              <a:rect r="r" b="b" t="t" l="l"/>
              <a:pathLst>
                <a:path h="231511" w="370689">
                  <a:moveTo>
                    <a:pt x="185344" y="0"/>
                  </a:moveTo>
                  <a:cubicBezTo>
                    <a:pt x="82982" y="0"/>
                    <a:pt x="0" y="51825"/>
                    <a:pt x="0" y="115755"/>
                  </a:cubicBezTo>
                  <a:cubicBezTo>
                    <a:pt x="0" y="179685"/>
                    <a:pt x="82982" y="231511"/>
                    <a:pt x="185344" y="231511"/>
                  </a:cubicBezTo>
                  <a:cubicBezTo>
                    <a:pt x="287707" y="231511"/>
                    <a:pt x="370689" y="179685"/>
                    <a:pt x="370689" y="115755"/>
                  </a:cubicBezTo>
                  <a:cubicBezTo>
                    <a:pt x="370689" y="51825"/>
                    <a:pt x="287707" y="0"/>
                    <a:pt x="185344" y="0"/>
                  </a:cubicBezTo>
                  <a:close/>
                </a:path>
              </a:pathLst>
            </a:custGeom>
            <a:solidFill>
              <a:srgbClr val="8D0000"/>
            </a:solidFill>
          </p:spPr>
        </p:sp>
        <p:sp>
          <p:nvSpPr>
            <p:cNvPr name="TextBox 19" id="19"/>
            <p:cNvSpPr txBox="true"/>
            <p:nvPr/>
          </p:nvSpPr>
          <p:spPr>
            <a:xfrm>
              <a:off x="34752" y="-311671"/>
              <a:ext cx="301185" cy="521477"/>
            </a:xfrm>
            <a:prstGeom prst="rect">
              <a:avLst/>
            </a:prstGeom>
          </p:spPr>
          <p:txBody>
            <a:bodyPr anchor="ctr" rtlCol="false" tIns="50800" lIns="50800" bIns="50800" rIns="50800"/>
            <a:lstStyle/>
            <a:p>
              <a:pPr algn="ctr">
                <a:lnSpc>
                  <a:spcPts val="6249"/>
                </a:lnSpc>
              </a:pPr>
              <a:r>
                <a:rPr lang="en-US" sz="2499">
                  <a:solidFill>
                    <a:srgbClr val="FFFFFF"/>
                  </a:solidFill>
                  <a:latin typeface="Poppins"/>
                  <a:ea typeface="Poppins"/>
                  <a:cs typeface="Poppins"/>
                  <a:sym typeface="Poppins"/>
                </a:rPr>
                <a:t>3</a:t>
              </a:r>
            </a:p>
          </p:txBody>
        </p:sp>
      </p:grpSp>
      <p:sp>
        <p:nvSpPr>
          <p:cNvPr name="TextBox 20" id="20"/>
          <p:cNvSpPr txBox="true"/>
          <p:nvPr/>
        </p:nvSpPr>
        <p:spPr>
          <a:xfrm rot="0">
            <a:off x="2436160" y="6137580"/>
            <a:ext cx="6080737" cy="879475"/>
          </a:xfrm>
          <a:prstGeom prst="rect">
            <a:avLst/>
          </a:prstGeom>
        </p:spPr>
        <p:txBody>
          <a:bodyPr anchor="t" rtlCol="false" tIns="0" lIns="0" bIns="0" rIns="0">
            <a:spAutoFit/>
          </a:bodyPr>
          <a:lstStyle/>
          <a:p>
            <a:pPr algn="ctr">
              <a:lnSpc>
                <a:spcPts val="3499"/>
              </a:lnSpc>
              <a:spcBef>
                <a:spcPct val="0"/>
              </a:spcBef>
            </a:pPr>
            <a:r>
              <a:rPr lang="en-US" b="true" sz="2499">
                <a:solidFill>
                  <a:srgbClr val="2B2B2B"/>
                </a:solidFill>
                <a:latin typeface="Poppins Bold"/>
                <a:ea typeface="Poppins Bold"/>
                <a:cs typeface="Poppins Bold"/>
                <a:sym typeface="Poppins Bold"/>
              </a:rPr>
              <a:t>Achievable Segmentation Accuracy (ASA)</a:t>
            </a:r>
          </a:p>
        </p:txBody>
      </p:sp>
      <p:grpSp>
        <p:nvGrpSpPr>
          <p:cNvPr name="Group 21" id="21"/>
          <p:cNvGrpSpPr/>
          <p:nvPr/>
        </p:nvGrpSpPr>
        <p:grpSpPr>
          <a:xfrm rot="0">
            <a:off x="12204365" y="1466551"/>
            <a:ext cx="3086100" cy="831155"/>
            <a:chOff x="0" y="0"/>
            <a:chExt cx="812800" cy="218905"/>
          </a:xfrm>
        </p:grpSpPr>
        <p:sp>
          <p:nvSpPr>
            <p:cNvPr name="Freeform 22" id="22"/>
            <p:cNvSpPr/>
            <p:nvPr/>
          </p:nvSpPr>
          <p:spPr>
            <a:xfrm flipH="false" flipV="false" rot="0">
              <a:off x="0" y="0"/>
              <a:ext cx="812800" cy="218905"/>
            </a:xfrm>
            <a:custGeom>
              <a:avLst/>
              <a:gdLst/>
              <a:ahLst/>
              <a:cxnLst/>
              <a:rect r="r" b="b" t="t" l="l"/>
              <a:pathLst>
                <a:path h="218905" w="812800">
                  <a:moveTo>
                    <a:pt x="609600" y="0"/>
                  </a:moveTo>
                  <a:cubicBezTo>
                    <a:pt x="721824" y="0"/>
                    <a:pt x="812800" y="49004"/>
                    <a:pt x="812800" y="109452"/>
                  </a:cubicBezTo>
                  <a:cubicBezTo>
                    <a:pt x="812800" y="169901"/>
                    <a:pt x="721824" y="218905"/>
                    <a:pt x="609600" y="218905"/>
                  </a:cubicBezTo>
                  <a:lnTo>
                    <a:pt x="203200" y="218905"/>
                  </a:lnTo>
                  <a:cubicBezTo>
                    <a:pt x="90976" y="218905"/>
                    <a:pt x="0" y="169901"/>
                    <a:pt x="0" y="109452"/>
                  </a:cubicBezTo>
                  <a:cubicBezTo>
                    <a:pt x="0" y="49004"/>
                    <a:pt x="90976" y="0"/>
                    <a:pt x="203200" y="0"/>
                  </a:cubicBezTo>
                  <a:close/>
                </a:path>
              </a:pathLst>
            </a:custGeom>
            <a:solidFill>
              <a:srgbClr val="8D0000"/>
            </a:solidFill>
          </p:spPr>
        </p:sp>
        <p:sp>
          <p:nvSpPr>
            <p:cNvPr name="TextBox 23" id="23"/>
            <p:cNvSpPr txBox="true"/>
            <p:nvPr/>
          </p:nvSpPr>
          <p:spPr>
            <a:xfrm>
              <a:off x="0" y="-333375"/>
              <a:ext cx="812800" cy="552280"/>
            </a:xfrm>
            <a:prstGeom prst="rect">
              <a:avLst/>
            </a:prstGeom>
          </p:spPr>
          <p:txBody>
            <a:bodyPr anchor="ctr" rtlCol="false" tIns="50800" lIns="50800" bIns="50800" rIns="50800"/>
            <a:lstStyle/>
            <a:p>
              <a:pPr algn="ctr">
                <a:lnSpc>
                  <a:spcPts val="6249"/>
                </a:lnSpc>
              </a:pPr>
              <a:r>
                <a:rPr lang="en-US" sz="2499">
                  <a:solidFill>
                    <a:srgbClr val="FFFFFF"/>
                  </a:solidFill>
                  <a:latin typeface="Poppins"/>
                  <a:ea typeface="Poppins"/>
                  <a:cs typeface="Poppins"/>
                  <a:sym typeface="Poppins"/>
                </a:rPr>
                <a:t>Intérpretations</a:t>
              </a:r>
            </a:p>
          </p:txBody>
        </p:sp>
      </p:grpSp>
      <p:sp>
        <p:nvSpPr>
          <p:cNvPr name="TextBox 24" id="24"/>
          <p:cNvSpPr txBox="true"/>
          <p:nvPr/>
        </p:nvSpPr>
        <p:spPr>
          <a:xfrm rot="0">
            <a:off x="11459926" y="2972869"/>
            <a:ext cx="1488877" cy="441325"/>
          </a:xfrm>
          <a:prstGeom prst="rect">
            <a:avLst/>
          </a:prstGeom>
        </p:spPr>
        <p:txBody>
          <a:bodyPr anchor="t" rtlCol="false" tIns="0" lIns="0" bIns="0" rIns="0">
            <a:spAutoFit/>
          </a:bodyPr>
          <a:lstStyle/>
          <a:p>
            <a:pPr algn="ctr">
              <a:lnSpc>
                <a:spcPts val="3499"/>
              </a:lnSpc>
              <a:spcBef>
                <a:spcPct val="0"/>
              </a:spcBef>
            </a:pPr>
            <a:r>
              <a:rPr lang="en-US" sz="2499">
                <a:solidFill>
                  <a:srgbClr val="2B2B2B"/>
                </a:solidFill>
                <a:latin typeface="Poppins"/>
                <a:ea typeface="Poppins"/>
                <a:cs typeface="Poppins"/>
                <a:sym typeface="Poppins"/>
              </a:rPr>
              <a:t>BR élevé </a:t>
            </a:r>
            <a:r>
              <a:rPr lang="en-US" sz="2499">
                <a:solidFill>
                  <a:srgbClr val="2B2B2B"/>
                </a:solidFill>
                <a:latin typeface="Poppins"/>
                <a:ea typeface="Poppins"/>
                <a:cs typeface="Poppins"/>
                <a:sym typeface="Poppins"/>
              </a:rPr>
              <a:t> </a:t>
            </a:r>
          </a:p>
        </p:txBody>
      </p:sp>
      <p:grpSp>
        <p:nvGrpSpPr>
          <p:cNvPr name="Group 25" id="25"/>
          <p:cNvGrpSpPr/>
          <p:nvPr/>
        </p:nvGrpSpPr>
        <p:grpSpPr>
          <a:xfrm rot="0">
            <a:off x="13186721" y="2863393"/>
            <a:ext cx="746084" cy="746084"/>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8D0000"/>
            </a:solidFill>
          </p:spPr>
        </p:sp>
        <p:sp>
          <p:nvSpPr>
            <p:cNvPr name="TextBox 27" id="27"/>
            <p:cNvSpPr txBox="true"/>
            <p:nvPr/>
          </p:nvSpPr>
          <p:spPr>
            <a:xfrm>
              <a:off x="0" y="-130175"/>
              <a:ext cx="711200" cy="739775"/>
            </a:xfrm>
            <a:prstGeom prst="rect">
              <a:avLst/>
            </a:prstGeom>
          </p:spPr>
          <p:txBody>
            <a:bodyPr anchor="ctr" rtlCol="false" tIns="50800" lIns="50800" bIns="50800" rIns="50800"/>
            <a:lstStyle/>
            <a:p>
              <a:pPr algn="ctr">
                <a:lnSpc>
                  <a:spcPts val="6249"/>
                </a:lnSpc>
              </a:pPr>
            </a:p>
          </p:txBody>
        </p:sp>
      </p:grpSp>
      <p:sp>
        <p:nvSpPr>
          <p:cNvPr name="TextBox 28" id="28"/>
          <p:cNvSpPr txBox="true"/>
          <p:nvPr/>
        </p:nvSpPr>
        <p:spPr>
          <a:xfrm rot="0">
            <a:off x="14170722" y="2897225"/>
            <a:ext cx="3662065" cy="441325"/>
          </a:xfrm>
          <a:prstGeom prst="rect">
            <a:avLst/>
          </a:prstGeom>
        </p:spPr>
        <p:txBody>
          <a:bodyPr anchor="t" rtlCol="false" tIns="0" lIns="0" bIns="0" rIns="0">
            <a:spAutoFit/>
          </a:bodyPr>
          <a:lstStyle/>
          <a:p>
            <a:pPr algn="ctr">
              <a:lnSpc>
                <a:spcPts val="3499"/>
              </a:lnSpc>
              <a:spcBef>
                <a:spcPct val="0"/>
              </a:spcBef>
            </a:pPr>
            <a:r>
              <a:rPr lang="en-US" sz="2499">
                <a:solidFill>
                  <a:srgbClr val="2B2B2B"/>
                </a:solidFill>
                <a:latin typeface="Poppins"/>
                <a:ea typeface="Poppins"/>
                <a:cs typeface="Poppins"/>
                <a:sym typeface="Poppins"/>
              </a:rPr>
              <a:t>contours bien détectés</a:t>
            </a:r>
          </a:p>
        </p:txBody>
      </p:sp>
      <p:sp>
        <p:nvSpPr>
          <p:cNvPr name="TextBox 29" id="29"/>
          <p:cNvSpPr txBox="true"/>
          <p:nvPr/>
        </p:nvSpPr>
        <p:spPr>
          <a:xfrm rot="0">
            <a:off x="11402925" y="4498436"/>
            <a:ext cx="1518345" cy="441325"/>
          </a:xfrm>
          <a:prstGeom prst="rect">
            <a:avLst/>
          </a:prstGeom>
        </p:spPr>
        <p:txBody>
          <a:bodyPr anchor="t" rtlCol="false" tIns="0" lIns="0" bIns="0" rIns="0">
            <a:spAutoFit/>
          </a:bodyPr>
          <a:lstStyle/>
          <a:p>
            <a:pPr algn="ctr">
              <a:lnSpc>
                <a:spcPts val="3499"/>
              </a:lnSpc>
              <a:spcBef>
                <a:spcPct val="0"/>
              </a:spcBef>
            </a:pPr>
            <a:r>
              <a:rPr lang="en-US" sz="2499">
                <a:solidFill>
                  <a:srgbClr val="2B2B2B"/>
                </a:solidFill>
                <a:latin typeface="Poppins"/>
                <a:ea typeface="Poppins"/>
                <a:cs typeface="Poppins"/>
                <a:sym typeface="Poppins"/>
              </a:rPr>
              <a:t>UE faible</a:t>
            </a:r>
            <a:r>
              <a:rPr lang="en-US" sz="2499">
                <a:solidFill>
                  <a:srgbClr val="8D0000"/>
                </a:solidFill>
                <a:latin typeface="Poppins"/>
                <a:ea typeface="Poppins"/>
                <a:cs typeface="Poppins"/>
                <a:sym typeface="Poppins"/>
              </a:rPr>
              <a:t> </a:t>
            </a:r>
            <a:r>
              <a:rPr lang="en-US" sz="2499">
                <a:solidFill>
                  <a:srgbClr val="8D0000"/>
                </a:solidFill>
                <a:latin typeface="Poppins"/>
                <a:ea typeface="Poppins"/>
                <a:cs typeface="Poppins"/>
                <a:sym typeface="Poppins"/>
              </a:rPr>
              <a:t> </a:t>
            </a:r>
          </a:p>
        </p:txBody>
      </p:sp>
      <p:grpSp>
        <p:nvGrpSpPr>
          <p:cNvPr name="Group 30" id="30"/>
          <p:cNvGrpSpPr/>
          <p:nvPr/>
        </p:nvGrpSpPr>
        <p:grpSpPr>
          <a:xfrm rot="0">
            <a:off x="13274881" y="4379394"/>
            <a:ext cx="746084" cy="746084"/>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8D0000"/>
            </a:solidFill>
          </p:spPr>
        </p:sp>
        <p:sp>
          <p:nvSpPr>
            <p:cNvPr name="TextBox 32" id="32"/>
            <p:cNvSpPr txBox="true"/>
            <p:nvPr/>
          </p:nvSpPr>
          <p:spPr>
            <a:xfrm>
              <a:off x="0" y="-130175"/>
              <a:ext cx="711200" cy="739775"/>
            </a:xfrm>
            <a:prstGeom prst="rect">
              <a:avLst/>
            </a:prstGeom>
          </p:spPr>
          <p:txBody>
            <a:bodyPr anchor="ctr" rtlCol="false" tIns="50800" lIns="50800" bIns="50800" rIns="50800"/>
            <a:lstStyle/>
            <a:p>
              <a:pPr algn="ctr">
                <a:lnSpc>
                  <a:spcPts val="6249"/>
                </a:lnSpc>
              </a:pPr>
            </a:p>
          </p:txBody>
        </p:sp>
      </p:grpSp>
      <p:sp>
        <p:nvSpPr>
          <p:cNvPr name="TextBox 33" id="33"/>
          <p:cNvSpPr txBox="true"/>
          <p:nvPr/>
        </p:nvSpPr>
        <p:spPr>
          <a:xfrm rot="0">
            <a:off x="14184861" y="4413555"/>
            <a:ext cx="3647926" cy="441325"/>
          </a:xfrm>
          <a:prstGeom prst="rect">
            <a:avLst/>
          </a:prstGeom>
        </p:spPr>
        <p:txBody>
          <a:bodyPr anchor="t" rtlCol="false" tIns="0" lIns="0" bIns="0" rIns="0">
            <a:spAutoFit/>
          </a:bodyPr>
          <a:lstStyle/>
          <a:p>
            <a:pPr algn="ctr">
              <a:lnSpc>
                <a:spcPts val="3499"/>
              </a:lnSpc>
              <a:spcBef>
                <a:spcPct val="0"/>
              </a:spcBef>
            </a:pPr>
            <a:r>
              <a:rPr lang="en-US" sz="2499">
                <a:solidFill>
                  <a:srgbClr val="2B2B2B"/>
                </a:solidFill>
                <a:latin typeface="Poppins"/>
                <a:ea typeface="Poppins"/>
                <a:cs typeface="Poppins"/>
                <a:sym typeface="Poppins"/>
              </a:rPr>
              <a:t>peu de  débordements</a:t>
            </a:r>
          </a:p>
        </p:txBody>
      </p:sp>
      <p:sp>
        <p:nvSpPr>
          <p:cNvPr name="TextBox 34" id="34"/>
          <p:cNvSpPr txBox="true"/>
          <p:nvPr/>
        </p:nvSpPr>
        <p:spPr>
          <a:xfrm rot="0">
            <a:off x="11402925" y="6061262"/>
            <a:ext cx="1545878" cy="441325"/>
          </a:xfrm>
          <a:prstGeom prst="rect">
            <a:avLst/>
          </a:prstGeom>
        </p:spPr>
        <p:txBody>
          <a:bodyPr anchor="t" rtlCol="false" tIns="0" lIns="0" bIns="0" rIns="0">
            <a:spAutoFit/>
          </a:bodyPr>
          <a:lstStyle/>
          <a:p>
            <a:pPr algn="ctr">
              <a:lnSpc>
                <a:spcPts val="3499"/>
              </a:lnSpc>
              <a:spcBef>
                <a:spcPct val="0"/>
              </a:spcBef>
            </a:pPr>
            <a:r>
              <a:rPr lang="en-US" sz="2499">
                <a:solidFill>
                  <a:srgbClr val="2B2B2B"/>
                </a:solidFill>
                <a:latin typeface="Poppins"/>
                <a:ea typeface="Poppins"/>
                <a:cs typeface="Poppins"/>
                <a:sym typeface="Poppins"/>
              </a:rPr>
              <a:t>ASA élevé</a:t>
            </a:r>
          </a:p>
        </p:txBody>
      </p:sp>
      <p:grpSp>
        <p:nvGrpSpPr>
          <p:cNvPr name="Group 35" id="35"/>
          <p:cNvGrpSpPr/>
          <p:nvPr/>
        </p:nvGrpSpPr>
        <p:grpSpPr>
          <a:xfrm rot="0">
            <a:off x="13274881" y="5919808"/>
            <a:ext cx="746084" cy="746084"/>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8D0000"/>
            </a:solidFill>
          </p:spPr>
        </p:sp>
        <p:sp>
          <p:nvSpPr>
            <p:cNvPr name="TextBox 37" id="37"/>
            <p:cNvSpPr txBox="true"/>
            <p:nvPr/>
          </p:nvSpPr>
          <p:spPr>
            <a:xfrm>
              <a:off x="0" y="-130175"/>
              <a:ext cx="711200" cy="739775"/>
            </a:xfrm>
            <a:prstGeom prst="rect">
              <a:avLst/>
            </a:prstGeom>
          </p:spPr>
          <p:txBody>
            <a:bodyPr anchor="ctr" rtlCol="false" tIns="50800" lIns="50800" bIns="50800" rIns="50800"/>
            <a:lstStyle/>
            <a:p>
              <a:pPr algn="ctr">
                <a:lnSpc>
                  <a:spcPts val="6249"/>
                </a:lnSpc>
              </a:pPr>
            </a:p>
          </p:txBody>
        </p:sp>
      </p:grpSp>
      <p:sp>
        <p:nvSpPr>
          <p:cNvPr name="TextBox 38" id="38"/>
          <p:cNvSpPr txBox="true"/>
          <p:nvPr/>
        </p:nvSpPr>
        <p:spPr>
          <a:xfrm rot="0">
            <a:off x="13291770" y="6027904"/>
            <a:ext cx="4996230" cy="879475"/>
          </a:xfrm>
          <a:prstGeom prst="rect">
            <a:avLst/>
          </a:prstGeom>
        </p:spPr>
        <p:txBody>
          <a:bodyPr anchor="t" rtlCol="false" tIns="0" lIns="0" bIns="0" rIns="0">
            <a:spAutoFit/>
          </a:bodyPr>
          <a:lstStyle/>
          <a:p>
            <a:pPr algn="ctr">
              <a:lnSpc>
                <a:spcPts val="3499"/>
              </a:lnSpc>
              <a:spcBef>
                <a:spcPct val="0"/>
              </a:spcBef>
            </a:pPr>
            <a:r>
              <a:rPr lang="en-US" sz="2499">
                <a:solidFill>
                  <a:srgbClr val="2B2B2B"/>
                </a:solidFill>
                <a:latin typeface="Poppins"/>
                <a:ea typeface="Poppins"/>
                <a:cs typeface="Poppins"/>
                <a:sym typeface="Poppins"/>
              </a:rPr>
              <a:t>bonne précision de segmentation</a:t>
            </a:r>
          </a:p>
        </p:txBody>
      </p:sp>
      <p:grpSp>
        <p:nvGrpSpPr>
          <p:cNvPr name="Group 39" id="39"/>
          <p:cNvGrpSpPr/>
          <p:nvPr/>
        </p:nvGrpSpPr>
        <p:grpSpPr>
          <a:xfrm rot="0">
            <a:off x="7880266" y="7122622"/>
            <a:ext cx="3086100" cy="831155"/>
            <a:chOff x="0" y="0"/>
            <a:chExt cx="812800" cy="218905"/>
          </a:xfrm>
        </p:grpSpPr>
        <p:sp>
          <p:nvSpPr>
            <p:cNvPr name="Freeform 40" id="40"/>
            <p:cNvSpPr/>
            <p:nvPr/>
          </p:nvSpPr>
          <p:spPr>
            <a:xfrm flipH="false" flipV="false" rot="0">
              <a:off x="0" y="0"/>
              <a:ext cx="812800" cy="218905"/>
            </a:xfrm>
            <a:custGeom>
              <a:avLst/>
              <a:gdLst/>
              <a:ahLst/>
              <a:cxnLst/>
              <a:rect r="r" b="b" t="t" l="l"/>
              <a:pathLst>
                <a:path h="218905" w="812800">
                  <a:moveTo>
                    <a:pt x="609600" y="0"/>
                  </a:moveTo>
                  <a:cubicBezTo>
                    <a:pt x="721824" y="0"/>
                    <a:pt x="812800" y="49004"/>
                    <a:pt x="812800" y="109452"/>
                  </a:cubicBezTo>
                  <a:cubicBezTo>
                    <a:pt x="812800" y="169901"/>
                    <a:pt x="721824" y="218905"/>
                    <a:pt x="609600" y="218905"/>
                  </a:cubicBezTo>
                  <a:lnTo>
                    <a:pt x="203200" y="218905"/>
                  </a:lnTo>
                  <a:cubicBezTo>
                    <a:pt x="90976" y="218905"/>
                    <a:pt x="0" y="169901"/>
                    <a:pt x="0" y="109452"/>
                  </a:cubicBezTo>
                  <a:cubicBezTo>
                    <a:pt x="0" y="49004"/>
                    <a:pt x="90976" y="0"/>
                    <a:pt x="203200" y="0"/>
                  </a:cubicBezTo>
                  <a:close/>
                </a:path>
              </a:pathLst>
            </a:custGeom>
            <a:solidFill>
              <a:srgbClr val="8D0000"/>
            </a:solidFill>
          </p:spPr>
        </p:sp>
        <p:sp>
          <p:nvSpPr>
            <p:cNvPr name="TextBox 41" id="41"/>
            <p:cNvSpPr txBox="true"/>
            <p:nvPr/>
          </p:nvSpPr>
          <p:spPr>
            <a:xfrm>
              <a:off x="0" y="-333375"/>
              <a:ext cx="812800" cy="552280"/>
            </a:xfrm>
            <a:prstGeom prst="rect">
              <a:avLst/>
            </a:prstGeom>
          </p:spPr>
          <p:txBody>
            <a:bodyPr anchor="ctr" rtlCol="false" tIns="50800" lIns="50800" bIns="50800" rIns="50800"/>
            <a:lstStyle/>
            <a:p>
              <a:pPr algn="ctr">
                <a:lnSpc>
                  <a:spcPts val="6249"/>
                </a:lnSpc>
              </a:pPr>
              <a:r>
                <a:rPr lang="en-US" sz="2499">
                  <a:solidFill>
                    <a:srgbClr val="FFFFFF"/>
                  </a:solidFill>
                  <a:latin typeface="Poppins"/>
                  <a:ea typeface="Poppins"/>
                  <a:cs typeface="Poppins"/>
                  <a:sym typeface="Poppins"/>
                </a:rPr>
                <a:t>Utilité</a:t>
              </a:r>
            </a:p>
          </p:txBody>
        </p:sp>
      </p:grpSp>
      <p:sp>
        <p:nvSpPr>
          <p:cNvPr name="TextBox 42" id="42"/>
          <p:cNvSpPr txBox="true"/>
          <p:nvPr/>
        </p:nvSpPr>
        <p:spPr>
          <a:xfrm rot="0">
            <a:off x="7224593" y="8947552"/>
            <a:ext cx="5210473" cy="441325"/>
          </a:xfrm>
          <a:prstGeom prst="rect">
            <a:avLst/>
          </a:prstGeom>
        </p:spPr>
        <p:txBody>
          <a:bodyPr anchor="t" rtlCol="false" tIns="0" lIns="0" bIns="0" rIns="0">
            <a:spAutoFit/>
          </a:bodyPr>
          <a:lstStyle/>
          <a:p>
            <a:pPr algn="ctr">
              <a:lnSpc>
                <a:spcPts val="3499"/>
              </a:lnSpc>
              <a:spcBef>
                <a:spcPct val="0"/>
              </a:spcBef>
            </a:pPr>
            <a:r>
              <a:rPr lang="en-US" sz="2499">
                <a:solidFill>
                  <a:srgbClr val="2B2B2B"/>
                </a:solidFill>
                <a:latin typeface="Poppins"/>
                <a:ea typeface="Poppins"/>
                <a:cs typeface="Poppins"/>
                <a:sym typeface="Poppins"/>
              </a:rPr>
              <a:t>Comparer différentes méthodes</a:t>
            </a:r>
            <a:r>
              <a:rPr lang="en-US" sz="2499">
                <a:solidFill>
                  <a:srgbClr val="2B2B2B"/>
                </a:solidFill>
                <a:latin typeface="Poppins"/>
                <a:ea typeface="Poppins"/>
                <a:cs typeface="Poppins"/>
                <a:sym typeface="Poppins"/>
              </a:rPr>
              <a:t> </a:t>
            </a:r>
          </a:p>
        </p:txBody>
      </p:sp>
      <p:sp>
        <p:nvSpPr>
          <p:cNvPr name="TextBox 43" id="43"/>
          <p:cNvSpPr txBox="true"/>
          <p:nvPr/>
        </p:nvSpPr>
        <p:spPr>
          <a:xfrm rot="0">
            <a:off x="7863065" y="8201427"/>
            <a:ext cx="3933527" cy="441325"/>
          </a:xfrm>
          <a:prstGeom prst="rect">
            <a:avLst/>
          </a:prstGeom>
        </p:spPr>
        <p:txBody>
          <a:bodyPr anchor="t" rtlCol="false" tIns="0" lIns="0" bIns="0" rIns="0">
            <a:spAutoFit/>
          </a:bodyPr>
          <a:lstStyle/>
          <a:p>
            <a:pPr algn="ctr">
              <a:lnSpc>
                <a:spcPts val="3499"/>
              </a:lnSpc>
              <a:spcBef>
                <a:spcPct val="0"/>
              </a:spcBef>
            </a:pPr>
            <a:r>
              <a:rPr lang="en-US" sz="2499">
                <a:solidFill>
                  <a:srgbClr val="2B2B2B"/>
                </a:solidFill>
                <a:latin typeface="Poppins"/>
                <a:ea typeface="Poppins"/>
                <a:cs typeface="Poppins"/>
                <a:sym typeface="Poppins"/>
              </a:rPr>
              <a:t>Évaluer la segmentation</a:t>
            </a:r>
            <a:r>
              <a:rPr lang="en-US" sz="2499">
                <a:solidFill>
                  <a:srgbClr val="2B2B2B"/>
                </a:solidFill>
                <a:latin typeface="Poppins"/>
                <a:ea typeface="Poppins"/>
                <a:cs typeface="Poppins"/>
                <a:sym typeface="Poppins"/>
              </a:rPr>
              <a:t> </a:t>
            </a:r>
          </a:p>
        </p:txBody>
      </p:sp>
      <p:sp>
        <p:nvSpPr>
          <p:cNvPr name="TextBox 44" id="44"/>
          <p:cNvSpPr txBox="true"/>
          <p:nvPr/>
        </p:nvSpPr>
        <p:spPr>
          <a:xfrm rot="0">
            <a:off x="6860952" y="9634823"/>
            <a:ext cx="6134100" cy="441325"/>
          </a:xfrm>
          <a:prstGeom prst="rect">
            <a:avLst/>
          </a:prstGeom>
        </p:spPr>
        <p:txBody>
          <a:bodyPr anchor="t" rtlCol="false" tIns="0" lIns="0" bIns="0" rIns="0">
            <a:spAutoFit/>
          </a:bodyPr>
          <a:lstStyle/>
          <a:p>
            <a:pPr algn="ctr">
              <a:lnSpc>
                <a:spcPts val="3499"/>
              </a:lnSpc>
              <a:spcBef>
                <a:spcPct val="0"/>
              </a:spcBef>
            </a:pPr>
            <a:r>
              <a:rPr lang="en-US" sz="2499">
                <a:solidFill>
                  <a:srgbClr val="2B2B2B"/>
                </a:solidFill>
                <a:latin typeface="Poppins"/>
                <a:ea typeface="Poppins"/>
                <a:cs typeface="Poppins"/>
                <a:sym typeface="Poppins"/>
              </a:rPr>
              <a:t>Choix des  meilleurs paramètres (k, m)</a:t>
            </a:r>
          </a:p>
        </p:txBody>
      </p:sp>
      <p:sp>
        <p:nvSpPr>
          <p:cNvPr name="AutoShape 45" id="45"/>
          <p:cNvSpPr/>
          <p:nvPr/>
        </p:nvSpPr>
        <p:spPr>
          <a:xfrm>
            <a:off x="6860952" y="1042988"/>
            <a:ext cx="4836832" cy="0"/>
          </a:xfrm>
          <a:prstGeom prst="line">
            <a:avLst/>
          </a:prstGeom>
          <a:ln cap="flat" w="28575">
            <a:solidFill>
              <a:srgbClr val="000000"/>
            </a:solidFill>
            <a:prstDash val="solid"/>
            <a:headEnd type="none" len="sm" w="sm"/>
            <a:tailEnd type="none" len="sm" w="sm"/>
          </a:ln>
        </p:spPr>
      </p:sp>
      <p:sp>
        <p:nvSpPr>
          <p:cNvPr name="TextBox 46" id="46"/>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420164" y="747712"/>
            <a:ext cx="4836832" cy="0"/>
          </a:xfrm>
          <a:prstGeom prst="line">
            <a:avLst/>
          </a:prstGeom>
          <a:ln cap="flat" w="28575">
            <a:solidFill>
              <a:srgbClr val="000000"/>
            </a:solidFill>
            <a:prstDash val="solid"/>
            <a:headEnd type="none" len="sm" w="sm"/>
            <a:tailEnd type="none" len="sm" w="sm"/>
          </a:ln>
        </p:spPr>
      </p:sp>
      <p:grpSp>
        <p:nvGrpSpPr>
          <p:cNvPr name="Group 3" id="3"/>
          <p:cNvGrpSpPr/>
          <p:nvPr/>
        </p:nvGrpSpPr>
        <p:grpSpPr>
          <a:xfrm rot="-3503507">
            <a:off x="15971842" y="1684952"/>
            <a:ext cx="12583451" cy="7382737"/>
            <a:chOff x="0" y="0"/>
            <a:chExt cx="3314160" cy="1944424"/>
          </a:xfrm>
        </p:grpSpPr>
        <p:sp>
          <p:nvSpPr>
            <p:cNvPr name="Freeform 4" id="4"/>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5" id="5"/>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grpSp>
        <p:nvGrpSpPr>
          <p:cNvPr name="Group 6" id="6"/>
          <p:cNvGrpSpPr/>
          <p:nvPr/>
        </p:nvGrpSpPr>
        <p:grpSpPr>
          <a:xfrm rot="-3503507">
            <a:off x="-10878133" y="751583"/>
            <a:ext cx="12583451" cy="7382737"/>
            <a:chOff x="0" y="0"/>
            <a:chExt cx="3314160" cy="1944424"/>
          </a:xfrm>
        </p:grpSpPr>
        <p:sp>
          <p:nvSpPr>
            <p:cNvPr name="Freeform 7" id="7"/>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8" id="8"/>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grpSp>
        <p:nvGrpSpPr>
          <p:cNvPr name="Group 9" id="9"/>
          <p:cNvGrpSpPr/>
          <p:nvPr/>
        </p:nvGrpSpPr>
        <p:grpSpPr>
          <a:xfrm rot="0">
            <a:off x="8722383" y="1945332"/>
            <a:ext cx="8957817" cy="7698954"/>
            <a:chOff x="0" y="0"/>
            <a:chExt cx="688190" cy="591477"/>
          </a:xfrm>
        </p:grpSpPr>
        <p:sp>
          <p:nvSpPr>
            <p:cNvPr name="Freeform 10" id="10"/>
            <p:cNvSpPr/>
            <p:nvPr/>
          </p:nvSpPr>
          <p:spPr>
            <a:xfrm flipH="false" flipV="false" rot="0">
              <a:off x="0" y="0"/>
              <a:ext cx="688190" cy="591477"/>
            </a:xfrm>
            <a:custGeom>
              <a:avLst/>
              <a:gdLst/>
              <a:ahLst/>
              <a:cxnLst/>
              <a:rect r="r" b="b" t="t" l="l"/>
              <a:pathLst>
                <a:path h="591477" w="688190">
                  <a:moveTo>
                    <a:pt x="0" y="0"/>
                  </a:moveTo>
                  <a:lnTo>
                    <a:pt x="688190" y="0"/>
                  </a:lnTo>
                  <a:lnTo>
                    <a:pt x="688190" y="591477"/>
                  </a:lnTo>
                  <a:lnTo>
                    <a:pt x="0" y="591477"/>
                  </a:lnTo>
                  <a:close/>
                </a:path>
              </a:pathLst>
            </a:custGeom>
            <a:blipFill>
              <a:blip r:embed="rId2"/>
              <a:stretch>
                <a:fillRect l="0" t="-47754" r="-1718" b="-49085"/>
              </a:stretch>
            </a:blipFill>
          </p:spPr>
        </p:sp>
      </p:grpSp>
      <p:sp>
        <p:nvSpPr>
          <p:cNvPr name="TextBox 11" id="11"/>
          <p:cNvSpPr txBox="true"/>
          <p:nvPr/>
        </p:nvSpPr>
        <p:spPr>
          <a:xfrm rot="0">
            <a:off x="2504491" y="-3163"/>
            <a:ext cx="12435784" cy="819139"/>
          </a:xfrm>
          <a:prstGeom prst="rect">
            <a:avLst/>
          </a:prstGeom>
        </p:spPr>
        <p:txBody>
          <a:bodyPr anchor="t" rtlCol="false" tIns="0" lIns="0" bIns="0" rIns="0">
            <a:spAutoFit/>
          </a:bodyPr>
          <a:lstStyle/>
          <a:p>
            <a:pPr algn="ctr">
              <a:lnSpc>
                <a:spcPts val="6300"/>
              </a:lnSpc>
            </a:pPr>
            <a:r>
              <a:rPr lang="en-US" b="true" sz="4500" spc="423">
                <a:solidFill>
                  <a:srgbClr val="8D0000"/>
                </a:solidFill>
                <a:latin typeface="Poppins Bold"/>
                <a:ea typeface="Poppins Bold"/>
                <a:cs typeface="Poppins Bold"/>
                <a:sym typeface="Poppins Bold"/>
              </a:rPr>
              <a:t>APPLICATIONS ET RÉSULTATS</a:t>
            </a:r>
          </a:p>
        </p:txBody>
      </p:sp>
      <p:grpSp>
        <p:nvGrpSpPr>
          <p:cNvPr name="Group 12" id="12"/>
          <p:cNvGrpSpPr/>
          <p:nvPr/>
        </p:nvGrpSpPr>
        <p:grpSpPr>
          <a:xfrm rot="0">
            <a:off x="14476744" y="0"/>
            <a:ext cx="5565113" cy="672181"/>
            <a:chOff x="0" y="0"/>
            <a:chExt cx="1465709" cy="177035"/>
          </a:xfrm>
        </p:grpSpPr>
        <p:sp>
          <p:nvSpPr>
            <p:cNvPr name="Freeform 13" id="13"/>
            <p:cNvSpPr/>
            <p:nvPr/>
          </p:nvSpPr>
          <p:spPr>
            <a:xfrm flipH="false" flipV="false" rot="0">
              <a:off x="0" y="0"/>
              <a:ext cx="1465709" cy="177035"/>
            </a:xfrm>
            <a:custGeom>
              <a:avLst/>
              <a:gdLst/>
              <a:ahLst/>
              <a:cxnLst/>
              <a:rect r="r" b="b" t="t" l="l"/>
              <a:pathLst>
                <a:path h="177035" w="1465709">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D0000"/>
            </a:solidFill>
          </p:spPr>
        </p:sp>
        <p:sp>
          <p:nvSpPr>
            <p:cNvPr name="TextBox 14" id="14"/>
            <p:cNvSpPr txBox="true"/>
            <p:nvPr/>
          </p:nvSpPr>
          <p:spPr>
            <a:xfrm>
              <a:off x="0" y="-333375"/>
              <a:ext cx="1465709" cy="510410"/>
            </a:xfrm>
            <a:prstGeom prst="rect">
              <a:avLst/>
            </a:prstGeom>
          </p:spPr>
          <p:txBody>
            <a:bodyPr anchor="ctr" rtlCol="false" tIns="50800" lIns="50800" bIns="50800" rIns="50800"/>
            <a:lstStyle/>
            <a:p>
              <a:pPr algn="ctr">
                <a:lnSpc>
                  <a:spcPts val="6249"/>
                </a:lnSpc>
              </a:pPr>
            </a:p>
          </p:txBody>
        </p:sp>
      </p:grpSp>
      <p:grpSp>
        <p:nvGrpSpPr>
          <p:cNvPr name="Group 15" id="15"/>
          <p:cNvGrpSpPr/>
          <p:nvPr/>
        </p:nvGrpSpPr>
        <p:grpSpPr>
          <a:xfrm rot="0">
            <a:off x="187284" y="6530033"/>
            <a:ext cx="3865885" cy="2920284"/>
            <a:chOff x="0" y="0"/>
            <a:chExt cx="5154514" cy="3893712"/>
          </a:xfrm>
        </p:grpSpPr>
        <p:pic>
          <p:nvPicPr>
            <p:cNvPr name="Picture 16" id="16"/>
            <p:cNvPicPr>
              <a:picLocks noChangeAspect="true"/>
            </p:cNvPicPr>
            <p:nvPr/>
          </p:nvPicPr>
          <p:blipFill>
            <a:blip r:embed="rId3"/>
            <a:srcRect l="5235" t="0" r="5235" b="0"/>
            <a:stretch>
              <a:fillRect/>
            </a:stretch>
          </p:blipFill>
          <p:spPr>
            <a:xfrm flipH="false" flipV="false">
              <a:off x="0" y="0"/>
              <a:ext cx="5154514" cy="3893712"/>
            </a:xfrm>
            <a:prstGeom prst="rect">
              <a:avLst/>
            </a:prstGeom>
          </p:spPr>
        </p:pic>
      </p:grpSp>
      <p:grpSp>
        <p:nvGrpSpPr>
          <p:cNvPr name="Group 17" id="17"/>
          <p:cNvGrpSpPr/>
          <p:nvPr/>
        </p:nvGrpSpPr>
        <p:grpSpPr>
          <a:xfrm rot="0">
            <a:off x="4494238" y="6530033"/>
            <a:ext cx="3865885" cy="2920284"/>
            <a:chOff x="0" y="0"/>
            <a:chExt cx="5154514" cy="3893712"/>
          </a:xfrm>
        </p:grpSpPr>
        <p:pic>
          <p:nvPicPr>
            <p:cNvPr name="Picture 18" id="18"/>
            <p:cNvPicPr>
              <a:picLocks noChangeAspect="true"/>
            </p:cNvPicPr>
            <p:nvPr/>
          </p:nvPicPr>
          <p:blipFill>
            <a:blip r:embed="rId4"/>
            <a:srcRect l="4163" t="0" r="4163" b="0"/>
            <a:stretch>
              <a:fillRect/>
            </a:stretch>
          </p:blipFill>
          <p:spPr>
            <a:xfrm flipH="false" flipV="false">
              <a:off x="0" y="0"/>
              <a:ext cx="5154514" cy="3893712"/>
            </a:xfrm>
            <a:prstGeom prst="rect">
              <a:avLst/>
            </a:prstGeom>
          </p:spPr>
        </p:pic>
      </p:grpSp>
      <p:sp>
        <p:nvSpPr>
          <p:cNvPr name="Freeform 19" id="19"/>
          <p:cNvSpPr/>
          <p:nvPr/>
        </p:nvSpPr>
        <p:spPr>
          <a:xfrm flipH="false" flipV="false" rot="0">
            <a:off x="98398" y="2239009"/>
            <a:ext cx="8350612" cy="3300424"/>
          </a:xfrm>
          <a:custGeom>
            <a:avLst/>
            <a:gdLst/>
            <a:ahLst/>
            <a:cxnLst/>
            <a:rect r="r" b="b" t="t" l="l"/>
            <a:pathLst>
              <a:path h="3300424" w="8350612">
                <a:moveTo>
                  <a:pt x="0" y="0"/>
                </a:moveTo>
                <a:lnTo>
                  <a:pt x="8350612" y="0"/>
                </a:lnTo>
                <a:lnTo>
                  <a:pt x="8350612" y="3300424"/>
                </a:lnTo>
                <a:lnTo>
                  <a:pt x="0" y="3300424"/>
                </a:lnTo>
                <a:lnTo>
                  <a:pt x="0" y="0"/>
                </a:lnTo>
                <a:close/>
              </a:path>
            </a:pathLst>
          </a:custGeom>
          <a:blipFill>
            <a:blip r:embed="rId2"/>
            <a:stretch>
              <a:fillRect l="0" t="0" r="-368" b="-322368"/>
            </a:stretch>
          </a:blipFill>
        </p:spPr>
      </p:sp>
      <p:grpSp>
        <p:nvGrpSpPr>
          <p:cNvPr name="Group 20" id="20"/>
          <p:cNvGrpSpPr/>
          <p:nvPr/>
        </p:nvGrpSpPr>
        <p:grpSpPr>
          <a:xfrm rot="0">
            <a:off x="1668375" y="1534974"/>
            <a:ext cx="373042" cy="373042"/>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8D0000"/>
            </a:solidFill>
          </p:spPr>
        </p:sp>
        <p:sp>
          <p:nvSpPr>
            <p:cNvPr name="TextBox 22" id="22"/>
            <p:cNvSpPr txBox="true"/>
            <p:nvPr/>
          </p:nvSpPr>
          <p:spPr>
            <a:xfrm>
              <a:off x="0" y="-130175"/>
              <a:ext cx="711200" cy="739775"/>
            </a:xfrm>
            <a:prstGeom prst="rect">
              <a:avLst/>
            </a:prstGeom>
          </p:spPr>
          <p:txBody>
            <a:bodyPr anchor="ctr" rtlCol="false" tIns="50800" lIns="50800" bIns="50800" rIns="50800"/>
            <a:lstStyle/>
            <a:p>
              <a:pPr algn="ctr">
                <a:lnSpc>
                  <a:spcPts val="6249"/>
                </a:lnSpc>
              </a:pPr>
            </a:p>
          </p:txBody>
        </p:sp>
      </p:grpSp>
      <p:grpSp>
        <p:nvGrpSpPr>
          <p:cNvPr name="Group 23" id="23"/>
          <p:cNvGrpSpPr/>
          <p:nvPr/>
        </p:nvGrpSpPr>
        <p:grpSpPr>
          <a:xfrm rot="0">
            <a:off x="2593443" y="7732202"/>
            <a:ext cx="515944" cy="515944"/>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FDFDFD"/>
              </a:solidFill>
              <a:prstDash val="solid"/>
              <a:miter/>
            </a:ln>
          </p:spPr>
        </p:sp>
        <p:sp>
          <p:nvSpPr>
            <p:cNvPr name="TextBox 25" id="25"/>
            <p:cNvSpPr txBox="true"/>
            <p:nvPr/>
          </p:nvSpPr>
          <p:spPr>
            <a:xfrm>
              <a:off x="76200" y="-257175"/>
              <a:ext cx="660400" cy="993775"/>
            </a:xfrm>
            <a:prstGeom prst="rect">
              <a:avLst/>
            </a:prstGeom>
          </p:spPr>
          <p:txBody>
            <a:bodyPr anchor="ctr" rtlCol="false" tIns="50800" lIns="50800" bIns="50800" rIns="50800"/>
            <a:lstStyle/>
            <a:p>
              <a:pPr algn="ctr">
                <a:lnSpc>
                  <a:spcPts val="6249"/>
                </a:lnSpc>
              </a:pPr>
            </a:p>
          </p:txBody>
        </p:sp>
      </p:grpSp>
      <p:grpSp>
        <p:nvGrpSpPr>
          <p:cNvPr name="Group 26" id="26"/>
          <p:cNvGrpSpPr/>
          <p:nvPr/>
        </p:nvGrpSpPr>
        <p:grpSpPr>
          <a:xfrm rot="0">
            <a:off x="4557248" y="7059400"/>
            <a:ext cx="535167" cy="535167"/>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FDFDFD"/>
              </a:solidFill>
              <a:prstDash val="solid"/>
              <a:miter/>
            </a:ln>
          </p:spPr>
        </p:sp>
        <p:sp>
          <p:nvSpPr>
            <p:cNvPr name="TextBox 28" id="28"/>
            <p:cNvSpPr txBox="true"/>
            <p:nvPr/>
          </p:nvSpPr>
          <p:spPr>
            <a:xfrm>
              <a:off x="76200" y="-257175"/>
              <a:ext cx="660400" cy="993775"/>
            </a:xfrm>
            <a:prstGeom prst="rect">
              <a:avLst/>
            </a:prstGeom>
          </p:spPr>
          <p:txBody>
            <a:bodyPr anchor="ctr" rtlCol="false" tIns="50800" lIns="50800" bIns="50800" rIns="50800"/>
            <a:lstStyle/>
            <a:p>
              <a:pPr algn="ctr">
                <a:lnSpc>
                  <a:spcPts val="6249"/>
                </a:lnSpc>
              </a:pPr>
            </a:p>
          </p:txBody>
        </p:sp>
      </p:grpSp>
      <p:grpSp>
        <p:nvGrpSpPr>
          <p:cNvPr name="Group 29" id="29"/>
          <p:cNvGrpSpPr/>
          <p:nvPr/>
        </p:nvGrpSpPr>
        <p:grpSpPr>
          <a:xfrm rot="0">
            <a:off x="4860151" y="7980563"/>
            <a:ext cx="535167" cy="53516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FDFDFD"/>
              </a:solidFill>
              <a:prstDash val="solid"/>
              <a:miter/>
            </a:ln>
          </p:spPr>
        </p:sp>
        <p:sp>
          <p:nvSpPr>
            <p:cNvPr name="TextBox 31" id="31"/>
            <p:cNvSpPr txBox="true"/>
            <p:nvPr/>
          </p:nvSpPr>
          <p:spPr>
            <a:xfrm>
              <a:off x="76200" y="-257175"/>
              <a:ext cx="660400" cy="993775"/>
            </a:xfrm>
            <a:prstGeom prst="rect">
              <a:avLst/>
            </a:prstGeom>
          </p:spPr>
          <p:txBody>
            <a:bodyPr anchor="ctr" rtlCol="false" tIns="50800" lIns="50800" bIns="50800" rIns="50800"/>
            <a:lstStyle/>
            <a:p>
              <a:pPr algn="ctr">
                <a:lnSpc>
                  <a:spcPts val="6249"/>
                </a:lnSpc>
              </a:pPr>
            </a:p>
          </p:txBody>
        </p:sp>
      </p:grpSp>
      <p:grpSp>
        <p:nvGrpSpPr>
          <p:cNvPr name="Group 32" id="32"/>
          <p:cNvGrpSpPr/>
          <p:nvPr/>
        </p:nvGrpSpPr>
        <p:grpSpPr>
          <a:xfrm rot="0">
            <a:off x="3054831" y="8416500"/>
            <a:ext cx="631790" cy="631790"/>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FDFDFD"/>
              </a:solidFill>
              <a:prstDash val="solid"/>
              <a:miter/>
            </a:ln>
          </p:spPr>
        </p:sp>
        <p:sp>
          <p:nvSpPr>
            <p:cNvPr name="TextBox 34" id="34"/>
            <p:cNvSpPr txBox="true"/>
            <p:nvPr/>
          </p:nvSpPr>
          <p:spPr>
            <a:xfrm>
              <a:off x="76200" y="-257175"/>
              <a:ext cx="660400" cy="993775"/>
            </a:xfrm>
            <a:prstGeom prst="rect">
              <a:avLst/>
            </a:prstGeom>
          </p:spPr>
          <p:txBody>
            <a:bodyPr anchor="ctr" rtlCol="false" tIns="50800" lIns="50800" bIns="50800" rIns="50800"/>
            <a:lstStyle/>
            <a:p>
              <a:pPr algn="ctr">
                <a:lnSpc>
                  <a:spcPts val="6249"/>
                </a:lnSpc>
              </a:pPr>
            </a:p>
          </p:txBody>
        </p:sp>
      </p:grpSp>
      <p:sp>
        <p:nvSpPr>
          <p:cNvPr name="TextBox 35" id="35"/>
          <p:cNvSpPr txBox="true"/>
          <p:nvPr/>
        </p:nvSpPr>
        <p:spPr>
          <a:xfrm rot="0">
            <a:off x="3774034" y="856778"/>
            <a:ext cx="10129093" cy="523875"/>
          </a:xfrm>
          <a:prstGeom prst="rect">
            <a:avLst/>
          </a:prstGeom>
        </p:spPr>
        <p:txBody>
          <a:bodyPr anchor="t" rtlCol="false" tIns="0" lIns="0" bIns="0" rIns="0">
            <a:spAutoFit/>
          </a:bodyPr>
          <a:lstStyle/>
          <a:p>
            <a:pPr algn="ctr">
              <a:lnSpc>
                <a:spcPts val="4199"/>
              </a:lnSpc>
              <a:spcBef>
                <a:spcPct val="0"/>
              </a:spcBef>
            </a:pPr>
            <a:r>
              <a:rPr lang="en-US" b="true" sz="2999">
                <a:solidFill>
                  <a:srgbClr val="191919"/>
                </a:solidFill>
                <a:latin typeface="Poppins Bold"/>
                <a:ea typeface="Poppins Bold"/>
                <a:cs typeface="Poppins Bold"/>
                <a:sym typeface="Poppins Bold"/>
              </a:rPr>
              <a:t>Comparaison de nos résultats avec ceux de l’article</a:t>
            </a:r>
          </a:p>
        </p:txBody>
      </p:sp>
      <p:sp>
        <p:nvSpPr>
          <p:cNvPr name="TextBox 36" id="36"/>
          <p:cNvSpPr txBox="true"/>
          <p:nvPr/>
        </p:nvSpPr>
        <p:spPr>
          <a:xfrm rot="0">
            <a:off x="2348989" y="1421457"/>
            <a:ext cx="4932462" cy="523875"/>
          </a:xfrm>
          <a:prstGeom prst="rect">
            <a:avLst/>
          </a:prstGeom>
        </p:spPr>
        <p:txBody>
          <a:bodyPr anchor="t" rtlCol="false" tIns="0" lIns="0" bIns="0" rIns="0">
            <a:spAutoFit/>
          </a:bodyPr>
          <a:lstStyle/>
          <a:p>
            <a:pPr algn="ctr">
              <a:lnSpc>
                <a:spcPts val="4199"/>
              </a:lnSpc>
              <a:spcBef>
                <a:spcPct val="0"/>
              </a:spcBef>
            </a:pPr>
            <a:r>
              <a:rPr lang="en-US" b="true" sz="2999">
                <a:solidFill>
                  <a:srgbClr val="191919"/>
                </a:solidFill>
                <a:latin typeface="Poppins Bold"/>
                <a:ea typeface="Poppins Bold"/>
                <a:cs typeface="Poppins Bold"/>
                <a:sym typeface="Poppins Bold"/>
              </a:rPr>
              <a:t>Comparaison qualitative</a:t>
            </a:r>
          </a:p>
        </p:txBody>
      </p:sp>
      <p:sp>
        <p:nvSpPr>
          <p:cNvPr name="TextBox 37" id="37"/>
          <p:cNvSpPr txBox="true"/>
          <p:nvPr/>
        </p:nvSpPr>
        <p:spPr>
          <a:xfrm rot="0">
            <a:off x="401341" y="6088708"/>
            <a:ext cx="1453555"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SLIC SIA2</a:t>
            </a:r>
          </a:p>
        </p:txBody>
      </p:sp>
      <p:sp>
        <p:nvSpPr>
          <p:cNvPr name="TextBox 38" id="38"/>
          <p:cNvSpPr txBox="true"/>
          <p:nvPr/>
        </p:nvSpPr>
        <p:spPr>
          <a:xfrm rot="0">
            <a:off x="4668541" y="6088708"/>
            <a:ext cx="1453555"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SLIC SIA2</a:t>
            </a:r>
          </a:p>
        </p:txBody>
      </p:sp>
      <p:sp>
        <p:nvSpPr>
          <p:cNvPr name="TextBox 39" id="39"/>
          <p:cNvSpPr txBox="true"/>
          <p:nvPr/>
        </p:nvSpPr>
        <p:spPr>
          <a:xfrm rot="0">
            <a:off x="2518008" y="6088708"/>
            <a:ext cx="1073646"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Article</a:t>
            </a:r>
          </a:p>
        </p:txBody>
      </p:sp>
      <p:sp>
        <p:nvSpPr>
          <p:cNvPr name="TextBox 40" id="40"/>
          <p:cNvSpPr txBox="true"/>
          <p:nvPr/>
        </p:nvSpPr>
        <p:spPr>
          <a:xfrm rot="0">
            <a:off x="3686621" y="5819691"/>
            <a:ext cx="892350" cy="335692"/>
          </a:xfrm>
          <a:prstGeom prst="rect">
            <a:avLst/>
          </a:prstGeom>
        </p:spPr>
        <p:txBody>
          <a:bodyPr anchor="t" rtlCol="false" tIns="0" lIns="0" bIns="0" rIns="0">
            <a:spAutoFit/>
          </a:bodyPr>
          <a:lstStyle/>
          <a:p>
            <a:pPr algn="ctr">
              <a:lnSpc>
                <a:spcPts val="2691"/>
              </a:lnSpc>
              <a:spcBef>
                <a:spcPct val="0"/>
              </a:spcBef>
            </a:pPr>
            <a:r>
              <a:rPr lang="en-US" sz="1922">
                <a:solidFill>
                  <a:srgbClr val="000000"/>
                </a:solidFill>
                <a:latin typeface="Poppins"/>
                <a:ea typeface="Poppins"/>
                <a:cs typeface="Poppins"/>
                <a:sym typeface="Poppins"/>
              </a:rPr>
              <a:t>k = 500</a:t>
            </a:r>
          </a:p>
        </p:txBody>
      </p:sp>
      <p:sp>
        <p:nvSpPr>
          <p:cNvPr name="TextBox 41" id="41"/>
          <p:cNvSpPr txBox="true"/>
          <p:nvPr/>
        </p:nvSpPr>
        <p:spPr>
          <a:xfrm rot="0">
            <a:off x="6765563" y="6088708"/>
            <a:ext cx="1073646"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Article</a:t>
            </a:r>
          </a:p>
        </p:txBody>
      </p:sp>
      <p:sp>
        <p:nvSpPr>
          <p:cNvPr name="TextBox 42" id="42"/>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725584" y="1042988"/>
            <a:ext cx="4836832" cy="0"/>
          </a:xfrm>
          <a:prstGeom prst="line">
            <a:avLst/>
          </a:prstGeom>
          <a:ln cap="flat" w="28575">
            <a:solidFill>
              <a:srgbClr val="000000"/>
            </a:solidFill>
            <a:prstDash val="solid"/>
            <a:headEnd type="none" len="sm" w="sm"/>
            <a:tailEnd type="none" len="sm" w="sm"/>
          </a:ln>
        </p:spPr>
      </p:sp>
      <p:grpSp>
        <p:nvGrpSpPr>
          <p:cNvPr name="Group 3" id="3"/>
          <p:cNvGrpSpPr/>
          <p:nvPr/>
        </p:nvGrpSpPr>
        <p:grpSpPr>
          <a:xfrm rot="-3503507">
            <a:off x="15971842" y="1684952"/>
            <a:ext cx="12583451" cy="7382737"/>
            <a:chOff x="0" y="0"/>
            <a:chExt cx="3314160" cy="1944424"/>
          </a:xfrm>
        </p:grpSpPr>
        <p:sp>
          <p:nvSpPr>
            <p:cNvPr name="Freeform 4" id="4"/>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5" id="5"/>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grpSp>
        <p:nvGrpSpPr>
          <p:cNvPr name="Group 6" id="6"/>
          <p:cNvGrpSpPr/>
          <p:nvPr/>
        </p:nvGrpSpPr>
        <p:grpSpPr>
          <a:xfrm rot="-3503507">
            <a:off x="-10878133" y="751583"/>
            <a:ext cx="12583451" cy="7382737"/>
            <a:chOff x="0" y="0"/>
            <a:chExt cx="3314160" cy="1944424"/>
          </a:xfrm>
        </p:grpSpPr>
        <p:sp>
          <p:nvSpPr>
            <p:cNvPr name="Freeform 7" id="7"/>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8" id="8"/>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grpSp>
        <p:nvGrpSpPr>
          <p:cNvPr name="Group 9" id="9"/>
          <p:cNvGrpSpPr/>
          <p:nvPr/>
        </p:nvGrpSpPr>
        <p:grpSpPr>
          <a:xfrm rot="0">
            <a:off x="14097350" y="2857123"/>
            <a:ext cx="3985474" cy="2821381"/>
            <a:chOff x="0" y="0"/>
            <a:chExt cx="835519" cy="591477"/>
          </a:xfrm>
        </p:grpSpPr>
        <p:sp>
          <p:nvSpPr>
            <p:cNvPr name="Freeform 10" id="10"/>
            <p:cNvSpPr/>
            <p:nvPr/>
          </p:nvSpPr>
          <p:spPr>
            <a:xfrm flipH="false" flipV="false" rot="0">
              <a:off x="0" y="0"/>
              <a:ext cx="835519" cy="591477"/>
            </a:xfrm>
            <a:custGeom>
              <a:avLst/>
              <a:gdLst/>
              <a:ahLst/>
              <a:cxnLst/>
              <a:rect r="r" b="b" t="t" l="l"/>
              <a:pathLst>
                <a:path h="591477" w="835519">
                  <a:moveTo>
                    <a:pt x="0" y="0"/>
                  </a:moveTo>
                  <a:lnTo>
                    <a:pt x="835519" y="0"/>
                  </a:lnTo>
                  <a:lnTo>
                    <a:pt x="835519" y="591477"/>
                  </a:lnTo>
                  <a:lnTo>
                    <a:pt x="0" y="591477"/>
                  </a:lnTo>
                  <a:close/>
                </a:path>
              </a:pathLst>
            </a:custGeom>
            <a:blipFill>
              <a:blip r:embed="rId2"/>
              <a:stretch>
                <a:fillRect l="-1113" t="0" r="-1113" b="0"/>
              </a:stretch>
            </a:blipFill>
          </p:spPr>
        </p:sp>
      </p:grpSp>
      <p:grpSp>
        <p:nvGrpSpPr>
          <p:cNvPr name="Group 11" id="11"/>
          <p:cNvGrpSpPr/>
          <p:nvPr/>
        </p:nvGrpSpPr>
        <p:grpSpPr>
          <a:xfrm rot="0">
            <a:off x="9744150" y="2857123"/>
            <a:ext cx="4079177" cy="2821381"/>
            <a:chOff x="0" y="0"/>
            <a:chExt cx="855163" cy="591477"/>
          </a:xfrm>
        </p:grpSpPr>
        <p:sp>
          <p:nvSpPr>
            <p:cNvPr name="Freeform 12" id="12"/>
            <p:cNvSpPr/>
            <p:nvPr/>
          </p:nvSpPr>
          <p:spPr>
            <a:xfrm flipH="false" flipV="false" rot="0">
              <a:off x="0" y="0"/>
              <a:ext cx="855163" cy="591477"/>
            </a:xfrm>
            <a:custGeom>
              <a:avLst/>
              <a:gdLst/>
              <a:ahLst/>
              <a:cxnLst/>
              <a:rect r="r" b="b" t="t" l="l"/>
              <a:pathLst>
                <a:path h="591477" w="855163">
                  <a:moveTo>
                    <a:pt x="0" y="0"/>
                  </a:moveTo>
                  <a:lnTo>
                    <a:pt x="855163" y="0"/>
                  </a:lnTo>
                  <a:lnTo>
                    <a:pt x="855163" y="591477"/>
                  </a:lnTo>
                  <a:lnTo>
                    <a:pt x="0" y="591477"/>
                  </a:lnTo>
                  <a:close/>
                </a:path>
              </a:pathLst>
            </a:custGeom>
            <a:blipFill>
              <a:blip r:embed="rId3"/>
              <a:stretch>
                <a:fillRect l="0" t="-61" r="0" b="-61"/>
              </a:stretch>
            </a:blipFill>
          </p:spPr>
        </p:sp>
      </p:grpSp>
      <p:sp>
        <p:nvSpPr>
          <p:cNvPr name="TextBox 13" id="13"/>
          <p:cNvSpPr txBox="true"/>
          <p:nvPr/>
        </p:nvSpPr>
        <p:spPr>
          <a:xfrm rot="0">
            <a:off x="2926108" y="292112"/>
            <a:ext cx="12435784" cy="819139"/>
          </a:xfrm>
          <a:prstGeom prst="rect">
            <a:avLst/>
          </a:prstGeom>
        </p:spPr>
        <p:txBody>
          <a:bodyPr anchor="t" rtlCol="false" tIns="0" lIns="0" bIns="0" rIns="0">
            <a:spAutoFit/>
          </a:bodyPr>
          <a:lstStyle/>
          <a:p>
            <a:pPr algn="ctr">
              <a:lnSpc>
                <a:spcPts val="6300"/>
              </a:lnSpc>
            </a:pPr>
            <a:r>
              <a:rPr lang="en-US" b="true" sz="4500" spc="423">
                <a:solidFill>
                  <a:srgbClr val="8D0000"/>
                </a:solidFill>
                <a:latin typeface="Poppins Bold"/>
                <a:ea typeface="Poppins Bold"/>
                <a:cs typeface="Poppins Bold"/>
                <a:sym typeface="Poppins Bold"/>
              </a:rPr>
              <a:t>APPLICATIONS ET RÉSULTATS</a:t>
            </a:r>
          </a:p>
        </p:txBody>
      </p:sp>
      <p:grpSp>
        <p:nvGrpSpPr>
          <p:cNvPr name="Group 14" id="14"/>
          <p:cNvGrpSpPr/>
          <p:nvPr/>
        </p:nvGrpSpPr>
        <p:grpSpPr>
          <a:xfrm rot="0">
            <a:off x="14476744" y="0"/>
            <a:ext cx="5565113" cy="672181"/>
            <a:chOff x="0" y="0"/>
            <a:chExt cx="1465709" cy="177035"/>
          </a:xfrm>
        </p:grpSpPr>
        <p:sp>
          <p:nvSpPr>
            <p:cNvPr name="Freeform 15" id="15"/>
            <p:cNvSpPr/>
            <p:nvPr/>
          </p:nvSpPr>
          <p:spPr>
            <a:xfrm flipH="false" flipV="false" rot="0">
              <a:off x="0" y="0"/>
              <a:ext cx="1465709" cy="177035"/>
            </a:xfrm>
            <a:custGeom>
              <a:avLst/>
              <a:gdLst/>
              <a:ahLst/>
              <a:cxnLst/>
              <a:rect r="r" b="b" t="t" l="l"/>
              <a:pathLst>
                <a:path h="177035" w="1465709">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D0000"/>
            </a:solidFill>
          </p:spPr>
        </p:sp>
        <p:sp>
          <p:nvSpPr>
            <p:cNvPr name="TextBox 16" id="16"/>
            <p:cNvSpPr txBox="true"/>
            <p:nvPr/>
          </p:nvSpPr>
          <p:spPr>
            <a:xfrm>
              <a:off x="0" y="-333375"/>
              <a:ext cx="1465709" cy="510410"/>
            </a:xfrm>
            <a:prstGeom prst="rect">
              <a:avLst/>
            </a:prstGeom>
          </p:spPr>
          <p:txBody>
            <a:bodyPr anchor="ctr" rtlCol="false" tIns="50800" lIns="50800" bIns="50800" rIns="50800"/>
            <a:lstStyle/>
            <a:p>
              <a:pPr algn="ctr">
                <a:lnSpc>
                  <a:spcPts val="6249"/>
                </a:lnSpc>
              </a:pPr>
            </a:p>
          </p:txBody>
        </p:sp>
      </p:grpSp>
      <p:sp>
        <p:nvSpPr>
          <p:cNvPr name="Freeform 17" id="17"/>
          <p:cNvSpPr/>
          <p:nvPr/>
        </p:nvSpPr>
        <p:spPr>
          <a:xfrm flipH="false" flipV="false" rot="0">
            <a:off x="830580" y="2183457"/>
            <a:ext cx="8499825" cy="3552197"/>
          </a:xfrm>
          <a:custGeom>
            <a:avLst/>
            <a:gdLst/>
            <a:ahLst/>
            <a:cxnLst/>
            <a:rect r="r" b="b" t="t" l="l"/>
            <a:pathLst>
              <a:path h="3552197" w="8499825">
                <a:moveTo>
                  <a:pt x="0" y="0"/>
                </a:moveTo>
                <a:lnTo>
                  <a:pt x="8499825" y="0"/>
                </a:lnTo>
                <a:lnTo>
                  <a:pt x="8499825" y="3552197"/>
                </a:lnTo>
                <a:lnTo>
                  <a:pt x="0" y="3552197"/>
                </a:lnTo>
                <a:lnTo>
                  <a:pt x="0" y="0"/>
                </a:lnTo>
                <a:close/>
              </a:path>
            </a:pathLst>
          </a:custGeom>
          <a:blipFill>
            <a:blip r:embed="rId4"/>
            <a:stretch>
              <a:fillRect l="0" t="-305229" r="-1822" b="0"/>
            </a:stretch>
          </a:blipFill>
        </p:spPr>
      </p:sp>
      <p:grpSp>
        <p:nvGrpSpPr>
          <p:cNvPr name="Group 18" id="18"/>
          <p:cNvGrpSpPr/>
          <p:nvPr/>
        </p:nvGrpSpPr>
        <p:grpSpPr>
          <a:xfrm rot="0">
            <a:off x="1802464" y="1650539"/>
            <a:ext cx="373042" cy="37304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8D0000"/>
            </a:solidFill>
          </p:spPr>
        </p:sp>
        <p:sp>
          <p:nvSpPr>
            <p:cNvPr name="TextBox 20" id="20"/>
            <p:cNvSpPr txBox="true"/>
            <p:nvPr/>
          </p:nvSpPr>
          <p:spPr>
            <a:xfrm>
              <a:off x="0" y="-130175"/>
              <a:ext cx="711200" cy="739775"/>
            </a:xfrm>
            <a:prstGeom prst="rect">
              <a:avLst/>
            </a:prstGeom>
          </p:spPr>
          <p:txBody>
            <a:bodyPr anchor="ctr" rtlCol="false" tIns="50800" lIns="50800" bIns="50800" rIns="50800"/>
            <a:lstStyle/>
            <a:p>
              <a:pPr algn="ctr">
                <a:lnSpc>
                  <a:spcPts val="6249"/>
                </a:lnSpc>
              </a:pPr>
            </a:p>
          </p:txBody>
        </p:sp>
      </p:grpSp>
      <p:grpSp>
        <p:nvGrpSpPr>
          <p:cNvPr name="Group 21" id="21"/>
          <p:cNvGrpSpPr/>
          <p:nvPr/>
        </p:nvGrpSpPr>
        <p:grpSpPr>
          <a:xfrm rot="0">
            <a:off x="1230018" y="5853138"/>
            <a:ext cx="373042" cy="373042"/>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8D0000"/>
            </a:solidFill>
          </p:spPr>
        </p:sp>
        <p:sp>
          <p:nvSpPr>
            <p:cNvPr name="TextBox 23" id="23"/>
            <p:cNvSpPr txBox="true"/>
            <p:nvPr/>
          </p:nvSpPr>
          <p:spPr>
            <a:xfrm>
              <a:off x="0" y="-130175"/>
              <a:ext cx="711200" cy="739775"/>
            </a:xfrm>
            <a:prstGeom prst="rect">
              <a:avLst/>
            </a:prstGeom>
          </p:spPr>
          <p:txBody>
            <a:bodyPr anchor="ctr" rtlCol="false" tIns="50800" lIns="50800" bIns="50800" rIns="50800"/>
            <a:lstStyle/>
            <a:p>
              <a:pPr algn="ctr">
                <a:lnSpc>
                  <a:spcPts val="6249"/>
                </a:lnSpc>
              </a:pPr>
            </a:p>
          </p:txBody>
        </p:sp>
      </p:grpSp>
      <p:graphicFrame>
        <p:nvGraphicFramePr>
          <p:cNvPr name="Table 24" id="24"/>
          <p:cNvGraphicFramePr>
            <a:graphicFrameLocks noGrp="true"/>
          </p:cNvGraphicFramePr>
          <p:nvPr/>
        </p:nvGraphicFramePr>
        <p:xfrm>
          <a:off x="1603060" y="6245230"/>
          <a:ext cx="8510205" cy="3943350"/>
        </p:xfrm>
        <a:graphic>
          <a:graphicData uri="http://schemas.openxmlformats.org/drawingml/2006/table">
            <a:tbl>
              <a:tblPr/>
              <a:tblGrid>
                <a:gridCol w="2216641"/>
                <a:gridCol w="2007688"/>
                <a:gridCol w="2149596"/>
                <a:gridCol w="2136279"/>
              </a:tblGrid>
              <a:tr h="855995">
                <a:tc>
                  <a:txBody>
                    <a:bodyPr anchor="t" rtlCol="false"/>
                    <a:lstStyle/>
                    <a:p>
                      <a:pPr algn="ctr">
                        <a:lnSpc>
                          <a:spcPts val="1349"/>
                        </a:lnSpc>
                        <a:defRPr/>
                      </a:pPr>
                      <a:r>
                        <a:rPr lang="en-US" sz="1752" b="true">
                          <a:solidFill>
                            <a:srgbClr val="000000"/>
                          </a:solidFill>
                          <a:latin typeface="Poppins Bold"/>
                          <a:ea typeface="Poppins Bold"/>
                          <a:cs typeface="Poppins Bold"/>
                          <a:sym typeface="Poppins Bold"/>
                        </a:rPr>
                        <a:t>Image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349"/>
                        </a:lnSpc>
                        <a:defRPr/>
                      </a:pPr>
                      <a:r>
                        <a:rPr lang="en-US" sz="1752" b="true">
                          <a:solidFill>
                            <a:srgbClr val="000000"/>
                          </a:solidFill>
                          <a:latin typeface="Poppins Bold"/>
                          <a:ea typeface="Poppins Bold"/>
                          <a:cs typeface="Poppins Bold"/>
                          <a:sym typeface="Poppins Bold"/>
                        </a:rPr>
                        <a:t>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349"/>
                        </a:lnSpc>
                        <a:defRPr/>
                      </a:pPr>
                      <a:r>
                        <a:rPr lang="en-US" sz="1752" b="true">
                          <a:solidFill>
                            <a:srgbClr val="000000"/>
                          </a:solidFill>
                          <a:latin typeface="Poppins Bold"/>
                          <a:ea typeface="Poppins Bold"/>
                          <a:cs typeface="Poppins Bold"/>
                          <a:sym typeface="Poppins Bold"/>
                        </a:rPr>
                        <a:t>BR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349"/>
                        </a:lnSpc>
                        <a:defRPr/>
                      </a:pPr>
                      <a:r>
                        <a:rPr lang="en-US" sz="1752" b="true">
                          <a:solidFill>
                            <a:srgbClr val="000000"/>
                          </a:solidFill>
                          <a:latin typeface="Poppins Bold"/>
                          <a:ea typeface="Poppins Bold"/>
                          <a:cs typeface="Poppins Bold"/>
                          <a:sym typeface="Poppins Bold"/>
                        </a:rPr>
                        <a:t>ASA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65613">
                <a:tc rowSpan="2">
                  <a:txBody>
                    <a:bodyPr anchor="t" rtlCol="false"/>
                    <a:lstStyle/>
                    <a:p>
                      <a:pPr algn="ctr">
                        <a:lnSpc>
                          <a:spcPts val="1349"/>
                        </a:lnSpc>
                        <a:defRPr/>
                      </a:pPr>
                      <a:r>
                        <a:rPr lang="en-US" sz="1752">
                          <a:solidFill>
                            <a:srgbClr val="000000"/>
                          </a:solidFill>
                          <a:latin typeface="Poppins"/>
                          <a:ea typeface="Poppins"/>
                          <a:cs typeface="Poppins"/>
                          <a:sym typeface="Poppins"/>
                        </a:rPr>
                        <a:t>Église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033"/>
                        </a:lnSpc>
                        <a:defRPr/>
                      </a:pPr>
                      <a:r>
                        <a:rPr lang="en-US" sz="1752">
                          <a:solidFill>
                            <a:srgbClr val="000000"/>
                          </a:solidFill>
                          <a:latin typeface="Poppins"/>
                          <a:ea typeface="Poppins"/>
                          <a:cs typeface="Poppins"/>
                          <a:sym typeface="Poppins"/>
                        </a:rPr>
                        <a:t>500</a:t>
                      </a:r>
                      <a:endParaRPr lang="en-US" sz="1100"/>
                    </a:p>
                  </a:txBody>
                  <a:tcPr marL="190500" marR="190500" marT="190500" marB="190500" anchor="b">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033"/>
                        </a:lnSpc>
                        <a:defRPr/>
                      </a:pPr>
                      <a:r>
                        <a:rPr lang="en-US" sz="1752">
                          <a:solidFill>
                            <a:srgbClr val="000000"/>
                          </a:solidFill>
                          <a:latin typeface="Poppins"/>
                          <a:ea typeface="Poppins"/>
                          <a:cs typeface="Poppins"/>
                          <a:sym typeface="Poppins"/>
                        </a:rPr>
                        <a:t>0.888</a:t>
                      </a:r>
                      <a:endParaRPr lang="en-US" sz="1100"/>
                    </a:p>
                  </a:txBody>
                  <a:tcPr marL="190500" marR="190500" marT="190500" marB="190500" anchor="b">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033"/>
                        </a:lnSpc>
                        <a:defRPr/>
                      </a:pPr>
                      <a:r>
                        <a:rPr lang="en-US" sz="1752">
                          <a:solidFill>
                            <a:srgbClr val="000000"/>
                          </a:solidFill>
                          <a:latin typeface="Poppins"/>
                          <a:ea typeface="Poppins"/>
                          <a:cs typeface="Poppins"/>
                          <a:sym typeface="Poppins"/>
                        </a:rPr>
                        <a:t>0.967</a:t>
                      </a:r>
                      <a:endParaRPr lang="en-US" sz="1100"/>
                    </a:p>
                  </a:txBody>
                  <a:tcPr marL="190500" marR="190500" marT="190500" marB="190500" anchor="b">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55995">
                <a:tc vMerge="true">
                  <a:txBody>
                    <a:bodyPr anchor="t" rtlCol="false"/>
                    <a:lstStyle/>
                    <a:p>
                      <a:pPr algn="ctr">
                        <a:lnSpc>
                          <a:spcPts val="1349"/>
                        </a:lnSpc>
                        <a:defRPr/>
                      </a:pPr>
                      <a:r>
                        <a:rPr lang="en-US" sz="1752">
                          <a:solidFill>
                            <a:srgbClr val="000000"/>
                          </a:solidFill>
                          <a:latin typeface="Poppins"/>
                          <a:ea typeface="Poppins"/>
                          <a:cs typeface="Poppins"/>
                          <a:sym typeface="Poppins"/>
                        </a:rPr>
                        <a:t>Église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1462"/>
                        </a:lnSpc>
                        <a:defRPr/>
                      </a:pPr>
                      <a:r>
                        <a:rPr lang="en-US" sz="1899">
                          <a:solidFill>
                            <a:srgbClr val="000000"/>
                          </a:solidFill>
                          <a:latin typeface="Arimo"/>
                          <a:ea typeface="Arimo"/>
                          <a:cs typeface="Arimo"/>
                          <a:sym typeface="Arimo"/>
                        </a:rPr>
                        <a:t>      </a:t>
                      </a:r>
                      <a:r>
                        <a:rPr lang="en-US" sz="1899">
                          <a:solidFill>
                            <a:srgbClr val="000000"/>
                          </a:solidFill>
                          <a:latin typeface="Arimo"/>
                          <a:ea typeface="Arimo"/>
                          <a:cs typeface="Arimo"/>
                          <a:sym typeface="Arimo"/>
                        </a:rPr>
                        <a:t>1500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462"/>
                        </a:lnSpc>
                        <a:defRPr/>
                      </a:pPr>
                      <a:r>
                        <a:rPr lang="en-US" sz="1899">
                          <a:solidFill>
                            <a:srgbClr val="000000"/>
                          </a:solidFill>
                          <a:latin typeface="Arimo"/>
                          <a:ea typeface="Arimo"/>
                          <a:cs typeface="Arimo"/>
                          <a:sym typeface="Arimo"/>
                        </a:rPr>
                        <a:t>0.972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349"/>
                        </a:lnSpc>
                        <a:defRPr/>
                      </a:pPr>
                      <a:r>
                        <a:rPr lang="en-US" sz="1752">
                          <a:solidFill>
                            <a:srgbClr val="000000"/>
                          </a:solidFill>
                          <a:latin typeface="Poppins"/>
                          <a:ea typeface="Poppins"/>
                          <a:cs typeface="Poppins"/>
                          <a:sym typeface="Poppins"/>
                        </a:rPr>
                        <a:t>0.979</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65746">
                <a:tc>
                  <a:txBody>
                    <a:bodyPr anchor="t" rtlCol="false"/>
                    <a:lstStyle/>
                    <a:p>
                      <a:pPr algn="ctr">
                        <a:lnSpc>
                          <a:spcPts val="1349"/>
                        </a:lnSpc>
                        <a:defRPr/>
                      </a:pPr>
                      <a:r>
                        <a:rPr lang="en-US" sz="1752">
                          <a:solidFill>
                            <a:srgbClr val="000000"/>
                          </a:solidFill>
                          <a:latin typeface="Poppins"/>
                          <a:ea typeface="Poppins"/>
                          <a:cs typeface="Poppins"/>
                          <a:sym typeface="Poppins"/>
                        </a:rPr>
                        <a:t>Petit garçon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997"/>
                        </a:lnSpc>
                        <a:defRPr/>
                      </a:pPr>
                      <a:r>
                        <a:rPr lang="en-US" sz="1752">
                          <a:solidFill>
                            <a:srgbClr val="000000"/>
                          </a:solidFill>
                          <a:latin typeface="Poppins"/>
                          <a:ea typeface="Poppins"/>
                          <a:cs typeface="Poppins"/>
                          <a:sym typeface="Poppins"/>
                        </a:rPr>
                        <a:t>500</a:t>
                      </a:r>
                      <a:endParaRPr lang="en-US" sz="1100"/>
                    </a:p>
                    <a:p>
                      <a:pPr algn="ctr">
                        <a:lnSpc>
                          <a:spcPts val="1997"/>
                        </a:lnSpc>
                      </a:pPr>
                    </a:p>
                    <a:p>
                      <a:pPr algn="ctr">
                        <a:lnSpc>
                          <a:spcPts val="1997"/>
                        </a:lnSpc>
                      </a:pPr>
                      <a:r>
                        <a:rPr lang="en-US" sz="1752">
                          <a:solidFill>
                            <a:srgbClr val="000000"/>
                          </a:solidFill>
                          <a:latin typeface="Poppins"/>
                          <a:ea typeface="Poppins"/>
                          <a:cs typeface="Poppins"/>
                          <a:sym typeface="Poppins"/>
                        </a:rPr>
                        <a:t>1500</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997"/>
                        </a:lnSpc>
                        <a:defRPr/>
                      </a:pPr>
                      <a:r>
                        <a:rPr lang="en-US" sz="1752">
                          <a:solidFill>
                            <a:srgbClr val="000000"/>
                          </a:solidFill>
                          <a:latin typeface="Poppins"/>
                          <a:ea typeface="Poppins"/>
                          <a:cs typeface="Poppins"/>
                          <a:sym typeface="Poppins"/>
                        </a:rPr>
                        <a:t>0.886</a:t>
                      </a:r>
                      <a:endParaRPr lang="en-US" sz="1100"/>
                    </a:p>
                    <a:p>
                      <a:pPr algn="ctr">
                        <a:lnSpc>
                          <a:spcPts val="1997"/>
                        </a:lnSpc>
                      </a:pPr>
                    </a:p>
                    <a:p>
                      <a:pPr algn="ctr">
                        <a:lnSpc>
                          <a:spcPts val="1997"/>
                        </a:lnSpc>
                      </a:pPr>
                      <a:r>
                        <a:rPr lang="en-US" sz="1752">
                          <a:solidFill>
                            <a:srgbClr val="000000"/>
                          </a:solidFill>
                          <a:latin typeface="Poppins"/>
                          <a:ea typeface="Poppins"/>
                          <a:cs typeface="Poppins"/>
                          <a:sym typeface="Poppins"/>
                        </a:rPr>
                        <a:t>0.957</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1997"/>
                        </a:lnSpc>
                        <a:defRPr/>
                      </a:pPr>
                      <a:r>
                        <a:rPr lang="en-US" sz="1752">
                          <a:solidFill>
                            <a:srgbClr val="000000"/>
                          </a:solidFill>
                          <a:latin typeface="Poppins"/>
                          <a:ea typeface="Poppins"/>
                          <a:cs typeface="Poppins"/>
                          <a:sym typeface="Poppins"/>
                        </a:rPr>
                        <a:t>0.965</a:t>
                      </a:r>
                      <a:endParaRPr lang="en-US" sz="1100"/>
                    </a:p>
                    <a:p>
                      <a:pPr algn="ctr">
                        <a:lnSpc>
                          <a:spcPts val="1997"/>
                        </a:lnSpc>
                      </a:pPr>
                    </a:p>
                    <a:p>
                      <a:pPr algn="ctr">
                        <a:lnSpc>
                          <a:spcPts val="1997"/>
                        </a:lnSpc>
                      </a:pPr>
                      <a:r>
                        <a:rPr lang="en-US" sz="1752">
                          <a:solidFill>
                            <a:srgbClr val="000000"/>
                          </a:solidFill>
                          <a:latin typeface="Poppins"/>
                          <a:ea typeface="Poppins"/>
                          <a:cs typeface="Poppins"/>
                          <a:sym typeface="Poppins"/>
                        </a:rPr>
                        <a:t>0.974</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25" id="25"/>
          <p:cNvSpPr txBox="true"/>
          <p:nvPr/>
        </p:nvSpPr>
        <p:spPr>
          <a:xfrm rot="0">
            <a:off x="3280376" y="966788"/>
            <a:ext cx="10129093" cy="523875"/>
          </a:xfrm>
          <a:prstGeom prst="rect">
            <a:avLst/>
          </a:prstGeom>
        </p:spPr>
        <p:txBody>
          <a:bodyPr anchor="t" rtlCol="false" tIns="0" lIns="0" bIns="0" rIns="0">
            <a:spAutoFit/>
          </a:bodyPr>
          <a:lstStyle/>
          <a:p>
            <a:pPr algn="ctr">
              <a:lnSpc>
                <a:spcPts val="4199"/>
              </a:lnSpc>
              <a:spcBef>
                <a:spcPct val="0"/>
              </a:spcBef>
            </a:pPr>
            <a:r>
              <a:rPr lang="en-US" b="true" sz="2999">
                <a:solidFill>
                  <a:srgbClr val="191919"/>
                </a:solidFill>
                <a:latin typeface="Poppins Bold"/>
                <a:ea typeface="Poppins Bold"/>
                <a:cs typeface="Poppins Bold"/>
                <a:sym typeface="Poppins Bold"/>
              </a:rPr>
              <a:t>Comparaison de nos résultats avec ceux de l’article</a:t>
            </a:r>
          </a:p>
        </p:txBody>
      </p:sp>
      <p:sp>
        <p:nvSpPr>
          <p:cNvPr name="TextBox 26" id="26"/>
          <p:cNvSpPr txBox="true"/>
          <p:nvPr/>
        </p:nvSpPr>
        <p:spPr>
          <a:xfrm rot="0">
            <a:off x="10113265" y="2358606"/>
            <a:ext cx="1453555"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SLIC SIA2</a:t>
            </a:r>
          </a:p>
        </p:txBody>
      </p:sp>
      <p:sp>
        <p:nvSpPr>
          <p:cNvPr name="TextBox 27" id="27"/>
          <p:cNvSpPr txBox="true"/>
          <p:nvPr/>
        </p:nvSpPr>
        <p:spPr>
          <a:xfrm rot="0">
            <a:off x="14380465" y="2358606"/>
            <a:ext cx="1453555"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SLIC SIA2</a:t>
            </a:r>
          </a:p>
        </p:txBody>
      </p:sp>
      <p:sp>
        <p:nvSpPr>
          <p:cNvPr name="TextBox 28" id="28"/>
          <p:cNvSpPr txBox="true"/>
          <p:nvPr/>
        </p:nvSpPr>
        <p:spPr>
          <a:xfrm rot="0">
            <a:off x="12229932" y="2358606"/>
            <a:ext cx="1073646"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Article</a:t>
            </a:r>
          </a:p>
        </p:txBody>
      </p:sp>
      <p:sp>
        <p:nvSpPr>
          <p:cNvPr name="TextBox 29" id="29"/>
          <p:cNvSpPr txBox="true"/>
          <p:nvPr/>
        </p:nvSpPr>
        <p:spPr>
          <a:xfrm rot="0">
            <a:off x="13359485" y="2089589"/>
            <a:ext cx="970470" cy="335692"/>
          </a:xfrm>
          <a:prstGeom prst="rect">
            <a:avLst/>
          </a:prstGeom>
        </p:spPr>
        <p:txBody>
          <a:bodyPr anchor="t" rtlCol="false" tIns="0" lIns="0" bIns="0" rIns="0">
            <a:spAutoFit/>
          </a:bodyPr>
          <a:lstStyle/>
          <a:p>
            <a:pPr algn="ctr">
              <a:lnSpc>
                <a:spcPts val="2691"/>
              </a:lnSpc>
              <a:spcBef>
                <a:spcPct val="0"/>
              </a:spcBef>
            </a:pPr>
            <a:r>
              <a:rPr lang="en-US" sz="1922">
                <a:solidFill>
                  <a:srgbClr val="000000"/>
                </a:solidFill>
                <a:latin typeface="Poppins"/>
                <a:ea typeface="Poppins"/>
                <a:cs typeface="Poppins"/>
                <a:sym typeface="Poppins"/>
              </a:rPr>
              <a:t>k = 1500</a:t>
            </a:r>
          </a:p>
        </p:txBody>
      </p:sp>
      <p:sp>
        <p:nvSpPr>
          <p:cNvPr name="TextBox 30" id="30"/>
          <p:cNvSpPr txBox="true"/>
          <p:nvPr/>
        </p:nvSpPr>
        <p:spPr>
          <a:xfrm rot="0">
            <a:off x="16477487" y="2358606"/>
            <a:ext cx="1073646"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Article</a:t>
            </a:r>
          </a:p>
        </p:txBody>
      </p:sp>
      <p:sp>
        <p:nvSpPr>
          <p:cNvPr name="TextBox 31" id="31"/>
          <p:cNvSpPr txBox="true"/>
          <p:nvPr/>
        </p:nvSpPr>
        <p:spPr>
          <a:xfrm rot="0">
            <a:off x="2483079" y="1537022"/>
            <a:ext cx="4932462" cy="523875"/>
          </a:xfrm>
          <a:prstGeom prst="rect">
            <a:avLst/>
          </a:prstGeom>
        </p:spPr>
        <p:txBody>
          <a:bodyPr anchor="t" rtlCol="false" tIns="0" lIns="0" bIns="0" rIns="0">
            <a:spAutoFit/>
          </a:bodyPr>
          <a:lstStyle/>
          <a:p>
            <a:pPr algn="ctr">
              <a:lnSpc>
                <a:spcPts val="4199"/>
              </a:lnSpc>
              <a:spcBef>
                <a:spcPct val="0"/>
              </a:spcBef>
            </a:pPr>
            <a:r>
              <a:rPr lang="en-US" b="true" sz="2999">
                <a:solidFill>
                  <a:srgbClr val="191919"/>
                </a:solidFill>
                <a:latin typeface="Poppins Bold"/>
                <a:ea typeface="Poppins Bold"/>
                <a:cs typeface="Poppins Bold"/>
                <a:sym typeface="Poppins Bold"/>
              </a:rPr>
              <a:t>Comparaison qualitative</a:t>
            </a:r>
          </a:p>
        </p:txBody>
      </p:sp>
      <p:sp>
        <p:nvSpPr>
          <p:cNvPr name="TextBox 32" id="32"/>
          <p:cNvSpPr txBox="true"/>
          <p:nvPr/>
        </p:nvSpPr>
        <p:spPr>
          <a:xfrm rot="0">
            <a:off x="1854896" y="5702305"/>
            <a:ext cx="5095875" cy="523875"/>
          </a:xfrm>
          <a:prstGeom prst="rect">
            <a:avLst/>
          </a:prstGeom>
        </p:spPr>
        <p:txBody>
          <a:bodyPr anchor="t" rtlCol="false" tIns="0" lIns="0" bIns="0" rIns="0">
            <a:spAutoFit/>
          </a:bodyPr>
          <a:lstStyle/>
          <a:p>
            <a:pPr algn="ctr">
              <a:lnSpc>
                <a:spcPts val="4199"/>
              </a:lnSpc>
              <a:spcBef>
                <a:spcPct val="0"/>
              </a:spcBef>
            </a:pPr>
            <a:r>
              <a:rPr lang="en-US" b="true" sz="2999">
                <a:solidFill>
                  <a:srgbClr val="191919"/>
                </a:solidFill>
                <a:latin typeface="Poppins Bold"/>
                <a:ea typeface="Poppins Bold"/>
                <a:cs typeface="Poppins Bold"/>
                <a:sym typeface="Poppins Bold"/>
              </a:rPr>
              <a:t>Appreciation quantitative</a:t>
            </a:r>
          </a:p>
        </p:txBody>
      </p:sp>
      <p:sp>
        <p:nvSpPr>
          <p:cNvPr name="AutoShape 33" id="33"/>
          <p:cNvSpPr/>
          <p:nvPr/>
        </p:nvSpPr>
        <p:spPr>
          <a:xfrm>
            <a:off x="3866985" y="9409112"/>
            <a:ext cx="6246280" cy="0"/>
          </a:xfrm>
          <a:prstGeom prst="line">
            <a:avLst/>
          </a:prstGeom>
          <a:ln cap="flat" w="38100">
            <a:solidFill>
              <a:srgbClr val="000000"/>
            </a:solidFill>
            <a:prstDash val="solid"/>
            <a:headEnd type="none" len="sm" w="sm"/>
            <a:tailEnd type="none" len="sm" w="sm"/>
          </a:ln>
        </p:spPr>
      </p:sp>
      <p:sp>
        <p:nvSpPr>
          <p:cNvPr name="TextBox 34" id="34"/>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470139" y="1736991"/>
            <a:ext cx="4836832" cy="0"/>
          </a:xfrm>
          <a:prstGeom prst="line">
            <a:avLst/>
          </a:prstGeom>
          <a:ln cap="flat" w="28575">
            <a:solidFill>
              <a:srgbClr val="000000"/>
            </a:solidFill>
            <a:prstDash val="solid"/>
            <a:headEnd type="none" len="sm" w="sm"/>
            <a:tailEnd type="none" len="sm" w="sm"/>
          </a:ln>
        </p:spPr>
      </p:sp>
      <p:grpSp>
        <p:nvGrpSpPr>
          <p:cNvPr name="Group 3" id="3"/>
          <p:cNvGrpSpPr/>
          <p:nvPr/>
        </p:nvGrpSpPr>
        <p:grpSpPr>
          <a:xfrm rot="-3503507">
            <a:off x="15971842" y="1684952"/>
            <a:ext cx="12583451" cy="7382737"/>
            <a:chOff x="0" y="0"/>
            <a:chExt cx="3314160" cy="1944424"/>
          </a:xfrm>
        </p:grpSpPr>
        <p:sp>
          <p:nvSpPr>
            <p:cNvPr name="Freeform 4" id="4"/>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5" id="5"/>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grpSp>
        <p:nvGrpSpPr>
          <p:cNvPr name="Group 6" id="6"/>
          <p:cNvGrpSpPr/>
          <p:nvPr/>
        </p:nvGrpSpPr>
        <p:grpSpPr>
          <a:xfrm rot="-3503507">
            <a:off x="-10878133" y="751583"/>
            <a:ext cx="12583451" cy="7382737"/>
            <a:chOff x="0" y="0"/>
            <a:chExt cx="3314160" cy="1944424"/>
          </a:xfrm>
        </p:grpSpPr>
        <p:sp>
          <p:nvSpPr>
            <p:cNvPr name="Freeform 7" id="7"/>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8" id="8"/>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sp>
        <p:nvSpPr>
          <p:cNvPr name="AutoShape 9" id="9"/>
          <p:cNvSpPr/>
          <p:nvPr/>
        </p:nvSpPr>
        <p:spPr>
          <a:xfrm>
            <a:off x="9182796" y="2436609"/>
            <a:ext cx="0" cy="6821691"/>
          </a:xfrm>
          <a:prstGeom prst="line">
            <a:avLst/>
          </a:prstGeom>
          <a:ln cap="flat" w="38100">
            <a:solidFill>
              <a:srgbClr val="000000"/>
            </a:solidFill>
            <a:prstDash val="solid"/>
            <a:headEnd type="none" len="sm" w="sm"/>
            <a:tailEnd type="none" len="sm" w="sm"/>
          </a:ln>
        </p:spPr>
      </p:sp>
      <p:sp>
        <p:nvSpPr>
          <p:cNvPr name="Freeform 10" id="10"/>
          <p:cNvSpPr/>
          <p:nvPr/>
        </p:nvSpPr>
        <p:spPr>
          <a:xfrm flipH="false" flipV="false" rot="0">
            <a:off x="881779" y="2513503"/>
            <a:ext cx="3572393" cy="2384086"/>
          </a:xfrm>
          <a:custGeom>
            <a:avLst/>
            <a:gdLst/>
            <a:ahLst/>
            <a:cxnLst/>
            <a:rect r="r" b="b" t="t" l="l"/>
            <a:pathLst>
              <a:path h="2384086" w="3572393">
                <a:moveTo>
                  <a:pt x="0" y="0"/>
                </a:moveTo>
                <a:lnTo>
                  <a:pt x="3572393" y="0"/>
                </a:lnTo>
                <a:lnTo>
                  <a:pt x="3572393" y="2384087"/>
                </a:lnTo>
                <a:lnTo>
                  <a:pt x="0" y="2384087"/>
                </a:lnTo>
                <a:lnTo>
                  <a:pt x="0" y="0"/>
                </a:lnTo>
                <a:close/>
              </a:path>
            </a:pathLst>
          </a:custGeom>
          <a:blipFill>
            <a:blip r:embed="rId2"/>
            <a:stretch>
              <a:fillRect l="0" t="0" r="0" b="0"/>
            </a:stretch>
          </a:blipFill>
        </p:spPr>
      </p:sp>
      <p:sp>
        <p:nvSpPr>
          <p:cNvPr name="Freeform 11" id="11"/>
          <p:cNvSpPr/>
          <p:nvPr/>
        </p:nvSpPr>
        <p:spPr>
          <a:xfrm flipH="false" flipV="false" rot="0">
            <a:off x="5033973" y="2513503"/>
            <a:ext cx="3549972" cy="2384086"/>
          </a:xfrm>
          <a:custGeom>
            <a:avLst/>
            <a:gdLst/>
            <a:ahLst/>
            <a:cxnLst/>
            <a:rect r="r" b="b" t="t" l="l"/>
            <a:pathLst>
              <a:path h="2384086" w="3549972">
                <a:moveTo>
                  <a:pt x="0" y="0"/>
                </a:moveTo>
                <a:lnTo>
                  <a:pt x="3549972" y="0"/>
                </a:lnTo>
                <a:lnTo>
                  <a:pt x="3549972" y="2384087"/>
                </a:lnTo>
                <a:lnTo>
                  <a:pt x="0" y="2384087"/>
                </a:lnTo>
                <a:lnTo>
                  <a:pt x="0" y="0"/>
                </a:lnTo>
                <a:close/>
              </a:path>
            </a:pathLst>
          </a:custGeom>
          <a:blipFill>
            <a:blip r:embed="rId3"/>
            <a:stretch>
              <a:fillRect l="0" t="0" r="0" b="0"/>
            </a:stretch>
          </a:blipFill>
        </p:spPr>
      </p:sp>
      <p:sp>
        <p:nvSpPr>
          <p:cNvPr name="Freeform 12" id="12"/>
          <p:cNvSpPr/>
          <p:nvPr/>
        </p:nvSpPr>
        <p:spPr>
          <a:xfrm flipH="false" flipV="false" rot="0">
            <a:off x="2897875" y="5269065"/>
            <a:ext cx="3772034" cy="2517271"/>
          </a:xfrm>
          <a:custGeom>
            <a:avLst/>
            <a:gdLst/>
            <a:ahLst/>
            <a:cxnLst/>
            <a:rect r="r" b="b" t="t" l="l"/>
            <a:pathLst>
              <a:path h="2517271" w="3772034">
                <a:moveTo>
                  <a:pt x="0" y="0"/>
                </a:moveTo>
                <a:lnTo>
                  <a:pt x="3772034" y="0"/>
                </a:lnTo>
                <a:lnTo>
                  <a:pt x="3772034" y="2517271"/>
                </a:lnTo>
                <a:lnTo>
                  <a:pt x="0" y="2517271"/>
                </a:lnTo>
                <a:lnTo>
                  <a:pt x="0" y="0"/>
                </a:lnTo>
                <a:close/>
              </a:path>
            </a:pathLst>
          </a:custGeom>
          <a:blipFill>
            <a:blip r:embed="rId4"/>
            <a:stretch>
              <a:fillRect l="0" t="0" r="0" b="0"/>
            </a:stretch>
          </a:blipFill>
        </p:spPr>
      </p:sp>
      <p:sp>
        <p:nvSpPr>
          <p:cNvPr name="Freeform 13" id="13"/>
          <p:cNvSpPr/>
          <p:nvPr/>
        </p:nvSpPr>
        <p:spPr>
          <a:xfrm flipH="false" flipV="false" rot="0">
            <a:off x="447244" y="8157811"/>
            <a:ext cx="8611727" cy="1726745"/>
          </a:xfrm>
          <a:custGeom>
            <a:avLst/>
            <a:gdLst/>
            <a:ahLst/>
            <a:cxnLst/>
            <a:rect r="r" b="b" t="t" l="l"/>
            <a:pathLst>
              <a:path h="1726745" w="8611727">
                <a:moveTo>
                  <a:pt x="0" y="0"/>
                </a:moveTo>
                <a:lnTo>
                  <a:pt x="8611727" y="0"/>
                </a:lnTo>
                <a:lnTo>
                  <a:pt x="8611727" y="1726745"/>
                </a:lnTo>
                <a:lnTo>
                  <a:pt x="0" y="1726745"/>
                </a:lnTo>
                <a:lnTo>
                  <a:pt x="0" y="0"/>
                </a:lnTo>
                <a:close/>
              </a:path>
            </a:pathLst>
          </a:custGeom>
          <a:blipFill>
            <a:blip r:embed="rId5"/>
            <a:stretch>
              <a:fillRect l="-302" t="0" r="-302" b="0"/>
            </a:stretch>
          </a:blipFill>
        </p:spPr>
      </p:sp>
      <p:sp>
        <p:nvSpPr>
          <p:cNvPr name="Freeform 14" id="14"/>
          <p:cNvSpPr/>
          <p:nvPr/>
        </p:nvSpPr>
        <p:spPr>
          <a:xfrm flipH="false" flipV="false" rot="0">
            <a:off x="9606509" y="2436609"/>
            <a:ext cx="3797507" cy="2539534"/>
          </a:xfrm>
          <a:custGeom>
            <a:avLst/>
            <a:gdLst/>
            <a:ahLst/>
            <a:cxnLst/>
            <a:rect r="r" b="b" t="t" l="l"/>
            <a:pathLst>
              <a:path h="2539534" w="3797507">
                <a:moveTo>
                  <a:pt x="0" y="0"/>
                </a:moveTo>
                <a:lnTo>
                  <a:pt x="3797507" y="0"/>
                </a:lnTo>
                <a:lnTo>
                  <a:pt x="3797507" y="2539534"/>
                </a:lnTo>
                <a:lnTo>
                  <a:pt x="0" y="2539534"/>
                </a:lnTo>
                <a:lnTo>
                  <a:pt x="0" y="0"/>
                </a:lnTo>
                <a:close/>
              </a:path>
            </a:pathLst>
          </a:custGeom>
          <a:blipFill>
            <a:blip r:embed="rId6"/>
            <a:stretch>
              <a:fillRect l="0" t="0" r="0" b="0"/>
            </a:stretch>
          </a:blipFill>
        </p:spPr>
      </p:sp>
      <p:sp>
        <p:nvSpPr>
          <p:cNvPr name="Freeform 15" id="15"/>
          <p:cNvSpPr/>
          <p:nvPr/>
        </p:nvSpPr>
        <p:spPr>
          <a:xfrm flipH="false" flipV="false" rot="0">
            <a:off x="9452633" y="5053037"/>
            <a:ext cx="4105258" cy="2949326"/>
          </a:xfrm>
          <a:custGeom>
            <a:avLst/>
            <a:gdLst/>
            <a:ahLst/>
            <a:cxnLst/>
            <a:rect r="r" b="b" t="t" l="l"/>
            <a:pathLst>
              <a:path h="2949326" w="4105258">
                <a:moveTo>
                  <a:pt x="0" y="0"/>
                </a:moveTo>
                <a:lnTo>
                  <a:pt x="4105258" y="0"/>
                </a:lnTo>
                <a:lnTo>
                  <a:pt x="4105258" y="2949326"/>
                </a:lnTo>
                <a:lnTo>
                  <a:pt x="0" y="2949326"/>
                </a:lnTo>
                <a:lnTo>
                  <a:pt x="0" y="0"/>
                </a:lnTo>
                <a:close/>
              </a:path>
            </a:pathLst>
          </a:custGeom>
          <a:blipFill>
            <a:blip r:embed="rId7"/>
            <a:stretch>
              <a:fillRect l="0" t="0" r="0" b="0"/>
            </a:stretch>
          </a:blipFill>
        </p:spPr>
      </p:sp>
      <p:sp>
        <p:nvSpPr>
          <p:cNvPr name="Freeform 16" id="16"/>
          <p:cNvSpPr/>
          <p:nvPr/>
        </p:nvSpPr>
        <p:spPr>
          <a:xfrm flipH="false" flipV="false" rot="0">
            <a:off x="13735498" y="5053037"/>
            <a:ext cx="4105258" cy="2949326"/>
          </a:xfrm>
          <a:custGeom>
            <a:avLst/>
            <a:gdLst/>
            <a:ahLst/>
            <a:cxnLst/>
            <a:rect r="r" b="b" t="t" l="l"/>
            <a:pathLst>
              <a:path h="2949326" w="4105258">
                <a:moveTo>
                  <a:pt x="0" y="0"/>
                </a:moveTo>
                <a:lnTo>
                  <a:pt x="4105258" y="0"/>
                </a:lnTo>
                <a:lnTo>
                  <a:pt x="4105258" y="2949326"/>
                </a:lnTo>
                <a:lnTo>
                  <a:pt x="0" y="2949326"/>
                </a:lnTo>
                <a:lnTo>
                  <a:pt x="0" y="0"/>
                </a:lnTo>
                <a:close/>
              </a:path>
            </a:pathLst>
          </a:custGeom>
          <a:blipFill>
            <a:blip r:embed="rId8"/>
            <a:stretch>
              <a:fillRect l="0" t="0" r="0" b="0"/>
            </a:stretch>
          </a:blipFill>
        </p:spPr>
      </p:sp>
      <p:sp>
        <p:nvSpPr>
          <p:cNvPr name="Freeform 17" id="17"/>
          <p:cNvSpPr/>
          <p:nvPr/>
        </p:nvSpPr>
        <p:spPr>
          <a:xfrm flipH="false" flipV="false" rot="0">
            <a:off x="13735498" y="2303175"/>
            <a:ext cx="3970920" cy="2749862"/>
          </a:xfrm>
          <a:custGeom>
            <a:avLst/>
            <a:gdLst/>
            <a:ahLst/>
            <a:cxnLst/>
            <a:rect r="r" b="b" t="t" l="l"/>
            <a:pathLst>
              <a:path h="2749862" w="3970920">
                <a:moveTo>
                  <a:pt x="0" y="0"/>
                </a:moveTo>
                <a:lnTo>
                  <a:pt x="3970919" y="0"/>
                </a:lnTo>
                <a:lnTo>
                  <a:pt x="3970919" y="2749862"/>
                </a:lnTo>
                <a:lnTo>
                  <a:pt x="0" y="2749862"/>
                </a:lnTo>
                <a:lnTo>
                  <a:pt x="0" y="0"/>
                </a:lnTo>
                <a:close/>
              </a:path>
            </a:pathLst>
          </a:custGeom>
          <a:blipFill>
            <a:blip r:embed="rId9"/>
            <a:stretch>
              <a:fillRect l="0" t="0" r="0" b="0"/>
            </a:stretch>
          </a:blipFill>
        </p:spPr>
      </p:sp>
      <p:sp>
        <p:nvSpPr>
          <p:cNvPr name="TextBox 18" id="18"/>
          <p:cNvSpPr txBox="true"/>
          <p:nvPr/>
        </p:nvSpPr>
        <p:spPr>
          <a:xfrm rot="0">
            <a:off x="3764397" y="132040"/>
            <a:ext cx="12248317" cy="1619239"/>
          </a:xfrm>
          <a:prstGeom prst="rect">
            <a:avLst/>
          </a:prstGeom>
        </p:spPr>
        <p:txBody>
          <a:bodyPr anchor="t" rtlCol="false" tIns="0" lIns="0" bIns="0" rIns="0">
            <a:spAutoFit/>
          </a:bodyPr>
          <a:lstStyle/>
          <a:p>
            <a:pPr algn="ctr">
              <a:lnSpc>
                <a:spcPts val="6300"/>
              </a:lnSpc>
            </a:pPr>
            <a:r>
              <a:rPr lang="en-US" b="true" sz="4500" spc="423">
                <a:solidFill>
                  <a:srgbClr val="8D0000"/>
                </a:solidFill>
                <a:latin typeface="Poppins Bold"/>
                <a:ea typeface="Poppins Bold"/>
                <a:cs typeface="Poppins Bold"/>
                <a:sym typeface="Poppins Bold"/>
              </a:rPr>
              <a:t>EXPÉRIENCES SUR L’INFLUENCE DES PARAMÈTRES</a:t>
            </a:r>
          </a:p>
        </p:txBody>
      </p:sp>
      <p:sp>
        <p:nvSpPr>
          <p:cNvPr name="TextBox 19" id="19"/>
          <p:cNvSpPr txBox="true"/>
          <p:nvPr/>
        </p:nvSpPr>
        <p:spPr>
          <a:xfrm rot="0">
            <a:off x="2389876" y="1697528"/>
            <a:ext cx="4128592"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Influ</a:t>
            </a:r>
            <a:r>
              <a:rPr lang="en-US" b="true" sz="2499">
                <a:solidFill>
                  <a:srgbClr val="000000"/>
                </a:solidFill>
                <a:latin typeface="Poppins Bold"/>
                <a:ea typeface="Poppins Bold"/>
                <a:cs typeface="Poppins Bold"/>
                <a:sym typeface="Poppins Bold"/>
              </a:rPr>
              <a:t>ence du paramètre k</a:t>
            </a:r>
          </a:p>
        </p:txBody>
      </p:sp>
      <p:sp>
        <p:nvSpPr>
          <p:cNvPr name="TextBox 20" id="20"/>
          <p:cNvSpPr txBox="true"/>
          <p:nvPr/>
        </p:nvSpPr>
        <p:spPr>
          <a:xfrm rot="0">
            <a:off x="11609934" y="1697528"/>
            <a:ext cx="4251127" cy="4413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Influence du Paramètre m</a:t>
            </a:r>
          </a:p>
        </p:txBody>
      </p:sp>
      <p:sp>
        <p:nvSpPr>
          <p:cNvPr name="TextBox 21" id="21"/>
          <p:cNvSpPr txBox="true"/>
          <p:nvPr/>
        </p:nvSpPr>
        <p:spPr>
          <a:xfrm rot="0">
            <a:off x="1980698" y="2072178"/>
            <a:ext cx="818356" cy="44132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Poppins"/>
                <a:ea typeface="Poppins"/>
                <a:cs typeface="Poppins"/>
                <a:sym typeface="Poppins"/>
              </a:rPr>
              <a:t>K=50</a:t>
            </a:r>
          </a:p>
        </p:txBody>
      </p:sp>
      <p:sp>
        <p:nvSpPr>
          <p:cNvPr name="TextBox 22" id="22"/>
          <p:cNvSpPr txBox="true"/>
          <p:nvPr/>
        </p:nvSpPr>
        <p:spPr>
          <a:xfrm rot="0">
            <a:off x="16083667" y="1884853"/>
            <a:ext cx="676451" cy="441281"/>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m=1</a:t>
            </a:r>
          </a:p>
        </p:txBody>
      </p:sp>
      <p:sp>
        <p:nvSpPr>
          <p:cNvPr name="TextBox 23" id="23"/>
          <p:cNvSpPr txBox="true"/>
          <p:nvPr/>
        </p:nvSpPr>
        <p:spPr>
          <a:xfrm rot="0">
            <a:off x="6161016" y="2072178"/>
            <a:ext cx="1017786" cy="44132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Poppins"/>
                <a:ea typeface="Poppins"/>
                <a:cs typeface="Poppins"/>
                <a:sym typeface="Poppins"/>
              </a:rPr>
              <a:t>K=500</a:t>
            </a:r>
          </a:p>
        </p:txBody>
      </p:sp>
      <p:sp>
        <p:nvSpPr>
          <p:cNvPr name="TextBox 24" id="24"/>
          <p:cNvSpPr txBox="true"/>
          <p:nvPr/>
        </p:nvSpPr>
        <p:spPr>
          <a:xfrm rot="0">
            <a:off x="4224249" y="4830915"/>
            <a:ext cx="1119287" cy="441325"/>
          </a:xfrm>
          <a:prstGeom prst="rect">
            <a:avLst/>
          </a:prstGeom>
        </p:spPr>
        <p:txBody>
          <a:bodyPr anchor="t" rtlCol="false" tIns="0" lIns="0" bIns="0" rIns="0">
            <a:spAutoFit/>
          </a:bodyPr>
          <a:lstStyle/>
          <a:p>
            <a:pPr algn="ctr">
              <a:lnSpc>
                <a:spcPts val="3499"/>
              </a:lnSpc>
              <a:spcBef>
                <a:spcPct val="0"/>
              </a:spcBef>
            </a:pPr>
            <a:r>
              <a:rPr lang="en-US" sz="2499">
                <a:solidFill>
                  <a:srgbClr val="000000"/>
                </a:solidFill>
                <a:latin typeface="Poppins"/>
                <a:ea typeface="Poppins"/>
                <a:cs typeface="Poppins"/>
                <a:sym typeface="Poppins"/>
              </a:rPr>
              <a:t>K=1000</a:t>
            </a:r>
          </a:p>
        </p:txBody>
      </p:sp>
      <p:sp>
        <p:nvSpPr>
          <p:cNvPr name="Freeform 25" id="25"/>
          <p:cNvSpPr/>
          <p:nvPr/>
        </p:nvSpPr>
        <p:spPr>
          <a:xfrm flipH="false" flipV="false" rot="0">
            <a:off x="12525599" y="8157811"/>
            <a:ext cx="2655147" cy="2129189"/>
          </a:xfrm>
          <a:custGeom>
            <a:avLst/>
            <a:gdLst/>
            <a:ahLst/>
            <a:cxnLst/>
            <a:rect r="r" b="b" t="t" l="l"/>
            <a:pathLst>
              <a:path h="2129189" w="2655147">
                <a:moveTo>
                  <a:pt x="0" y="0"/>
                </a:moveTo>
                <a:lnTo>
                  <a:pt x="2655147" y="0"/>
                </a:lnTo>
                <a:lnTo>
                  <a:pt x="2655147" y="2129189"/>
                </a:lnTo>
                <a:lnTo>
                  <a:pt x="0" y="2129189"/>
                </a:lnTo>
                <a:lnTo>
                  <a:pt x="0" y="0"/>
                </a:lnTo>
                <a:close/>
              </a:path>
            </a:pathLst>
          </a:custGeom>
          <a:blipFill>
            <a:blip r:embed="rId10"/>
            <a:stretch>
              <a:fillRect l="0" t="-2279" r="0" b="-2279"/>
            </a:stretch>
          </a:blipFill>
        </p:spPr>
      </p:sp>
      <p:sp>
        <p:nvSpPr>
          <p:cNvPr name="TextBox 26" id="26"/>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3503507">
            <a:off x="14725089" y="691910"/>
            <a:ext cx="5068421" cy="1556974"/>
            <a:chOff x="0" y="0"/>
            <a:chExt cx="1334893" cy="410067"/>
          </a:xfrm>
        </p:grpSpPr>
        <p:sp>
          <p:nvSpPr>
            <p:cNvPr name="Freeform 3" id="3"/>
            <p:cNvSpPr/>
            <p:nvPr/>
          </p:nvSpPr>
          <p:spPr>
            <a:xfrm flipH="false" flipV="false" rot="0">
              <a:off x="0" y="0"/>
              <a:ext cx="1334893" cy="410067"/>
            </a:xfrm>
            <a:custGeom>
              <a:avLst/>
              <a:gdLst/>
              <a:ahLst/>
              <a:cxnLst/>
              <a:rect r="r" b="b" t="t" l="l"/>
              <a:pathLst>
                <a:path h="410067" w="1334893">
                  <a:moveTo>
                    <a:pt x="77902" y="0"/>
                  </a:moveTo>
                  <a:lnTo>
                    <a:pt x="1256991" y="0"/>
                  </a:lnTo>
                  <a:cubicBezTo>
                    <a:pt x="1277652" y="0"/>
                    <a:pt x="1297467" y="8207"/>
                    <a:pt x="1312076" y="22817"/>
                  </a:cubicBezTo>
                  <a:cubicBezTo>
                    <a:pt x="1326685" y="37426"/>
                    <a:pt x="1334893" y="57241"/>
                    <a:pt x="1334893" y="77902"/>
                  </a:cubicBezTo>
                  <a:lnTo>
                    <a:pt x="1334893" y="332166"/>
                  </a:lnTo>
                  <a:cubicBezTo>
                    <a:pt x="1334893" y="352826"/>
                    <a:pt x="1326685" y="372641"/>
                    <a:pt x="1312076" y="387250"/>
                  </a:cubicBezTo>
                  <a:cubicBezTo>
                    <a:pt x="1297467" y="401860"/>
                    <a:pt x="1277652" y="410067"/>
                    <a:pt x="1256991" y="410067"/>
                  </a:cubicBezTo>
                  <a:lnTo>
                    <a:pt x="77902" y="410067"/>
                  </a:lnTo>
                  <a:cubicBezTo>
                    <a:pt x="57241" y="410067"/>
                    <a:pt x="37426" y="401860"/>
                    <a:pt x="22817" y="387250"/>
                  </a:cubicBezTo>
                  <a:cubicBezTo>
                    <a:pt x="8207" y="372641"/>
                    <a:pt x="0" y="352826"/>
                    <a:pt x="0" y="332166"/>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4" id="4"/>
            <p:cNvSpPr txBox="true"/>
            <p:nvPr/>
          </p:nvSpPr>
          <p:spPr>
            <a:xfrm>
              <a:off x="0" y="-333375"/>
              <a:ext cx="1334893" cy="743442"/>
            </a:xfrm>
            <a:prstGeom prst="rect">
              <a:avLst/>
            </a:prstGeom>
          </p:spPr>
          <p:txBody>
            <a:bodyPr anchor="ctr" rtlCol="false" tIns="50800" lIns="50800" bIns="50800" rIns="50800"/>
            <a:lstStyle/>
            <a:p>
              <a:pPr algn="ctr">
                <a:lnSpc>
                  <a:spcPts val="6249"/>
                </a:lnSpc>
              </a:pPr>
            </a:p>
          </p:txBody>
        </p:sp>
      </p:grpSp>
      <p:grpSp>
        <p:nvGrpSpPr>
          <p:cNvPr name="Group 5" id="5"/>
          <p:cNvGrpSpPr/>
          <p:nvPr/>
        </p:nvGrpSpPr>
        <p:grpSpPr>
          <a:xfrm rot="0">
            <a:off x="11792451" y="3120847"/>
            <a:ext cx="6085274" cy="4893408"/>
            <a:chOff x="0" y="0"/>
            <a:chExt cx="8113699" cy="6524544"/>
          </a:xfrm>
        </p:grpSpPr>
        <p:pic>
          <p:nvPicPr>
            <p:cNvPr name="Picture 6" id="6"/>
            <p:cNvPicPr>
              <a:picLocks noChangeAspect="true"/>
            </p:cNvPicPr>
            <p:nvPr/>
          </p:nvPicPr>
          <p:blipFill>
            <a:blip r:embed="rId2"/>
            <a:srcRect l="602" t="0" r="602" b="0"/>
            <a:stretch>
              <a:fillRect/>
            </a:stretch>
          </p:blipFill>
          <p:spPr>
            <a:xfrm flipH="false" flipV="false">
              <a:off x="0" y="0"/>
              <a:ext cx="8113699" cy="6524544"/>
            </a:xfrm>
            <a:prstGeom prst="rect">
              <a:avLst/>
            </a:prstGeom>
          </p:spPr>
        </p:pic>
      </p:grpSp>
      <p:grpSp>
        <p:nvGrpSpPr>
          <p:cNvPr name="Group 7" id="7"/>
          <p:cNvGrpSpPr/>
          <p:nvPr/>
        </p:nvGrpSpPr>
        <p:grpSpPr>
          <a:xfrm rot="0">
            <a:off x="258987" y="2956738"/>
            <a:ext cx="5589493" cy="5221627"/>
            <a:chOff x="0" y="0"/>
            <a:chExt cx="7452657" cy="6962169"/>
          </a:xfrm>
        </p:grpSpPr>
        <p:pic>
          <p:nvPicPr>
            <p:cNvPr name="Picture 8" id="8"/>
            <p:cNvPicPr>
              <a:picLocks noChangeAspect="true"/>
            </p:cNvPicPr>
            <p:nvPr/>
          </p:nvPicPr>
          <p:blipFill>
            <a:blip r:embed="rId3"/>
            <a:srcRect l="0" t="185" r="0" b="185"/>
            <a:stretch>
              <a:fillRect/>
            </a:stretch>
          </p:blipFill>
          <p:spPr>
            <a:xfrm flipH="false" flipV="false">
              <a:off x="0" y="0"/>
              <a:ext cx="7452657" cy="6962169"/>
            </a:xfrm>
            <a:prstGeom prst="rect">
              <a:avLst/>
            </a:prstGeom>
          </p:spPr>
        </p:pic>
      </p:grpSp>
      <p:grpSp>
        <p:nvGrpSpPr>
          <p:cNvPr name="Group 9" id="9"/>
          <p:cNvGrpSpPr/>
          <p:nvPr/>
        </p:nvGrpSpPr>
        <p:grpSpPr>
          <a:xfrm rot="0">
            <a:off x="6127975" y="2956738"/>
            <a:ext cx="5424485" cy="5317379"/>
            <a:chOff x="0" y="0"/>
            <a:chExt cx="7232647" cy="7089838"/>
          </a:xfrm>
        </p:grpSpPr>
        <p:pic>
          <p:nvPicPr>
            <p:cNvPr name="Picture 10" id="10"/>
            <p:cNvPicPr>
              <a:picLocks noChangeAspect="true"/>
            </p:cNvPicPr>
            <p:nvPr/>
          </p:nvPicPr>
          <p:blipFill>
            <a:blip r:embed="rId4"/>
            <a:srcRect l="0" t="918" r="0" b="918"/>
            <a:stretch>
              <a:fillRect/>
            </a:stretch>
          </p:blipFill>
          <p:spPr>
            <a:xfrm flipH="false" flipV="false">
              <a:off x="0" y="0"/>
              <a:ext cx="7232647" cy="7089838"/>
            </a:xfrm>
            <a:prstGeom prst="rect">
              <a:avLst/>
            </a:prstGeom>
          </p:spPr>
        </p:pic>
      </p:grpSp>
      <p:sp>
        <p:nvSpPr>
          <p:cNvPr name="TextBox 11" id="11"/>
          <p:cNvSpPr txBox="true"/>
          <p:nvPr/>
        </p:nvSpPr>
        <p:spPr>
          <a:xfrm rot="0">
            <a:off x="3452911" y="1540252"/>
            <a:ext cx="11382177" cy="523875"/>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Poppins Bold"/>
                <a:ea typeface="Poppins Bold"/>
                <a:cs typeface="Poppins Bold"/>
                <a:sym typeface="Poppins Bold"/>
              </a:rPr>
              <a:t> Expérience sur  30 images du dataset 1: Berkeley BSDS500 </a:t>
            </a:r>
          </a:p>
        </p:txBody>
      </p:sp>
      <p:sp>
        <p:nvSpPr>
          <p:cNvPr name="TextBox 12" id="12"/>
          <p:cNvSpPr txBox="true"/>
          <p:nvPr/>
        </p:nvSpPr>
        <p:spPr>
          <a:xfrm rot="0">
            <a:off x="3053733" y="8581369"/>
            <a:ext cx="11983369" cy="87947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Hypothèse: Augmenter proportionellement  m et k en fonction de la taille de l’image et complexité de segmentation</a:t>
            </a:r>
          </a:p>
        </p:txBody>
      </p:sp>
      <p:sp>
        <p:nvSpPr>
          <p:cNvPr name="AutoShape 13" id="13"/>
          <p:cNvSpPr/>
          <p:nvPr/>
        </p:nvSpPr>
        <p:spPr>
          <a:xfrm>
            <a:off x="6715628" y="1616452"/>
            <a:ext cx="4836832" cy="0"/>
          </a:xfrm>
          <a:prstGeom prst="line">
            <a:avLst/>
          </a:prstGeom>
          <a:ln cap="flat" w="28575">
            <a:solidFill>
              <a:srgbClr val="000000"/>
            </a:solidFill>
            <a:prstDash val="solid"/>
            <a:headEnd type="none" len="sm" w="sm"/>
            <a:tailEnd type="none" len="sm" w="sm"/>
          </a:ln>
        </p:spPr>
      </p:sp>
      <p:sp>
        <p:nvSpPr>
          <p:cNvPr name="TextBox 14" id="14"/>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13</a:t>
            </a:r>
          </a:p>
        </p:txBody>
      </p:sp>
      <p:sp>
        <p:nvSpPr>
          <p:cNvPr name="TextBox 15" id="15"/>
          <p:cNvSpPr txBox="true"/>
          <p:nvPr/>
        </p:nvSpPr>
        <p:spPr>
          <a:xfrm rot="0">
            <a:off x="3053733" y="-2787"/>
            <a:ext cx="12248317" cy="1619239"/>
          </a:xfrm>
          <a:prstGeom prst="rect">
            <a:avLst/>
          </a:prstGeom>
        </p:spPr>
        <p:txBody>
          <a:bodyPr anchor="t" rtlCol="false" tIns="0" lIns="0" bIns="0" rIns="0">
            <a:spAutoFit/>
          </a:bodyPr>
          <a:lstStyle/>
          <a:p>
            <a:pPr algn="ctr">
              <a:lnSpc>
                <a:spcPts val="6300"/>
              </a:lnSpc>
            </a:pPr>
            <a:r>
              <a:rPr lang="en-US" b="true" sz="4500" spc="423">
                <a:solidFill>
                  <a:srgbClr val="8D0000"/>
                </a:solidFill>
                <a:latin typeface="Poppins Bold"/>
                <a:ea typeface="Poppins Bold"/>
                <a:cs typeface="Poppins Bold"/>
                <a:sym typeface="Poppins Bold"/>
              </a:rPr>
              <a:t>EXPÉRIENCES SUR L’INFLUENCE DES PARAMÈTRES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3503507">
            <a:off x="14725089" y="691910"/>
            <a:ext cx="5068421" cy="1556974"/>
            <a:chOff x="0" y="0"/>
            <a:chExt cx="1334893" cy="410067"/>
          </a:xfrm>
        </p:grpSpPr>
        <p:sp>
          <p:nvSpPr>
            <p:cNvPr name="Freeform 3" id="3"/>
            <p:cNvSpPr/>
            <p:nvPr/>
          </p:nvSpPr>
          <p:spPr>
            <a:xfrm flipH="false" flipV="false" rot="0">
              <a:off x="0" y="0"/>
              <a:ext cx="1334893" cy="410067"/>
            </a:xfrm>
            <a:custGeom>
              <a:avLst/>
              <a:gdLst/>
              <a:ahLst/>
              <a:cxnLst/>
              <a:rect r="r" b="b" t="t" l="l"/>
              <a:pathLst>
                <a:path h="410067" w="1334893">
                  <a:moveTo>
                    <a:pt x="77902" y="0"/>
                  </a:moveTo>
                  <a:lnTo>
                    <a:pt x="1256991" y="0"/>
                  </a:lnTo>
                  <a:cubicBezTo>
                    <a:pt x="1277652" y="0"/>
                    <a:pt x="1297467" y="8207"/>
                    <a:pt x="1312076" y="22817"/>
                  </a:cubicBezTo>
                  <a:cubicBezTo>
                    <a:pt x="1326685" y="37426"/>
                    <a:pt x="1334893" y="57241"/>
                    <a:pt x="1334893" y="77902"/>
                  </a:cubicBezTo>
                  <a:lnTo>
                    <a:pt x="1334893" y="332166"/>
                  </a:lnTo>
                  <a:cubicBezTo>
                    <a:pt x="1334893" y="352826"/>
                    <a:pt x="1326685" y="372641"/>
                    <a:pt x="1312076" y="387250"/>
                  </a:cubicBezTo>
                  <a:cubicBezTo>
                    <a:pt x="1297467" y="401860"/>
                    <a:pt x="1277652" y="410067"/>
                    <a:pt x="1256991" y="410067"/>
                  </a:cubicBezTo>
                  <a:lnTo>
                    <a:pt x="77902" y="410067"/>
                  </a:lnTo>
                  <a:cubicBezTo>
                    <a:pt x="57241" y="410067"/>
                    <a:pt x="37426" y="401860"/>
                    <a:pt x="22817" y="387250"/>
                  </a:cubicBezTo>
                  <a:cubicBezTo>
                    <a:pt x="8207" y="372641"/>
                    <a:pt x="0" y="352826"/>
                    <a:pt x="0" y="332166"/>
                  </a:cubicBezTo>
                  <a:lnTo>
                    <a:pt x="0" y="77902"/>
                  </a:lnTo>
                  <a:cubicBezTo>
                    <a:pt x="0" y="57241"/>
                    <a:pt x="8207" y="37426"/>
                    <a:pt x="22817" y="22817"/>
                  </a:cubicBezTo>
                  <a:cubicBezTo>
                    <a:pt x="37426" y="8207"/>
                    <a:pt x="57241" y="0"/>
                    <a:pt x="77902" y="0"/>
                  </a:cubicBezTo>
                  <a:close/>
                </a:path>
              </a:pathLst>
            </a:custGeom>
            <a:solidFill>
              <a:srgbClr val="FFE9E9"/>
            </a:solidFill>
          </p:spPr>
        </p:sp>
        <p:sp>
          <p:nvSpPr>
            <p:cNvPr name="TextBox 4" id="4"/>
            <p:cNvSpPr txBox="true"/>
            <p:nvPr/>
          </p:nvSpPr>
          <p:spPr>
            <a:xfrm>
              <a:off x="0" y="-333375"/>
              <a:ext cx="1334893" cy="743442"/>
            </a:xfrm>
            <a:prstGeom prst="rect">
              <a:avLst/>
            </a:prstGeom>
          </p:spPr>
          <p:txBody>
            <a:bodyPr anchor="ctr" rtlCol="false" tIns="50800" lIns="50800" bIns="50800" rIns="50800"/>
            <a:lstStyle/>
            <a:p>
              <a:pPr algn="ctr">
                <a:lnSpc>
                  <a:spcPts val="6249"/>
                </a:lnSpc>
              </a:pPr>
            </a:p>
          </p:txBody>
        </p:sp>
      </p:grpSp>
      <p:sp>
        <p:nvSpPr>
          <p:cNvPr name="AutoShape 5" id="5"/>
          <p:cNvSpPr/>
          <p:nvPr/>
        </p:nvSpPr>
        <p:spPr>
          <a:xfrm>
            <a:off x="6073136" y="1042988"/>
            <a:ext cx="4836832" cy="0"/>
          </a:xfrm>
          <a:prstGeom prst="line">
            <a:avLst/>
          </a:prstGeom>
          <a:ln cap="flat" w="28575">
            <a:solidFill>
              <a:srgbClr val="000000"/>
            </a:solidFill>
            <a:prstDash val="solid"/>
            <a:headEnd type="none" len="sm" w="sm"/>
            <a:tailEnd type="none" len="sm" w="sm"/>
          </a:ln>
        </p:spPr>
      </p:sp>
      <p:sp>
        <p:nvSpPr>
          <p:cNvPr name="Freeform 6" id="6"/>
          <p:cNvSpPr/>
          <p:nvPr/>
        </p:nvSpPr>
        <p:spPr>
          <a:xfrm flipH="false" flipV="false" rot="0">
            <a:off x="5301743" y="1542790"/>
            <a:ext cx="3497909" cy="3859762"/>
          </a:xfrm>
          <a:custGeom>
            <a:avLst/>
            <a:gdLst/>
            <a:ahLst/>
            <a:cxnLst/>
            <a:rect r="r" b="b" t="t" l="l"/>
            <a:pathLst>
              <a:path h="3859762" w="3497909">
                <a:moveTo>
                  <a:pt x="0" y="0"/>
                </a:moveTo>
                <a:lnTo>
                  <a:pt x="3497910" y="0"/>
                </a:lnTo>
                <a:lnTo>
                  <a:pt x="3497910" y="3859762"/>
                </a:lnTo>
                <a:lnTo>
                  <a:pt x="0" y="3859762"/>
                </a:lnTo>
                <a:lnTo>
                  <a:pt x="0" y="0"/>
                </a:lnTo>
                <a:close/>
              </a:path>
            </a:pathLst>
          </a:custGeom>
          <a:blipFill>
            <a:blip r:embed="rId2"/>
            <a:stretch>
              <a:fillRect l="0" t="0" r="0" b="0"/>
            </a:stretch>
          </a:blipFill>
        </p:spPr>
      </p:sp>
      <p:sp>
        <p:nvSpPr>
          <p:cNvPr name="Freeform 7" id="7"/>
          <p:cNvSpPr/>
          <p:nvPr/>
        </p:nvSpPr>
        <p:spPr>
          <a:xfrm flipH="false" flipV="false" rot="0">
            <a:off x="1566244" y="1542790"/>
            <a:ext cx="3437478" cy="3787855"/>
          </a:xfrm>
          <a:custGeom>
            <a:avLst/>
            <a:gdLst/>
            <a:ahLst/>
            <a:cxnLst/>
            <a:rect r="r" b="b" t="t" l="l"/>
            <a:pathLst>
              <a:path h="3787855" w="3437478">
                <a:moveTo>
                  <a:pt x="0" y="0"/>
                </a:moveTo>
                <a:lnTo>
                  <a:pt x="3437479" y="0"/>
                </a:lnTo>
                <a:lnTo>
                  <a:pt x="3437479" y="3787855"/>
                </a:lnTo>
                <a:lnTo>
                  <a:pt x="0" y="3787855"/>
                </a:lnTo>
                <a:lnTo>
                  <a:pt x="0" y="0"/>
                </a:lnTo>
                <a:close/>
              </a:path>
            </a:pathLst>
          </a:custGeom>
          <a:blipFill>
            <a:blip r:embed="rId3"/>
            <a:stretch>
              <a:fillRect l="0" t="0" r="0" b="0"/>
            </a:stretch>
          </a:blipFill>
        </p:spPr>
      </p:sp>
      <p:sp>
        <p:nvSpPr>
          <p:cNvPr name="Freeform 8" id="8"/>
          <p:cNvSpPr/>
          <p:nvPr/>
        </p:nvSpPr>
        <p:spPr>
          <a:xfrm flipH="false" flipV="false" rot="0">
            <a:off x="11221968" y="1542790"/>
            <a:ext cx="5800724" cy="6356958"/>
          </a:xfrm>
          <a:custGeom>
            <a:avLst/>
            <a:gdLst/>
            <a:ahLst/>
            <a:cxnLst/>
            <a:rect r="r" b="b" t="t" l="l"/>
            <a:pathLst>
              <a:path h="6356958" w="5800724">
                <a:moveTo>
                  <a:pt x="0" y="0"/>
                </a:moveTo>
                <a:lnTo>
                  <a:pt x="5800725" y="0"/>
                </a:lnTo>
                <a:lnTo>
                  <a:pt x="5800725" y="6356958"/>
                </a:lnTo>
                <a:lnTo>
                  <a:pt x="0" y="6356958"/>
                </a:lnTo>
                <a:lnTo>
                  <a:pt x="0" y="0"/>
                </a:lnTo>
                <a:close/>
              </a:path>
            </a:pathLst>
          </a:custGeom>
          <a:blipFill>
            <a:blip r:embed="rId4"/>
            <a:stretch>
              <a:fillRect l="0" t="0" r="0" b="0"/>
            </a:stretch>
          </a:blipFill>
        </p:spPr>
      </p:sp>
      <p:sp>
        <p:nvSpPr>
          <p:cNvPr name="Freeform 9" id="9"/>
          <p:cNvSpPr/>
          <p:nvPr/>
        </p:nvSpPr>
        <p:spPr>
          <a:xfrm flipH="false" flipV="false" rot="0">
            <a:off x="1283368" y="6165677"/>
            <a:ext cx="3459903" cy="3796875"/>
          </a:xfrm>
          <a:custGeom>
            <a:avLst/>
            <a:gdLst/>
            <a:ahLst/>
            <a:cxnLst/>
            <a:rect r="r" b="b" t="t" l="l"/>
            <a:pathLst>
              <a:path h="3796875" w="3459903">
                <a:moveTo>
                  <a:pt x="0" y="0"/>
                </a:moveTo>
                <a:lnTo>
                  <a:pt x="3459903" y="0"/>
                </a:lnTo>
                <a:lnTo>
                  <a:pt x="3459903" y="3796875"/>
                </a:lnTo>
                <a:lnTo>
                  <a:pt x="0" y="3796875"/>
                </a:lnTo>
                <a:lnTo>
                  <a:pt x="0" y="0"/>
                </a:lnTo>
                <a:close/>
              </a:path>
            </a:pathLst>
          </a:custGeom>
          <a:blipFill>
            <a:blip r:embed="rId5"/>
            <a:stretch>
              <a:fillRect l="0" t="0" r="0" b="0"/>
            </a:stretch>
          </a:blipFill>
        </p:spPr>
      </p:sp>
      <p:sp>
        <p:nvSpPr>
          <p:cNvPr name="Freeform 10" id="10"/>
          <p:cNvSpPr/>
          <p:nvPr/>
        </p:nvSpPr>
        <p:spPr>
          <a:xfrm flipH="false" flipV="false" rot="0">
            <a:off x="5684441" y="6265106"/>
            <a:ext cx="3459559" cy="3697446"/>
          </a:xfrm>
          <a:custGeom>
            <a:avLst/>
            <a:gdLst/>
            <a:ahLst/>
            <a:cxnLst/>
            <a:rect r="r" b="b" t="t" l="l"/>
            <a:pathLst>
              <a:path h="3697446" w="3459559">
                <a:moveTo>
                  <a:pt x="0" y="0"/>
                </a:moveTo>
                <a:lnTo>
                  <a:pt x="3459559" y="0"/>
                </a:lnTo>
                <a:lnTo>
                  <a:pt x="3459559" y="3697446"/>
                </a:lnTo>
                <a:lnTo>
                  <a:pt x="0" y="3697446"/>
                </a:lnTo>
                <a:lnTo>
                  <a:pt x="0" y="0"/>
                </a:lnTo>
                <a:close/>
              </a:path>
            </a:pathLst>
          </a:custGeom>
          <a:blipFill>
            <a:blip r:embed="rId6"/>
            <a:stretch>
              <a:fillRect l="0" t="0" r="0" b="0"/>
            </a:stretch>
          </a:blipFill>
        </p:spPr>
      </p:sp>
      <p:sp>
        <p:nvSpPr>
          <p:cNvPr name="TextBox 11" id="11"/>
          <p:cNvSpPr txBox="true"/>
          <p:nvPr/>
        </p:nvSpPr>
        <p:spPr>
          <a:xfrm rot="0">
            <a:off x="10840116" y="8347163"/>
            <a:ext cx="6564429" cy="175577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Hypothèse: Augmenter propostionellement  m et k en fonction de la taille de l’image et complexité de segmentation</a:t>
            </a:r>
          </a:p>
        </p:txBody>
      </p:sp>
      <p:sp>
        <p:nvSpPr>
          <p:cNvPr name="TextBox 12" id="12"/>
          <p:cNvSpPr txBox="true"/>
          <p:nvPr/>
        </p:nvSpPr>
        <p:spPr>
          <a:xfrm rot="0">
            <a:off x="666229" y="371464"/>
            <a:ext cx="16220963" cy="565797"/>
          </a:xfrm>
          <a:prstGeom prst="rect">
            <a:avLst/>
          </a:prstGeom>
        </p:spPr>
        <p:txBody>
          <a:bodyPr anchor="t" rtlCol="false" tIns="0" lIns="0" bIns="0" rIns="0">
            <a:spAutoFit/>
          </a:bodyPr>
          <a:lstStyle/>
          <a:p>
            <a:pPr algn="l">
              <a:lnSpc>
                <a:spcPts val="3900"/>
              </a:lnSpc>
            </a:pPr>
            <a:r>
              <a:rPr lang="en-US" sz="3900" b="true">
                <a:solidFill>
                  <a:srgbClr val="8D0000"/>
                </a:solidFill>
                <a:latin typeface="Poppins Bold"/>
                <a:ea typeface="Poppins Bold"/>
                <a:cs typeface="Poppins Bold"/>
                <a:sym typeface="Poppins Bold"/>
              </a:rPr>
              <a:t>                    VÉRIFICATION SUR UNE IMAGE AERIENNE(509*544) </a:t>
            </a:r>
          </a:p>
        </p:txBody>
      </p:sp>
      <p:sp>
        <p:nvSpPr>
          <p:cNvPr name="Freeform 13" id="13"/>
          <p:cNvSpPr/>
          <p:nvPr/>
        </p:nvSpPr>
        <p:spPr>
          <a:xfrm flipH="false" flipV="false" rot="0">
            <a:off x="16353531" y="8064114"/>
            <a:ext cx="669162" cy="812449"/>
          </a:xfrm>
          <a:custGeom>
            <a:avLst/>
            <a:gdLst/>
            <a:ahLst/>
            <a:cxnLst/>
            <a:rect r="r" b="b" t="t" l="l"/>
            <a:pathLst>
              <a:path h="812449" w="669162">
                <a:moveTo>
                  <a:pt x="0" y="0"/>
                </a:moveTo>
                <a:lnTo>
                  <a:pt x="669162" y="0"/>
                </a:lnTo>
                <a:lnTo>
                  <a:pt x="669162" y="812449"/>
                </a:lnTo>
                <a:lnTo>
                  <a:pt x="0" y="8124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11983034" y="7909273"/>
            <a:ext cx="4278593" cy="441281"/>
          </a:xfrm>
          <a:prstGeom prst="rect">
            <a:avLst/>
          </a:prstGeom>
        </p:spPr>
        <p:txBody>
          <a:bodyPr anchor="t" rtlCol="false" tIns="0" lIns="0" bIns="0" rIns="0">
            <a:spAutoFit/>
          </a:bodyPr>
          <a:lstStyle/>
          <a:p>
            <a:pPr algn="ctr">
              <a:lnSpc>
                <a:spcPts val="3499"/>
              </a:lnSpc>
              <a:spcBef>
                <a:spcPct val="0"/>
              </a:spcBef>
            </a:pPr>
            <a:r>
              <a:rPr lang="en-US" b="true" sz="2499">
                <a:solidFill>
                  <a:srgbClr val="8D2B2B"/>
                </a:solidFill>
                <a:latin typeface="Poppins Bold"/>
                <a:ea typeface="Poppins Bold"/>
                <a:cs typeface="Poppins Bold"/>
                <a:sym typeface="Poppins Bold"/>
              </a:rPr>
              <a:t>ASA = 0.8653 BR = 0.947</a:t>
            </a:r>
            <a:r>
              <a:rPr lang="en-US" sz="2499">
                <a:solidFill>
                  <a:srgbClr val="8D2B2B"/>
                </a:solidFill>
                <a:latin typeface="Poppins"/>
                <a:ea typeface="Poppins"/>
                <a:cs typeface="Poppins"/>
                <a:sym typeface="Poppins"/>
              </a:rPr>
              <a:t>7</a:t>
            </a:r>
          </a:p>
        </p:txBody>
      </p:sp>
      <p:sp>
        <p:nvSpPr>
          <p:cNvPr name="TextBox 15" id="15"/>
          <p:cNvSpPr txBox="true"/>
          <p:nvPr/>
        </p:nvSpPr>
        <p:spPr>
          <a:xfrm rot="0">
            <a:off x="2019257" y="1101509"/>
            <a:ext cx="1988123" cy="441281"/>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k=1000 m=5</a:t>
            </a:r>
          </a:p>
        </p:txBody>
      </p:sp>
      <p:sp>
        <p:nvSpPr>
          <p:cNvPr name="TextBox 16" id="16"/>
          <p:cNvSpPr txBox="true"/>
          <p:nvPr/>
        </p:nvSpPr>
        <p:spPr>
          <a:xfrm rot="0">
            <a:off x="5996940" y="1029116"/>
            <a:ext cx="2107517" cy="441281"/>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k=1000 m=15</a:t>
            </a:r>
          </a:p>
        </p:txBody>
      </p:sp>
      <p:sp>
        <p:nvSpPr>
          <p:cNvPr name="TextBox 17" id="17"/>
          <p:cNvSpPr txBox="true"/>
          <p:nvPr/>
        </p:nvSpPr>
        <p:spPr>
          <a:xfrm rot="0">
            <a:off x="12799496" y="1029116"/>
            <a:ext cx="2276299" cy="441281"/>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k=3000 m=40</a:t>
            </a:r>
          </a:p>
        </p:txBody>
      </p:sp>
      <p:sp>
        <p:nvSpPr>
          <p:cNvPr name="TextBox 18" id="18"/>
          <p:cNvSpPr txBox="true"/>
          <p:nvPr/>
        </p:nvSpPr>
        <p:spPr>
          <a:xfrm rot="0">
            <a:off x="2019257" y="5604728"/>
            <a:ext cx="2108068" cy="441281"/>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k=1000 m=10</a:t>
            </a:r>
          </a:p>
        </p:txBody>
      </p:sp>
      <p:sp>
        <p:nvSpPr>
          <p:cNvPr name="TextBox 19" id="19"/>
          <p:cNvSpPr txBox="true"/>
          <p:nvPr/>
        </p:nvSpPr>
        <p:spPr>
          <a:xfrm rot="0">
            <a:off x="5966512" y="5724396"/>
            <a:ext cx="2167820" cy="441281"/>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Poppins Bold"/>
                <a:ea typeface="Poppins Bold"/>
                <a:cs typeface="Poppins Bold"/>
                <a:sym typeface="Poppins Bold"/>
              </a:rPr>
              <a:t>Vérité terrain</a:t>
            </a:r>
          </a:p>
        </p:txBody>
      </p:sp>
      <p:sp>
        <p:nvSpPr>
          <p:cNvPr name="TextBox 20" id="20"/>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417742" y="966593"/>
            <a:ext cx="4836832" cy="0"/>
          </a:xfrm>
          <a:prstGeom prst="line">
            <a:avLst/>
          </a:prstGeom>
          <a:ln cap="flat" w="28575">
            <a:solidFill>
              <a:srgbClr val="000000"/>
            </a:solidFill>
            <a:prstDash val="solid"/>
            <a:headEnd type="none" len="sm" w="sm"/>
            <a:tailEnd type="none" len="sm" w="sm"/>
          </a:ln>
        </p:spPr>
      </p:sp>
      <p:grpSp>
        <p:nvGrpSpPr>
          <p:cNvPr name="Group 3" id="3"/>
          <p:cNvGrpSpPr/>
          <p:nvPr/>
        </p:nvGrpSpPr>
        <p:grpSpPr>
          <a:xfrm rot="-3503507">
            <a:off x="15971842" y="1684952"/>
            <a:ext cx="12583451" cy="7382737"/>
            <a:chOff x="0" y="0"/>
            <a:chExt cx="3314160" cy="1944424"/>
          </a:xfrm>
        </p:grpSpPr>
        <p:sp>
          <p:nvSpPr>
            <p:cNvPr name="Freeform 4" id="4"/>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5" id="5"/>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grpSp>
        <p:nvGrpSpPr>
          <p:cNvPr name="Group 6" id="6"/>
          <p:cNvGrpSpPr/>
          <p:nvPr/>
        </p:nvGrpSpPr>
        <p:grpSpPr>
          <a:xfrm rot="-3503507">
            <a:off x="-10878133" y="751583"/>
            <a:ext cx="12583451" cy="7382737"/>
            <a:chOff x="0" y="0"/>
            <a:chExt cx="3314160" cy="1944424"/>
          </a:xfrm>
        </p:grpSpPr>
        <p:sp>
          <p:nvSpPr>
            <p:cNvPr name="Freeform 7" id="7"/>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8" id="8"/>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grpSp>
        <p:nvGrpSpPr>
          <p:cNvPr name="Group 9" id="9"/>
          <p:cNvGrpSpPr/>
          <p:nvPr/>
        </p:nvGrpSpPr>
        <p:grpSpPr>
          <a:xfrm rot="0">
            <a:off x="878068" y="1269141"/>
            <a:ext cx="627321" cy="627321"/>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C27F7F"/>
            </a:solidFill>
          </p:spPr>
        </p:sp>
        <p:sp>
          <p:nvSpPr>
            <p:cNvPr name="TextBox 11" id="11"/>
            <p:cNvSpPr txBox="true"/>
            <p:nvPr/>
          </p:nvSpPr>
          <p:spPr>
            <a:xfrm>
              <a:off x="139700" y="-193675"/>
              <a:ext cx="533400" cy="866775"/>
            </a:xfrm>
            <a:prstGeom prst="rect">
              <a:avLst/>
            </a:prstGeom>
          </p:spPr>
          <p:txBody>
            <a:bodyPr anchor="ctr" rtlCol="false" tIns="50800" lIns="50800" bIns="50800" rIns="50800"/>
            <a:lstStyle/>
            <a:p>
              <a:pPr algn="ctr">
                <a:lnSpc>
                  <a:spcPts val="6249"/>
                </a:lnSpc>
              </a:pPr>
            </a:p>
          </p:txBody>
        </p:sp>
      </p:grpSp>
      <p:sp>
        <p:nvSpPr>
          <p:cNvPr name="Freeform 12" id="12"/>
          <p:cNvSpPr/>
          <p:nvPr/>
        </p:nvSpPr>
        <p:spPr>
          <a:xfrm flipH="false" flipV="false" rot="0">
            <a:off x="4212400" y="1975209"/>
            <a:ext cx="2867644" cy="3872631"/>
          </a:xfrm>
          <a:custGeom>
            <a:avLst/>
            <a:gdLst/>
            <a:ahLst/>
            <a:cxnLst/>
            <a:rect r="r" b="b" t="t" l="l"/>
            <a:pathLst>
              <a:path h="3872631" w="2867644">
                <a:moveTo>
                  <a:pt x="0" y="0"/>
                </a:moveTo>
                <a:lnTo>
                  <a:pt x="2867644" y="0"/>
                </a:lnTo>
                <a:lnTo>
                  <a:pt x="2867644" y="3872631"/>
                </a:lnTo>
                <a:lnTo>
                  <a:pt x="0" y="3872631"/>
                </a:lnTo>
                <a:lnTo>
                  <a:pt x="0" y="0"/>
                </a:lnTo>
                <a:close/>
              </a:path>
            </a:pathLst>
          </a:custGeom>
          <a:blipFill>
            <a:blip r:embed="rId2"/>
            <a:stretch>
              <a:fillRect l="0" t="-7131" r="0" b="-9302"/>
            </a:stretch>
          </a:blipFill>
        </p:spPr>
      </p:sp>
      <p:grpSp>
        <p:nvGrpSpPr>
          <p:cNvPr name="Group 13" id="13"/>
          <p:cNvGrpSpPr/>
          <p:nvPr/>
        </p:nvGrpSpPr>
        <p:grpSpPr>
          <a:xfrm rot="0">
            <a:off x="9619902" y="1142806"/>
            <a:ext cx="627321" cy="62732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C27F7F"/>
            </a:solidFill>
          </p:spPr>
        </p:sp>
        <p:sp>
          <p:nvSpPr>
            <p:cNvPr name="TextBox 15" id="15"/>
            <p:cNvSpPr txBox="true"/>
            <p:nvPr/>
          </p:nvSpPr>
          <p:spPr>
            <a:xfrm>
              <a:off x="139700" y="-193675"/>
              <a:ext cx="533400" cy="866775"/>
            </a:xfrm>
            <a:prstGeom prst="rect">
              <a:avLst/>
            </a:prstGeom>
          </p:spPr>
          <p:txBody>
            <a:bodyPr anchor="ctr" rtlCol="false" tIns="50800" lIns="50800" bIns="50800" rIns="50800"/>
            <a:lstStyle/>
            <a:p>
              <a:pPr algn="ctr">
                <a:lnSpc>
                  <a:spcPts val="6249"/>
                </a:lnSpc>
              </a:pPr>
            </a:p>
          </p:txBody>
        </p:sp>
      </p:grpSp>
      <p:grpSp>
        <p:nvGrpSpPr>
          <p:cNvPr name="Group 16" id="16"/>
          <p:cNvGrpSpPr/>
          <p:nvPr/>
        </p:nvGrpSpPr>
        <p:grpSpPr>
          <a:xfrm rot="0">
            <a:off x="441109" y="6867985"/>
            <a:ext cx="627321" cy="62732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C27F7F"/>
            </a:solidFill>
          </p:spPr>
        </p:sp>
        <p:sp>
          <p:nvSpPr>
            <p:cNvPr name="TextBox 18" id="18"/>
            <p:cNvSpPr txBox="true"/>
            <p:nvPr/>
          </p:nvSpPr>
          <p:spPr>
            <a:xfrm>
              <a:off x="139700" y="-193675"/>
              <a:ext cx="533400" cy="866775"/>
            </a:xfrm>
            <a:prstGeom prst="rect">
              <a:avLst/>
            </a:prstGeom>
          </p:spPr>
          <p:txBody>
            <a:bodyPr anchor="ctr" rtlCol="false" tIns="50800" lIns="50800" bIns="50800" rIns="50800"/>
            <a:lstStyle/>
            <a:p>
              <a:pPr algn="ctr">
                <a:lnSpc>
                  <a:spcPts val="6249"/>
                </a:lnSpc>
              </a:pPr>
            </a:p>
          </p:txBody>
        </p:sp>
      </p:grpSp>
      <p:sp>
        <p:nvSpPr>
          <p:cNvPr name="Freeform 19" id="19"/>
          <p:cNvSpPr/>
          <p:nvPr/>
        </p:nvSpPr>
        <p:spPr>
          <a:xfrm flipH="false" flipV="false" rot="0">
            <a:off x="1201481" y="1975209"/>
            <a:ext cx="2877570" cy="3872631"/>
          </a:xfrm>
          <a:custGeom>
            <a:avLst/>
            <a:gdLst/>
            <a:ahLst/>
            <a:cxnLst/>
            <a:rect r="r" b="b" t="t" l="l"/>
            <a:pathLst>
              <a:path h="3872631" w="2877570">
                <a:moveTo>
                  <a:pt x="0" y="0"/>
                </a:moveTo>
                <a:lnTo>
                  <a:pt x="2877569" y="0"/>
                </a:lnTo>
                <a:lnTo>
                  <a:pt x="2877569" y="3872631"/>
                </a:lnTo>
                <a:lnTo>
                  <a:pt x="0" y="3872631"/>
                </a:lnTo>
                <a:lnTo>
                  <a:pt x="0" y="0"/>
                </a:lnTo>
                <a:close/>
              </a:path>
            </a:pathLst>
          </a:custGeom>
          <a:blipFill>
            <a:blip r:embed="rId3"/>
            <a:stretch>
              <a:fillRect l="0" t="-5786" r="0" b="-10550"/>
            </a:stretch>
          </a:blipFill>
        </p:spPr>
      </p:sp>
      <p:grpSp>
        <p:nvGrpSpPr>
          <p:cNvPr name="Group 20" id="20"/>
          <p:cNvGrpSpPr/>
          <p:nvPr/>
        </p:nvGrpSpPr>
        <p:grpSpPr>
          <a:xfrm rot="0">
            <a:off x="888119" y="7471110"/>
            <a:ext cx="6191925" cy="3374095"/>
            <a:chOff x="0" y="0"/>
            <a:chExt cx="1630795" cy="888650"/>
          </a:xfrm>
        </p:grpSpPr>
        <p:sp>
          <p:nvSpPr>
            <p:cNvPr name="Freeform 21" id="21"/>
            <p:cNvSpPr/>
            <p:nvPr/>
          </p:nvSpPr>
          <p:spPr>
            <a:xfrm flipH="false" flipV="false" rot="0">
              <a:off x="0" y="0"/>
              <a:ext cx="1630795" cy="888651"/>
            </a:xfrm>
            <a:custGeom>
              <a:avLst/>
              <a:gdLst/>
              <a:ahLst/>
              <a:cxnLst/>
              <a:rect r="r" b="b" t="t" l="l"/>
              <a:pathLst>
                <a:path h="888651" w="1630795">
                  <a:moveTo>
                    <a:pt x="21256" y="0"/>
                  </a:moveTo>
                  <a:lnTo>
                    <a:pt x="1609540" y="0"/>
                  </a:lnTo>
                  <a:cubicBezTo>
                    <a:pt x="1621279" y="0"/>
                    <a:pt x="1630795" y="9516"/>
                    <a:pt x="1630795" y="21256"/>
                  </a:cubicBezTo>
                  <a:lnTo>
                    <a:pt x="1630795" y="867395"/>
                  </a:lnTo>
                  <a:cubicBezTo>
                    <a:pt x="1630795" y="879134"/>
                    <a:pt x="1621279" y="888651"/>
                    <a:pt x="1609540" y="888651"/>
                  </a:cubicBezTo>
                  <a:lnTo>
                    <a:pt x="21256" y="888651"/>
                  </a:lnTo>
                  <a:cubicBezTo>
                    <a:pt x="9516" y="888651"/>
                    <a:pt x="0" y="879134"/>
                    <a:pt x="0" y="867395"/>
                  </a:cubicBezTo>
                  <a:lnTo>
                    <a:pt x="0" y="21256"/>
                  </a:lnTo>
                  <a:cubicBezTo>
                    <a:pt x="0" y="9516"/>
                    <a:pt x="9516" y="0"/>
                    <a:pt x="21256" y="0"/>
                  </a:cubicBezTo>
                  <a:close/>
                </a:path>
              </a:pathLst>
            </a:custGeom>
          </p:spPr>
        </p:sp>
        <p:sp>
          <p:nvSpPr>
            <p:cNvPr name="TextBox 22" id="22"/>
            <p:cNvSpPr txBox="true"/>
            <p:nvPr/>
          </p:nvSpPr>
          <p:spPr>
            <a:xfrm>
              <a:off x="0" y="-247650"/>
              <a:ext cx="1630795" cy="1136300"/>
            </a:xfrm>
            <a:prstGeom prst="rect">
              <a:avLst/>
            </a:prstGeom>
          </p:spPr>
          <p:txBody>
            <a:bodyPr anchor="ctr" rtlCol="false" tIns="50800" lIns="50800" bIns="50800" rIns="50800"/>
            <a:lstStyle/>
            <a:p>
              <a:pPr algn="ctr">
                <a:lnSpc>
                  <a:spcPts val="4500"/>
                </a:lnSpc>
              </a:pPr>
              <a:r>
                <a:rPr lang="en-US" b="true" sz="1800" i="true">
                  <a:solidFill>
                    <a:srgbClr val="000000"/>
                  </a:solidFill>
                  <a:latin typeface="Poppins Bold Italics"/>
                  <a:ea typeface="Poppins Bold Italics"/>
                  <a:cs typeface="Poppins Bold Italics"/>
                  <a:sym typeface="Poppins Bold Italics"/>
                </a:rPr>
                <a:t>Le rappel de contours atteint 0.724, ce qui signifie que SLIC ne retrouve que 72% des contours réels, Le jaguar, camouflé dans la végétation, se fond dans les superpixels environnants</a:t>
              </a:r>
            </a:p>
            <a:p>
              <a:pPr algn="ctr">
                <a:lnSpc>
                  <a:spcPts val="4750"/>
                </a:lnSpc>
              </a:pPr>
            </a:p>
          </p:txBody>
        </p:sp>
      </p:grpSp>
      <p:sp>
        <p:nvSpPr>
          <p:cNvPr name="Freeform 23" id="23"/>
          <p:cNvSpPr/>
          <p:nvPr/>
        </p:nvSpPr>
        <p:spPr>
          <a:xfrm flipH="false" flipV="false" rot="0">
            <a:off x="13528719" y="1843152"/>
            <a:ext cx="4324793" cy="3351715"/>
          </a:xfrm>
          <a:custGeom>
            <a:avLst/>
            <a:gdLst/>
            <a:ahLst/>
            <a:cxnLst/>
            <a:rect r="r" b="b" t="t" l="l"/>
            <a:pathLst>
              <a:path h="3351715" w="4324793">
                <a:moveTo>
                  <a:pt x="0" y="0"/>
                </a:moveTo>
                <a:lnTo>
                  <a:pt x="4324793" y="0"/>
                </a:lnTo>
                <a:lnTo>
                  <a:pt x="4324793" y="3351714"/>
                </a:lnTo>
                <a:lnTo>
                  <a:pt x="0" y="3351714"/>
                </a:lnTo>
                <a:lnTo>
                  <a:pt x="0" y="0"/>
                </a:lnTo>
                <a:close/>
              </a:path>
            </a:pathLst>
          </a:custGeom>
          <a:blipFill>
            <a:blip r:embed="rId4"/>
            <a:stretch>
              <a:fillRect l="0" t="0" r="0" b="0"/>
            </a:stretch>
          </a:blipFill>
        </p:spPr>
      </p:sp>
      <p:sp>
        <p:nvSpPr>
          <p:cNvPr name="Freeform 24" id="24"/>
          <p:cNvSpPr/>
          <p:nvPr/>
        </p:nvSpPr>
        <p:spPr>
          <a:xfrm flipH="false" flipV="false" rot="0">
            <a:off x="8836158" y="1928560"/>
            <a:ext cx="4355075" cy="3266306"/>
          </a:xfrm>
          <a:custGeom>
            <a:avLst/>
            <a:gdLst/>
            <a:ahLst/>
            <a:cxnLst/>
            <a:rect r="r" b="b" t="t" l="l"/>
            <a:pathLst>
              <a:path h="3266306" w="4355075">
                <a:moveTo>
                  <a:pt x="0" y="0"/>
                </a:moveTo>
                <a:lnTo>
                  <a:pt x="4355076" y="0"/>
                </a:lnTo>
                <a:lnTo>
                  <a:pt x="4355076" y="3266306"/>
                </a:lnTo>
                <a:lnTo>
                  <a:pt x="0" y="3266306"/>
                </a:lnTo>
                <a:lnTo>
                  <a:pt x="0" y="0"/>
                </a:lnTo>
                <a:close/>
              </a:path>
            </a:pathLst>
          </a:custGeom>
          <a:blipFill>
            <a:blip r:embed="rId5"/>
            <a:stretch>
              <a:fillRect l="0" t="0" r="0" b="0"/>
            </a:stretch>
          </a:blipFill>
        </p:spPr>
      </p:sp>
      <p:sp>
        <p:nvSpPr>
          <p:cNvPr name="TextBox 25" id="25"/>
          <p:cNvSpPr txBox="true"/>
          <p:nvPr/>
        </p:nvSpPr>
        <p:spPr>
          <a:xfrm rot="0">
            <a:off x="1850052" y="121046"/>
            <a:ext cx="13972212" cy="809625"/>
          </a:xfrm>
          <a:prstGeom prst="rect">
            <a:avLst/>
          </a:prstGeom>
        </p:spPr>
        <p:txBody>
          <a:bodyPr anchor="t" rtlCol="false" tIns="0" lIns="0" bIns="0" rIns="0">
            <a:spAutoFit/>
          </a:bodyPr>
          <a:lstStyle/>
          <a:p>
            <a:pPr algn="ctr">
              <a:lnSpc>
                <a:spcPts val="6299"/>
              </a:lnSpc>
            </a:pPr>
            <a:r>
              <a:rPr lang="en-US" b="true" sz="4500" spc="422">
                <a:solidFill>
                  <a:srgbClr val="8D0000"/>
                </a:solidFill>
                <a:latin typeface="Poppins Bold"/>
                <a:ea typeface="Poppins Bold"/>
                <a:cs typeface="Poppins Bold"/>
                <a:sym typeface="Poppins Bold"/>
              </a:rPr>
              <a:t>LIMITES DE L’ALGORITHME SLIC</a:t>
            </a:r>
          </a:p>
        </p:txBody>
      </p:sp>
      <p:sp>
        <p:nvSpPr>
          <p:cNvPr name="TextBox 26" id="26"/>
          <p:cNvSpPr txBox="true"/>
          <p:nvPr/>
        </p:nvSpPr>
        <p:spPr>
          <a:xfrm rot="0">
            <a:off x="1665410" y="1328802"/>
            <a:ext cx="5536555" cy="441325"/>
          </a:xfrm>
          <a:prstGeom prst="rect">
            <a:avLst/>
          </a:prstGeom>
        </p:spPr>
        <p:txBody>
          <a:bodyPr anchor="t" rtlCol="false" tIns="0" lIns="0" bIns="0" rIns="0">
            <a:spAutoFit/>
          </a:bodyPr>
          <a:lstStyle/>
          <a:p>
            <a:pPr algn="l">
              <a:lnSpc>
                <a:spcPts val="3499"/>
              </a:lnSpc>
              <a:spcBef>
                <a:spcPct val="0"/>
              </a:spcBef>
            </a:pPr>
            <a:r>
              <a:rPr lang="en-US" sz="2499">
                <a:solidFill>
                  <a:srgbClr val="8D0000"/>
                </a:solidFill>
                <a:latin typeface="Poppins"/>
                <a:ea typeface="Poppins"/>
                <a:cs typeface="Poppins"/>
                <a:sym typeface="Poppins"/>
              </a:rPr>
              <a:t>Inefficace  sur des images bruitées</a:t>
            </a:r>
          </a:p>
        </p:txBody>
      </p:sp>
      <p:sp>
        <p:nvSpPr>
          <p:cNvPr name="TextBox 27" id="27"/>
          <p:cNvSpPr txBox="true"/>
          <p:nvPr/>
        </p:nvSpPr>
        <p:spPr>
          <a:xfrm rot="0">
            <a:off x="10636134" y="1202466"/>
            <a:ext cx="4929408" cy="441281"/>
          </a:xfrm>
          <a:prstGeom prst="rect">
            <a:avLst/>
          </a:prstGeom>
        </p:spPr>
        <p:txBody>
          <a:bodyPr anchor="t" rtlCol="false" tIns="0" lIns="0" bIns="0" rIns="0">
            <a:spAutoFit/>
          </a:bodyPr>
          <a:lstStyle/>
          <a:p>
            <a:pPr algn="l">
              <a:lnSpc>
                <a:spcPts val="3499"/>
              </a:lnSpc>
              <a:spcBef>
                <a:spcPct val="0"/>
              </a:spcBef>
            </a:pPr>
            <a:r>
              <a:rPr lang="en-US" sz="2499">
                <a:solidFill>
                  <a:srgbClr val="8D0000"/>
                </a:solidFill>
                <a:latin typeface="Poppins"/>
                <a:ea typeface="Poppins"/>
                <a:cs typeface="Poppins"/>
                <a:sym typeface="Poppins"/>
              </a:rPr>
              <a:t> SLIC: problème de sémantique</a:t>
            </a:r>
          </a:p>
        </p:txBody>
      </p:sp>
      <p:sp>
        <p:nvSpPr>
          <p:cNvPr name="TextBox 28" id="28"/>
          <p:cNvSpPr txBox="true"/>
          <p:nvPr/>
        </p:nvSpPr>
        <p:spPr>
          <a:xfrm rot="0">
            <a:off x="1201780" y="6927646"/>
            <a:ext cx="5878264" cy="441325"/>
          </a:xfrm>
          <a:prstGeom prst="rect">
            <a:avLst/>
          </a:prstGeom>
        </p:spPr>
        <p:txBody>
          <a:bodyPr anchor="t" rtlCol="false" tIns="0" lIns="0" bIns="0" rIns="0">
            <a:spAutoFit/>
          </a:bodyPr>
          <a:lstStyle/>
          <a:p>
            <a:pPr algn="l">
              <a:lnSpc>
                <a:spcPts val="3499"/>
              </a:lnSpc>
              <a:spcBef>
                <a:spcPct val="0"/>
              </a:spcBef>
            </a:pPr>
            <a:r>
              <a:rPr lang="en-US" sz="2499">
                <a:solidFill>
                  <a:srgbClr val="8D0000"/>
                </a:solidFill>
                <a:latin typeface="Poppins"/>
                <a:ea typeface="Poppins"/>
                <a:cs typeface="Poppins"/>
                <a:sym typeface="Poppins"/>
              </a:rPr>
              <a:t>SLIC voit des couleurs, pas des objets</a:t>
            </a:r>
          </a:p>
        </p:txBody>
      </p:sp>
      <p:grpSp>
        <p:nvGrpSpPr>
          <p:cNvPr name="Group 29" id="29"/>
          <p:cNvGrpSpPr/>
          <p:nvPr/>
        </p:nvGrpSpPr>
        <p:grpSpPr>
          <a:xfrm rot="0">
            <a:off x="8836158" y="5910881"/>
            <a:ext cx="4375967" cy="3120459"/>
            <a:chOff x="0" y="0"/>
            <a:chExt cx="5834623" cy="4160611"/>
          </a:xfrm>
        </p:grpSpPr>
        <p:pic>
          <p:nvPicPr>
            <p:cNvPr name="Picture 30" id="30"/>
            <p:cNvPicPr>
              <a:picLocks noChangeAspect="true"/>
            </p:cNvPicPr>
            <p:nvPr/>
          </p:nvPicPr>
          <p:blipFill>
            <a:blip r:embed="rId4"/>
            <a:srcRect l="24114" t="42501" r="37897" b="22545"/>
            <a:stretch>
              <a:fillRect/>
            </a:stretch>
          </p:blipFill>
          <p:spPr>
            <a:xfrm flipH="false" flipV="false">
              <a:off x="0" y="0"/>
              <a:ext cx="5834623" cy="4160611"/>
            </a:xfrm>
            <a:prstGeom prst="rect">
              <a:avLst/>
            </a:prstGeom>
          </p:spPr>
        </p:pic>
      </p:grpSp>
      <p:grpSp>
        <p:nvGrpSpPr>
          <p:cNvPr name="Group 31" id="31"/>
          <p:cNvGrpSpPr/>
          <p:nvPr/>
        </p:nvGrpSpPr>
        <p:grpSpPr>
          <a:xfrm rot="0">
            <a:off x="13528719" y="5910881"/>
            <a:ext cx="4317608" cy="3120459"/>
            <a:chOff x="0" y="0"/>
            <a:chExt cx="5756811" cy="4160611"/>
          </a:xfrm>
        </p:grpSpPr>
        <p:pic>
          <p:nvPicPr>
            <p:cNvPr name="Picture 32" id="32"/>
            <p:cNvPicPr>
              <a:picLocks noChangeAspect="true"/>
            </p:cNvPicPr>
            <p:nvPr/>
          </p:nvPicPr>
          <p:blipFill>
            <a:blip r:embed="rId4"/>
            <a:srcRect l="28883" t="9852" r="37215" b="58532"/>
            <a:stretch>
              <a:fillRect/>
            </a:stretch>
          </p:blipFill>
          <p:spPr>
            <a:xfrm flipH="false" flipV="false">
              <a:off x="0" y="0"/>
              <a:ext cx="5756811" cy="4160611"/>
            </a:xfrm>
            <a:prstGeom prst="rect">
              <a:avLst/>
            </a:prstGeom>
          </p:spPr>
        </p:pic>
      </p:grpSp>
      <p:sp>
        <p:nvSpPr>
          <p:cNvPr name="TextBox 33" id="33"/>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884087" y="1042988"/>
            <a:ext cx="4836832" cy="0"/>
          </a:xfrm>
          <a:prstGeom prst="line">
            <a:avLst/>
          </a:prstGeom>
          <a:ln cap="flat" w="28575">
            <a:solidFill>
              <a:srgbClr val="000000"/>
            </a:solidFill>
            <a:prstDash val="solid"/>
            <a:headEnd type="none" len="sm" w="sm"/>
            <a:tailEnd type="none" len="sm" w="sm"/>
          </a:ln>
        </p:spPr>
      </p:sp>
      <p:grpSp>
        <p:nvGrpSpPr>
          <p:cNvPr name="Group 3" id="3"/>
          <p:cNvGrpSpPr/>
          <p:nvPr/>
        </p:nvGrpSpPr>
        <p:grpSpPr>
          <a:xfrm rot="-3503507">
            <a:off x="15971842" y="1684952"/>
            <a:ext cx="12583451" cy="7382737"/>
            <a:chOff x="0" y="0"/>
            <a:chExt cx="3314160" cy="1944424"/>
          </a:xfrm>
        </p:grpSpPr>
        <p:sp>
          <p:nvSpPr>
            <p:cNvPr name="Freeform 4" id="4"/>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5" id="5"/>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grpSp>
        <p:nvGrpSpPr>
          <p:cNvPr name="Group 6" id="6"/>
          <p:cNvGrpSpPr/>
          <p:nvPr/>
        </p:nvGrpSpPr>
        <p:grpSpPr>
          <a:xfrm rot="-3503507">
            <a:off x="-10224742" y="751583"/>
            <a:ext cx="12583451" cy="7382737"/>
            <a:chOff x="0" y="0"/>
            <a:chExt cx="3314160" cy="1944424"/>
          </a:xfrm>
        </p:grpSpPr>
        <p:sp>
          <p:nvSpPr>
            <p:cNvPr name="Freeform 7" id="7"/>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8" id="8"/>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sp>
        <p:nvSpPr>
          <p:cNvPr name="Freeform 9" id="9"/>
          <p:cNvSpPr/>
          <p:nvPr/>
        </p:nvSpPr>
        <p:spPr>
          <a:xfrm flipH="false" flipV="false" rot="0">
            <a:off x="236663" y="1028700"/>
            <a:ext cx="7751323" cy="4347621"/>
          </a:xfrm>
          <a:custGeom>
            <a:avLst/>
            <a:gdLst/>
            <a:ahLst/>
            <a:cxnLst/>
            <a:rect r="r" b="b" t="t" l="l"/>
            <a:pathLst>
              <a:path h="4347621" w="7751323">
                <a:moveTo>
                  <a:pt x="0" y="0"/>
                </a:moveTo>
                <a:lnTo>
                  <a:pt x="7751323" y="0"/>
                </a:lnTo>
                <a:lnTo>
                  <a:pt x="7751323" y="4347621"/>
                </a:lnTo>
                <a:lnTo>
                  <a:pt x="0" y="4347621"/>
                </a:lnTo>
                <a:lnTo>
                  <a:pt x="0" y="0"/>
                </a:lnTo>
                <a:close/>
              </a:path>
            </a:pathLst>
          </a:custGeom>
          <a:blipFill>
            <a:blip r:embed="rId2"/>
            <a:stretch>
              <a:fillRect l="0" t="-646" r="0" b="-22843"/>
            </a:stretch>
          </a:blipFill>
        </p:spPr>
      </p:sp>
      <p:sp>
        <p:nvSpPr>
          <p:cNvPr name="Freeform 10" id="10"/>
          <p:cNvSpPr/>
          <p:nvPr/>
        </p:nvSpPr>
        <p:spPr>
          <a:xfrm flipH="false" flipV="false" rot="0">
            <a:off x="922576" y="1320367"/>
            <a:ext cx="6379498" cy="756806"/>
          </a:xfrm>
          <a:custGeom>
            <a:avLst/>
            <a:gdLst/>
            <a:ahLst/>
            <a:cxnLst/>
            <a:rect r="r" b="b" t="t" l="l"/>
            <a:pathLst>
              <a:path h="756806" w="6379498">
                <a:moveTo>
                  <a:pt x="0" y="0"/>
                </a:moveTo>
                <a:lnTo>
                  <a:pt x="6379498" y="0"/>
                </a:lnTo>
                <a:lnTo>
                  <a:pt x="6379498" y="756807"/>
                </a:lnTo>
                <a:lnTo>
                  <a:pt x="0" y="756807"/>
                </a:lnTo>
                <a:lnTo>
                  <a:pt x="0" y="0"/>
                </a:lnTo>
                <a:close/>
              </a:path>
            </a:pathLst>
          </a:custGeom>
          <a:blipFill>
            <a:blip r:embed="rId3"/>
            <a:stretch>
              <a:fillRect l="-3992" t="0" r="-63898" b="-42494"/>
            </a:stretch>
          </a:blipFill>
        </p:spPr>
      </p:sp>
      <p:sp>
        <p:nvSpPr>
          <p:cNvPr name="Freeform 11" id="11"/>
          <p:cNvSpPr/>
          <p:nvPr/>
        </p:nvSpPr>
        <p:spPr>
          <a:xfrm flipH="false" flipV="false" rot="0">
            <a:off x="9439413" y="961623"/>
            <a:ext cx="7428787" cy="4662348"/>
          </a:xfrm>
          <a:custGeom>
            <a:avLst/>
            <a:gdLst/>
            <a:ahLst/>
            <a:cxnLst/>
            <a:rect r="r" b="b" t="t" l="l"/>
            <a:pathLst>
              <a:path h="4662348" w="7428787">
                <a:moveTo>
                  <a:pt x="0" y="0"/>
                </a:moveTo>
                <a:lnTo>
                  <a:pt x="7428788" y="0"/>
                </a:lnTo>
                <a:lnTo>
                  <a:pt x="7428788" y="4662348"/>
                </a:lnTo>
                <a:lnTo>
                  <a:pt x="0" y="4662348"/>
                </a:lnTo>
                <a:lnTo>
                  <a:pt x="0" y="0"/>
                </a:lnTo>
                <a:close/>
              </a:path>
            </a:pathLst>
          </a:custGeom>
          <a:blipFill>
            <a:blip r:embed="rId2"/>
            <a:stretch>
              <a:fillRect l="0" t="-12389" r="-28533" b="-29463"/>
            </a:stretch>
          </a:blipFill>
        </p:spPr>
      </p:sp>
      <p:sp>
        <p:nvSpPr>
          <p:cNvPr name="Freeform 12" id="12"/>
          <p:cNvSpPr/>
          <p:nvPr/>
        </p:nvSpPr>
        <p:spPr>
          <a:xfrm flipH="false" flipV="false" rot="0">
            <a:off x="10435199" y="1124286"/>
            <a:ext cx="6260020" cy="811988"/>
          </a:xfrm>
          <a:custGeom>
            <a:avLst/>
            <a:gdLst/>
            <a:ahLst/>
            <a:cxnLst/>
            <a:rect r="r" b="b" t="t" l="l"/>
            <a:pathLst>
              <a:path h="811988" w="6260020">
                <a:moveTo>
                  <a:pt x="0" y="0"/>
                </a:moveTo>
                <a:lnTo>
                  <a:pt x="6260020" y="0"/>
                </a:lnTo>
                <a:lnTo>
                  <a:pt x="6260020" y="811988"/>
                </a:lnTo>
                <a:lnTo>
                  <a:pt x="0" y="811988"/>
                </a:lnTo>
                <a:lnTo>
                  <a:pt x="0" y="0"/>
                </a:lnTo>
                <a:close/>
              </a:path>
            </a:pathLst>
          </a:custGeom>
          <a:blipFill>
            <a:blip r:embed="rId4"/>
            <a:stretch>
              <a:fillRect l="0" t="0" r="-88930" b="-46656"/>
            </a:stretch>
          </a:blipFill>
        </p:spPr>
      </p:sp>
      <p:sp>
        <p:nvSpPr>
          <p:cNvPr name="Freeform 13" id="13"/>
          <p:cNvSpPr/>
          <p:nvPr/>
        </p:nvSpPr>
        <p:spPr>
          <a:xfrm flipH="false" flipV="false" rot="0">
            <a:off x="5400670" y="6007419"/>
            <a:ext cx="6875820" cy="779132"/>
          </a:xfrm>
          <a:custGeom>
            <a:avLst/>
            <a:gdLst/>
            <a:ahLst/>
            <a:cxnLst/>
            <a:rect r="r" b="b" t="t" l="l"/>
            <a:pathLst>
              <a:path h="779132" w="6875820">
                <a:moveTo>
                  <a:pt x="0" y="0"/>
                </a:moveTo>
                <a:lnTo>
                  <a:pt x="6875820" y="0"/>
                </a:lnTo>
                <a:lnTo>
                  <a:pt x="6875820" y="779132"/>
                </a:lnTo>
                <a:lnTo>
                  <a:pt x="0" y="779132"/>
                </a:lnTo>
                <a:lnTo>
                  <a:pt x="0" y="0"/>
                </a:lnTo>
                <a:close/>
              </a:path>
            </a:pathLst>
          </a:custGeom>
          <a:blipFill>
            <a:blip r:embed="rId5"/>
            <a:stretch>
              <a:fillRect l="0" t="0" r="-44828" b="-28688"/>
            </a:stretch>
          </a:blipFill>
        </p:spPr>
      </p:sp>
      <p:sp>
        <p:nvSpPr>
          <p:cNvPr name="Freeform 14" id="14"/>
          <p:cNvSpPr/>
          <p:nvPr/>
        </p:nvSpPr>
        <p:spPr>
          <a:xfrm flipH="false" flipV="false" rot="0">
            <a:off x="10147584" y="9179002"/>
            <a:ext cx="7081409" cy="734700"/>
          </a:xfrm>
          <a:custGeom>
            <a:avLst/>
            <a:gdLst/>
            <a:ahLst/>
            <a:cxnLst/>
            <a:rect r="r" b="b" t="t" l="l"/>
            <a:pathLst>
              <a:path h="734700" w="7081409">
                <a:moveTo>
                  <a:pt x="0" y="0"/>
                </a:moveTo>
                <a:lnTo>
                  <a:pt x="7081409" y="0"/>
                </a:lnTo>
                <a:lnTo>
                  <a:pt x="7081409" y="734700"/>
                </a:lnTo>
                <a:lnTo>
                  <a:pt x="0" y="734700"/>
                </a:lnTo>
                <a:lnTo>
                  <a:pt x="0" y="0"/>
                </a:lnTo>
                <a:close/>
              </a:path>
            </a:pathLst>
          </a:custGeom>
          <a:blipFill>
            <a:blip r:embed="rId6"/>
            <a:stretch>
              <a:fillRect l="0" t="0" r="-39140" b="-42877"/>
            </a:stretch>
          </a:blipFill>
        </p:spPr>
      </p:sp>
      <p:grpSp>
        <p:nvGrpSpPr>
          <p:cNvPr name="Group 15" id="15"/>
          <p:cNvGrpSpPr/>
          <p:nvPr/>
        </p:nvGrpSpPr>
        <p:grpSpPr>
          <a:xfrm rot="-3503507">
            <a:off x="16124242" y="1837352"/>
            <a:ext cx="12583451" cy="7382737"/>
            <a:chOff x="0" y="0"/>
            <a:chExt cx="3314160" cy="1944424"/>
          </a:xfrm>
        </p:grpSpPr>
        <p:sp>
          <p:nvSpPr>
            <p:cNvPr name="Freeform 16" id="16"/>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17" id="17"/>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sp>
        <p:nvSpPr>
          <p:cNvPr name="Freeform 18" id="18"/>
          <p:cNvSpPr/>
          <p:nvPr/>
        </p:nvSpPr>
        <p:spPr>
          <a:xfrm flipH="false" flipV="false" rot="0">
            <a:off x="12748498" y="2430453"/>
            <a:ext cx="2320101" cy="2314301"/>
          </a:xfrm>
          <a:custGeom>
            <a:avLst/>
            <a:gdLst/>
            <a:ahLst/>
            <a:cxnLst/>
            <a:rect r="r" b="b" t="t" l="l"/>
            <a:pathLst>
              <a:path h="2314301" w="2320101">
                <a:moveTo>
                  <a:pt x="0" y="0"/>
                </a:moveTo>
                <a:lnTo>
                  <a:pt x="2320102" y="0"/>
                </a:lnTo>
                <a:lnTo>
                  <a:pt x="2320102" y="2314301"/>
                </a:lnTo>
                <a:lnTo>
                  <a:pt x="0" y="2314301"/>
                </a:lnTo>
                <a:lnTo>
                  <a:pt x="0" y="0"/>
                </a:lnTo>
                <a:close/>
              </a:path>
            </a:pathLst>
          </a:custGeom>
          <a:blipFill>
            <a:blip r:embed="rId7"/>
            <a:stretch>
              <a:fillRect l="0" t="0" r="0" b="0"/>
            </a:stretch>
          </a:blipFill>
        </p:spPr>
      </p:sp>
      <p:sp>
        <p:nvSpPr>
          <p:cNvPr name="Freeform 19" id="19"/>
          <p:cNvSpPr/>
          <p:nvPr/>
        </p:nvSpPr>
        <p:spPr>
          <a:xfrm flipH="false" flipV="false" rot="0">
            <a:off x="15584820" y="2430453"/>
            <a:ext cx="2308515" cy="2314301"/>
          </a:xfrm>
          <a:custGeom>
            <a:avLst/>
            <a:gdLst/>
            <a:ahLst/>
            <a:cxnLst/>
            <a:rect r="r" b="b" t="t" l="l"/>
            <a:pathLst>
              <a:path h="2314301" w="2308515">
                <a:moveTo>
                  <a:pt x="0" y="0"/>
                </a:moveTo>
                <a:lnTo>
                  <a:pt x="2308516" y="0"/>
                </a:lnTo>
                <a:lnTo>
                  <a:pt x="2308516" y="2314301"/>
                </a:lnTo>
                <a:lnTo>
                  <a:pt x="0" y="2314301"/>
                </a:lnTo>
                <a:lnTo>
                  <a:pt x="0" y="0"/>
                </a:lnTo>
                <a:close/>
              </a:path>
            </a:pathLst>
          </a:custGeom>
          <a:blipFill>
            <a:blip r:embed="rId8"/>
            <a:stretch>
              <a:fillRect l="0" t="0" r="0" b="0"/>
            </a:stretch>
          </a:blipFill>
        </p:spPr>
      </p:sp>
      <p:sp>
        <p:nvSpPr>
          <p:cNvPr name="Freeform 20" id="20"/>
          <p:cNvSpPr/>
          <p:nvPr/>
        </p:nvSpPr>
        <p:spPr>
          <a:xfrm flipH="false" flipV="false" rot="0">
            <a:off x="9888556" y="2430453"/>
            <a:ext cx="2305623" cy="2314301"/>
          </a:xfrm>
          <a:custGeom>
            <a:avLst/>
            <a:gdLst/>
            <a:ahLst/>
            <a:cxnLst/>
            <a:rect r="r" b="b" t="t" l="l"/>
            <a:pathLst>
              <a:path h="2314301" w="2305623">
                <a:moveTo>
                  <a:pt x="0" y="0"/>
                </a:moveTo>
                <a:lnTo>
                  <a:pt x="2305622" y="0"/>
                </a:lnTo>
                <a:lnTo>
                  <a:pt x="2305622" y="2314301"/>
                </a:lnTo>
                <a:lnTo>
                  <a:pt x="0" y="2314301"/>
                </a:lnTo>
                <a:lnTo>
                  <a:pt x="0" y="0"/>
                </a:lnTo>
                <a:close/>
              </a:path>
            </a:pathLst>
          </a:custGeom>
          <a:blipFill>
            <a:blip r:embed="rId9"/>
            <a:stretch>
              <a:fillRect l="0" t="0" r="0" b="0"/>
            </a:stretch>
          </a:blipFill>
        </p:spPr>
      </p:sp>
      <p:sp>
        <p:nvSpPr>
          <p:cNvPr name="AutoShape 21" id="21"/>
          <p:cNvSpPr/>
          <p:nvPr/>
        </p:nvSpPr>
        <p:spPr>
          <a:xfrm>
            <a:off x="12265457" y="3507852"/>
            <a:ext cx="411762" cy="0"/>
          </a:xfrm>
          <a:prstGeom prst="line">
            <a:avLst/>
          </a:prstGeom>
          <a:ln cap="flat" w="38100">
            <a:solidFill>
              <a:srgbClr val="000000"/>
            </a:solidFill>
            <a:prstDash val="solid"/>
            <a:headEnd type="none" len="sm" w="sm"/>
            <a:tailEnd type="triangle" len="med" w="lg"/>
          </a:ln>
        </p:spPr>
      </p:sp>
      <p:sp>
        <p:nvSpPr>
          <p:cNvPr name="AutoShape 22" id="22"/>
          <p:cNvSpPr/>
          <p:nvPr/>
        </p:nvSpPr>
        <p:spPr>
          <a:xfrm>
            <a:off x="15120829" y="3526902"/>
            <a:ext cx="411762" cy="0"/>
          </a:xfrm>
          <a:prstGeom prst="line">
            <a:avLst/>
          </a:prstGeom>
          <a:ln cap="flat" w="38100">
            <a:solidFill>
              <a:srgbClr val="000000"/>
            </a:solidFill>
            <a:prstDash val="solid"/>
            <a:headEnd type="none" len="sm" w="sm"/>
            <a:tailEnd type="triangle" len="med" w="lg"/>
          </a:ln>
        </p:spPr>
      </p:sp>
      <p:sp>
        <p:nvSpPr>
          <p:cNvPr name="Freeform 23" id="23"/>
          <p:cNvSpPr/>
          <p:nvPr/>
        </p:nvSpPr>
        <p:spPr>
          <a:xfrm flipH="false" flipV="false" rot="0">
            <a:off x="532770" y="2215691"/>
            <a:ext cx="2264799" cy="2227260"/>
          </a:xfrm>
          <a:custGeom>
            <a:avLst/>
            <a:gdLst/>
            <a:ahLst/>
            <a:cxnLst/>
            <a:rect r="r" b="b" t="t" l="l"/>
            <a:pathLst>
              <a:path h="2227260" w="2264799">
                <a:moveTo>
                  <a:pt x="0" y="0"/>
                </a:moveTo>
                <a:lnTo>
                  <a:pt x="2264798" y="0"/>
                </a:lnTo>
                <a:lnTo>
                  <a:pt x="2264798" y="2227260"/>
                </a:lnTo>
                <a:lnTo>
                  <a:pt x="0" y="2227260"/>
                </a:lnTo>
                <a:lnTo>
                  <a:pt x="0" y="0"/>
                </a:lnTo>
                <a:close/>
              </a:path>
            </a:pathLst>
          </a:custGeom>
          <a:blipFill>
            <a:blip r:embed="rId10"/>
            <a:stretch>
              <a:fillRect l="0" t="0" r="0" b="0"/>
            </a:stretch>
          </a:blipFill>
        </p:spPr>
      </p:sp>
      <p:sp>
        <p:nvSpPr>
          <p:cNvPr name="Freeform 24" id="24"/>
          <p:cNvSpPr/>
          <p:nvPr/>
        </p:nvSpPr>
        <p:spPr>
          <a:xfrm flipH="false" flipV="false" rot="0">
            <a:off x="2889288" y="2215691"/>
            <a:ext cx="2511383" cy="2257423"/>
          </a:xfrm>
          <a:custGeom>
            <a:avLst/>
            <a:gdLst/>
            <a:ahLst/>
            <a:cxnLst/>
            <a:rect r="r" b="b" t="t" l="l"/>
            <a:pathLst>
              <a:path h="2257423" w="2511383">
                <a:moveTo>
                  <a:pt x="0" y="0"/>
                </a:moveTo>
                <a:lnTo>
                  <a:pt x="2511382" y="0"/>
                </a:lnTo>
                <a:lnTo>
                  <a:pt x="2511382" y="2257422"/>
                </a:lnTo>
                <a:lnTo>
                  <a:pt x="0" y="2257422"/>
                </a:lnTo>
                <a:lnTo>
                  <a:pt x="0" y="0"/>
                </a:lnTo>
                <a:close/>
              </a:path>
            </a:pathLst>
          </a:custGeom>
          <a:blipFill>
            <a:blip r:embed="rId11"/>
            <a:stretch>
              <a:fillRect l="0" t="0" r="0" b="0"/>
            </a:stretch>
          </a:blipFill>
        </p:spPr>
      </p:sp>
      <p:sp>
        <p:nvSpPr>
          <p:cNvPr name="Freeform 25" id="25"/>
          <p:cNvSpPr/>
          <p:nvPr/>
        </p:nvSpPr>
        <p:spPr>
          <a:xfrm flipH="false" flipV="false" rot="0">
            <a:off x="5495920" y="2215691"/>
            <a:ext cx="1806153" cy="2366436"/>
          </a:xfrm>
          <a:custGeom>
            <a:avLst/>
            <a:gdLst/>
            <a:ahLst/>
            <a:cxnLst/>
            <a:rect r="r" b="b" t="t" l="l"/>
            <a:pathLst>
              <a:path h="2366436" w="1806153">
                <a:moveTo>
                  <a:pt x="0" y="0"/>
                </a:moveTo>
                <a:lnTo>
                  <a:pt x="1806154" y="0"/>
                </a:lnTo>
                <a:lnTo>
                  <a:pt x="1806154" y="2366435"/>
                </a:lnTo>
                <a:lnTo>
                  <a:pt x="0" y="2366435"/>
                </a:lnTo>
                <a:lnTo>
                  <a:pt x="0" y="0"/>
                </a:lnTo>
                <a:close/>
              </a:path>
            </a:pathLst>
          </a:custGeom>
          <a:blipFill>
            <a:blip r:embed="rId12"/>
            <a:stretch>
              <a:fillRect l="0" t="-9316" r="0" b="-9316"/>
            </a:stretch>
          </a:blipFill>
        </p:spPr>
      </p:sp>
      <p:sp>
        <p:nvSpPr>
          <p:cNvPr name="Freeform 26" id="26"/>
          <p:cNvSpPr/>
          <p:nvPr/>
        </p:nvSpPr>
        <p:spPr>
          <a:xfrm flipH="false" flipV="false" rot="0">
            <a:off x="3764397" y="6948476"/>
            <a:ext cx="2855863" cy="3190688"/>
          </a:xfrm>
          <a:custGeom>
            <a:avLst/>
            <a:gdLst/>
            <a:ahLst/>
            <a:cxnLst/>
            <a:rect r="r" b="b" t="t" l="l"/>
            <a:pathLst>
              <a:path h="3190688" w="2855863">
                <a:moveTo>
                  <a:pt x="0" y="0"/>
                </a:moveTo>
                <a:lnTo>
                  <a:pt x="2855863" y="0"/>
                </a:lnTo>
                <a:lnTo>
                  <a:pt x="2855863" y="3190688"/>
                </a:lnTo>
                <a:lnTo>
                  <a:pt x="0" y="3190688"/>
                </a:lnTo>
                <a:lnTo>
                  <a:pt x="0" y="0"/>
                </a:lnTo>
                <a:close/>
              </a:path>
            </a:pathLst>
          </a:custGeom>
          <a:blipFill>
            <a:blip r:embed="rId13"/>
            <a:stretch>
              <a:fillRect l="0" t="0" r="0" b="0"/>
            </a:stretch>
          </a:blipFill>
        </p:spPr>
      </p:sp>
      <p:sp>
        <p:nvSpPr>
          <p:cNvPr name="Freeform 27" id="27"/>
          <p:cNvSpPr/>
          <p:nvPr/>
        </p:nvSpPr>
        <p:spPr>
          <a:xfrm flipH="false" flipV="false" rot="0">
            <a:off x="7155332" y="7015151"/>
            <a:ext cx="2914028" cy="3193456"/>
          </a:xfrm>
          <a:custGeom>
            <a:avLst/>
            <a:gdLst/>
            <a:ahLst/>
            <a:cxnLst/>
            <a:rect r="r" b="b" t="t" l="l"/>
            <a:pathLst>
              <a:path h="3193456" w="2914028">
                <a:moveTo>
                  <a:pt x="0" y="0"/>
                </a:moveTo>
                <a:lnTo>
                  <a:pt x="2914028" y="0"/>
                </a:lnTo>
                <a:lnTo>
                  <a:pt x="2914028" y="3193455"/>
                </a:lnTo>
                <a:lnTo>
                  <a:pt x="0" y="3193455"/>
                </a:lnTo>
                <a:lnTo>
                  <a:pt x="0" y="0"/>
                </a:lnTo>
                <a:close/>
              </a:path>
            </a:pathLst>
          </a:custGeom>
          <a:blipFill>
            <a:blip r:embed="rId14"/>
            <a:stretch>
              <a:fillRect l="0" t="0" r="0" b="0"/>
            </a:stretch>
          </a:blipFill>
        </p:spPr>
      </p:sp>
      <p:sp>
        <p:nvSpPr>
          <p:cNvPr name="TextBox 28" id="28"/>
          <p:cNvSpPr txBox="true"/>
          <p:nvPr/>
        </p:nvSpPr>
        <p:spPr>
          <a:xfrm rot="0">
            <a:off x="3764397" y="141565"/>
            <a:ext cx="12248317" cy="809625"/>
          </a:xfrm>
          <a:prstGeom prst="rect">
            <a:avLst/>
          </a:prstGeom>
        </p:spPr>
        <p:txBody>
          <a:bodyPr anchor="t" rtlCol="false" tIns="0" lIns="0" bIns="0" rIns="0">
            <a:spAutoFit/>
          </a:bodyPr>
          <a:lstStyle/>
          <a:p>
            <a:pPr algn="ctr">
              <a:lnSpc>
                <a:spcPts val="6299"/>
              </a:lnSpc>
            </a:pPr>
            <a:r>
              <a:rPr lang="en-US" b="true" sz="4500" spc="422">
                <a:solidFill>
                  <a:srgbClr val="8D0000"/>
                </a:solidFill>
                <a:latin typeface="Poppins Bold"/>
                <a:ea typeface="Poppins Bold"/>
                <a:cs typeface="Poppins Bold"/>
                <a:sym typeface="Poppins Bold"/>
              </a:rPr>
              <a:t>DOMAINES D’APPLICATIONS DE SLIC</a:t>
            </a:r>
          </a:p>
        </p:txBody>
      </p:sp>
      <p:sp>
        <p:nvSpPr>
          <p:cNvPr name="TextBox 29" id="29"/>
          <p:cNvSpPr txBox="true"/>
          <p:nvPr/>
        </p:nvSpPr>
        <p:spPr>
          <a:xfrm rot="0">
            <a:off x="1517992" y="1369521"/>
            <a:ext cx="4717852" cy="566753"/>
          </a:xfrm>
          <a:prstGeom prst="rect">
            <a:avLst/>
          </a:prstGeom>
        </p:spPr>
        <p:txBody>
          <a:bodyPr anchor="t" rtlCol="false" tIns="0" lIns="0" bIns="0" rIns="0">
            <a:spAutoFit/>
          </a:bodyPr>
          <a:lstStyle/>
          <a:p>
            <a:pPr algn="ctr">
              <a:lnSpc>
                <a:spcPts val="4461"/>
              </a:lnSpc>
              <a:spcBef>
                <a:spcPct val="0"/>
              </a:spcBef>
            </a:pPr>
            <a:r>
              <a:rPr lang="en-US" b="true" sz="3186">
                <a:solidFill>
                  <a:srgbClr val="FFFFFF"/>
                </a:solidFill>
                <a:latin typeface="Poppins Bold"/>
                <a:ea typeface="Poppins Bold"/>
                <a:cs typeface="Poppins Bold"/>
                <a:sym typeface="Poppins Bold"/>
              </a:rPr>
              <a:t>Segmentation </a:t>
            </a:r>
            <a:r>
              <a:rPr lang="en-US" b="true" sz="3186">
                <a:solidFill>
                  <a:srgbClr val="FFFFFF"/>
                </a:solidFill>
                <a:latin typeface="Poppins Bold"/>
                <a:ea typeface="Poppins Bold"/>
                <a:cs typeface="Poppins Bold"/>
                <a:sym typeface="Poppins Bold"/>
              </a:rPr>
              <a:t>d'objets</a:t>
            </a:r>
          </a:p>
        </p:txBody>
      </p:sp>
      <p:sp>
        <p:nvSpPr>
          <p:cNvPr name="TextBox 30" id="30"/>
          <p:cNvSpPr txBox="true"/>
          <p:nvPr/>
        </p:nvSpPr>
        <p:spPr>
          <a:xfrm rot="0">
            <a:off x="10780502" y="1182193"/>
            <a:ext cx="5569414" cy="600923"/>
          </a:xfrm>
          <a:prstGeom prst="rect">
            <a:avLst/>
          </a:prstGeom>
        </p:spPr>
        <p:txBody>
          <a:bodyPr anchor="t" rtlCol="false" tIns="0" lIns="0" bIns="0" rIns="0">
            <a:spAutoFit/>
          </a:bodyPr>
          <a:lstStyle/>
          <a:p>
            <a:pPr algn="ctr">
              <a:lnSpc>
                <a:spcPts val="4678"/>
              </a:lnSpc>
              <a:spcBef>
                <a:spcPct val="0"/>
              </a:spcBef>
            </a:pPr>
            <a:r>
              <a:rPr lang="en-US" b="true" sz="3341">
                <a:solidFill>
                  <a:srgbClr val="FFFFFF"/>
                </a:solidFill>
                <a:latin typeface="Poppins Bold"/>
                <a:ea typeface="Poppins Bold"/>
                <a:cs typeface="Poppins Bold"/>
                <a:sym typeface="Poppins Bold"/>
              </a:rPr>
              <a:t>Imagerie medical</a:t>
            </a:r>
          </a:p>
        </p:txBody>
      </p:sp>
      <p:sp>
        <p:nvSpPr>
          <p:cNvPr name="TextBox 31" id="31"/>
          <p:cNvSpPr txBox="true"/>
          <p:nvPr/>
        </p:nvSpPr>
        <p:spPr>
          <a:xfrm rot="0">
            <a:off x="5786039" y="6070912"/>
            <a:ext cx="5934879" cy="566421"/>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Poppins Bold"/>
                <a:ea typeface="Poppins Bold"/>
                <a:cs typeface="Poppins Bold"/>
                <a:sym typeface="Poppins Bold"/>
              </a:rPr>
              <a:t>Imagerie spacial</a:t>
            </a:r>
          </a:p>
        </p:txBody>
      </p:sp>
      <p:sp>
        <p:nvSpPr>
          <p:cNvPr name="Freeform 32" id="32"/>
          <p:cNvSpPr/>
          <p:nvPr/>
        </p:nvSpPr>
        <p:spPr>
          <a:xfrm flipH="false" flipV="false" rot="0">
            <a:off x="10602760" y="7110401"/>
            <a:ext cx="2883280" cy="3081541"/>
          </a:xfrm>
          <a:custGeom>
            <a:avLst/>
            <a:gdLst/>
            <a:ahLst/>
            <a:cxnLst/>
            <a:rect r="r" b="b" t="t" l="l"/>
            <a:pathLst>
              <a:path h="3081541" w="2883280">
                <a:moveTo>
                  <a:pt x="0" y="0"/>
                </a:moveTo>
                <a:lnTo>
                  <a:pt x="2883280" y="0"/>
                </a:lnTo>
                <a:lnTo>
                  <a:pt x="2883280" y="3081541"/>
                </a:lnTo>
                <a:lnTo>
                  <a:pt x="0" y="3081541"/>
                </a:lnTo>
                <a:lnTo>
                  <a:pt x="0" y="0"/>
                </a:lnTo>
                <a:close/>
              </a:path>
            </a:pathLst>
          </a:custGeom>
          <a:blipFill>
            <a:blip r:embed="rId15"/>
            <a:stretch>
              <a:fillRect l="0" t="0" r="0" b="0"/>
            </a:stretch>
          </a:blipFill>
        </p:spPr>
      </p:sp>
      <p:sp>
        <p:nvSpPr>
          <p:cNvPr name="TextBox 33" id="33"/>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673738" y="811134"/>
            <a:ext cx="585562" cy="482914"/>
          </a:xfrm>
          <a:custGeom>
            <a:avLst/>
            <a:gdLst/>
            <a:ahLst/>
            <a:cxnLst/>
            <a:rect r="r" b="b" t="t" l="l"/>
            <a:pathLst>
              <a:path h="482914" w="585562">
                <a:moveTo>
                  <a:pt x="0" y="0"/>
                </a:moveTo>
                <a:lnTo>
                  <a:pt x="585562" y="0"/>
                </a:lnTo>
                <a:lnTo>
                  <a:pt x="585562" y="482913"/>
                </a:lnTo>
                <a:lnTo>
                  <a:pt x="0" y="48291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9495" y="3506089"/>
            <a:ext cx="162721" cy="243273"/>
          </a:xfrm>
          <a:custGeom>
            <a:avLst/>
            <a:gdLst/>
            <a:ahLst/>
            <a:cxnLst/>
            <a:rect r="r" b="b" t="t" l="l"/>
            <a:pathLst>
              <a:path h="243273" w="162721">
                <a:moveTo>
                  <a:pt x="0" y="0"/>
                </a:moveTo>
                <a:lnTo>
                  <a:pt x="162721" y="0"/>
                </a:lnTo>
                <a:lnTo>
                  <a:pt x="162721" y="243273"/>
                </a:lnTo>
                <a:lnTo>
                  <a:pt x="0" y="2432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529641" y="3493559"/>
            <a:ext cx="162721" cy="243273"/>
          </a:xfrm>
          <a:custGeom>
            <a:avLst/>
            <a:gdLst/>
            <a:ahLst/>
            <a:cxnLst/>
            <a:rect r="r" b="b" t="t" l="l"/>
            <a:pathLst>
              <a:path h="243273" w="162721">
                <a:moveTo>
                  <a:pt x="0" y="0"/>
                </a:moveTo>
                <a:lnTo>
                  <a:pt x="162721" y="0"/>
                </a:lnTo>
                <a:lnTo>
                  <a:pt x="162721" y="243272"/>
                </a:lnTo>
                <a:lnTo>
                  <a:pt x="0" y="2432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Table 5" id="5"/>
          <p:cNvGraphicFramePr>
            <a:graphicFrameLocks noGrp="true"/>
          </p:cNvGraphicFramePr>
          <p:nvPr/>
        </p:nvGraphicFramePr>
        <p:xfrm>
          <a:off x="3889762" y="2703391"/>
          <a:ext cx="11000146" cy="5619750"/>
        </p:xfrm>
        <a:graphic>
          <a:graphicData uri="http://schemas.openxmlformats.org/drawingml/2006/table">
            <a:tbl>
              <a:tblPr/>
              <a:tblGrid>
                <a:gridCol w="2538959"/>
                <a:gridCol w="2601224"/>
                <a:gridCol w="2666975"/>
                <a:gridCol w="3192988"/>
              </a:tblGrid>
              <a:tr h="1169982">
                <a:tc>
                  <a:txBody>
                    <a:bodyPr anchor="t" rtlCol="false"/>
                    <a:lstStyle/>
                    <a:p>
                      <a:pPr algn="ctr">
                        <a:lnSpc>
                          <a:spcPts val="4199"/>
                        </a:lnSpc>
                        <a:defRPr/>
                      </a:pPr>
                      <a:r>
                        <a:rPr lang="en-US" sz="2999">
                          <a:solidFill>
                            <a:srgbClr val="000000"/>
                          </a:solidFill>
                          <a:latin typeface="Poppins"/>
                          <a:ea typeface="Poppins"/>
                          <a:cs typeface="Poppins"/>
                          <a:sym typeface="Poppins"/>
                        </a:rPr>
                        <a:t>Objets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Poppins"/>
                          <a:ea typeface="Poppins"/>
                          <a:cs typeface="Poppins"/>
                          <a:sym typeface="Poppins"/>
                        </a:rPr>
                        <a:t>Image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b="true">
                          <a:solidFill>
                            <a:srgbClr val="000000"/>
                          </a:solidFill>
                          <a:latin typeface="Poppins Bold"/>
                          <a:ea typeface="Poppins Bold"/>
                          <a:cs typeface="Poppins Bold"/>
                          <a:sym typeface="Poppins Bold"/>
                        </a:rPr>
                        <a:t>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b="true">
                          <a:solidFill>
                            <a:srgbClr val="000000"/>
                          </a:solidFill>
                          <a:latin typeface="Poppins Bold"/>
                          <a:ea typeface="Poppins Bold"/>
                          <a:cs typeface="Poppins Bold"/>
                          <a:sym typeface="Poppins Bold"/>
                        </a:rPr>
                        <a:t>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224884">
                <a:tc>
                  <a:txBody>
                    <a:bodyPr anchor="t" rtlCol="false"/>
                    <a:lstStyle/>
                    <a:p>
                      <a:pPr algn="l">
                        <a:lnSpc>
                          <a:spcPts val="4199"/>
                        </a:lnSpc>
                        <a:defRPr/>
                      </a:pPr>
                      <a:r>
                        <a:rPr lang="en-US" sz="2999">
                          <a:solidFill>
                            <a:srgbClr val="000000"/>
                          </a:solidFill>
                          <a:latin typeface="Open Sans"/>
                          <a:ea typeface="Open Sans"/>
                          <a:cs typeface="Open Sans"/>
                          <a:sym typeface="Open Sans"/>
                        </a:rPr>
                        <a:t>Simple</a:t>
                      </a:r>
                      <a:endParaRPr lang="en-US" sz="1100"/>
                    </a:p>
                    <a:p>
                      <a:pPr algn="l">
                        <a:lnSpc>
                          <a:spcPts val="4199"/>
                        </a:lnSpc>
                      </a:pPr>
                    </a:p>
                    <a:p>
                      <a:pPr algn="l">
                        <a:lnSpc>
                          <a:spcPts val="4199"/>
                        </a:lnSpc>
                      </a:pPr>
                      <a:r>
                        <a:rPr lang="en-US" sz="2999">
                          <a:solidFill>
                            <a:srgbClr val="000000"/>
                          </a:solidFill>
                          <a:latin typeface="Open Sans"/>
                          <a:ea typeface="Open Sans"/>
                          <a:cs typeface="Open Sans"/>
                          <a:sym typeface="Open Sans"/>
                        </a:rPr>
                        <a:t>Complexe</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Open Sans"/>
                          <a:ea typeface="Open Sans"/>
                          <a:cs typeface="Open Sans"/>
                          <a:sym typeface="Open Sans"/>
                        </a:rPr>
                        <a:t>321 × 481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Poppins"/>
                          <a:ea typeface="Poppins"/>
                          <a:cs typeface="Poppins"/>
                          <a:sym typeface="Poppins"/>
                        </a:rPr>
                        <a:t>500-1000</a:t>
                      </a:r>
                      <a:endParaRPr lang="en-US" sz="1100"/>
                    </a:p>
                    <a:p>
                      <a:pPr algn="ctr">
                        <a:lnSpc>
                          <a:spcPts val="4199"/>
                        </a:lnSpc>
                      </a:pPr>
                    </a:p>
                    <a:p>
                      <a:pPr algn="ctr">
                        <a:lnSpc>
                          <a:spcPts val="4199"/>
                        </a:lnSpc>
                      </a:pPr>
                      <a:r>
                        <a:rPr lang="en-US" sz="2999">
                          <a:solidFill>
                            <a:srgbClr val="000000"/>
                          </a:solidFill>
                          <a:latin typeface="Poppins"/>
                          <a:ea typeface="Poppins"/>
                          <a:cs typeface="Poppins"/>
                          <a:sym typeface="Poppins"/>
                        </a:rPr>
                        <a:t>1000-1500</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Poppins"/>
                          <a:ea typeface="Poppins"/>
                          <a:cs typeface="Poppins"/>
                          <a:sym typeface="Poppins"/>
                        </a:rPr>
                        <a:t>5-10</a:t>
                      </a:r>
                      <a:endParaRPr lang="en-US" sz="1100"/>
                    </a:p>
                    <a:p>
                      <a:pPr algn="ctr">
                        <a:lnSpc>
                          <a:spcPts val="4199"/>
                        </a:lnSpc>
                      </a:pPr>
                    </a:p>
                    <a:p>
                      <a:pPr algn="ctr">
                        <a:lnSpc>
                          <a:spcPts val="4199"/>
                        </a:lnSpc>
                      </a:pPr>
                      <a:r>
                        <a:rPr lang="en-US" sz="2999">
                          <a:solidFill>
                            <a:srgbClr val="000000"/>
                          </a:solidFill>
                          <a:latin typeface="Poppins"/>
                          <a:ea typeface="Poppins"/>
                          <a:cs typeface="Poppins"/>
                          <a:sym typeface="Poppins"/>
                        </a:rPr>
                        <a:t>10-15</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224884">
                <a:tc>
                  <a:txBody>
                    <a:bodyPr anchor="t" rtlCol="false"/>
                    <a:lstStyle/>
                    <a:p>
                      <a:pPr algn="l">
                        <a:lnSpc>
                          <a:spcPts val="4199"/>
                        </a:lnSpc>
                        <a:defRPr/>
                      </a:pPr>
                      <a:r>
                        <a:rPr lang="en-US" sz="2999">
                          <a:solidFill>
                            <a:srgbClr val="000000"/>
                          </a:solidFill>
                          <a:latin typeface="Arimo"/>
                          <a:ea typeface="Arimo"/>
                          <a:cs typeface="Arimo"/>
                          <a:sym typeface="Arimo"/>
                        </a:rPr>
                        <a:t>Simple</a:t>
                      </a:r>
                      <a:endParaRPr lang="en-US" sz="1100"/>
                    </a:p>
                    <a:p>
                      <a:pPr algn="l">
                        <a:lnSpc>
                          <a:spcPts val="4199"/>
                        </a:lnSpc>
                      </a:pPr>
                    </a:p>
                    <a:p>
                      <a:pPr algn="l">
                        <a:lnSpc>
                          <a:spcPts val="4199"/>
                        </a:lnSpc>
                      </a:pPr>
                      <a:r>
                        <a:rPr lang="en-US" sz="2999">
                          <a:solidFill>
                            <a:srgbClr val="000000"/>
                          </a:solidFill>
                          <a:latin typeface="Arimo"/>
                          <a:ea typeface="Arimo"/>
                          <a:cs typeface="Arimo"/>
                          <a:sym typeface="Arimo"/>
                        </a:rPr>
                        <a:t>Complexe</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Poppins"/>
                          <a:ea typeface="Poppins"/>
                          <a:cs typeface="Poppins"/>
                          <a:sym typeface="Poppins"/>
                        </a:rPr>
                        <a:t>509 x 544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Poppins"/>
                          <a:ea typeface="Poppins"/>
                          <a:cs typeface="Poppins"/>
                          <a:sym typeface="Poppins"/>
                        </a:rPr>
                        <a:t>1000-2000</a:t>
                      </a:r>
                      <a:endParaRPr lang="en-US" sz="1100"/>
                    </a:p>
                    <a:p>
                      <a:pPr algn="ctr">
                        <a:lnSpc>
                          <a:spcPts val="4199"/>
                        </a:lnSpc>
                      </a:pPr>
                    </a:p>
                    <a:p>
                      <a:pPr algn="ctr">
                        <a:lnSpc>
                          <a:spcPts val="4199"/>
                        </a:lnSpc>
                      </a:pPr>
                      <a:r>
                        <a:rPr lang="en-US" sz="2999">
                          <a:solidFill>
                            <a:srgbClr val="000000"/>
                          </a:solidFill>
                          <a:latin typeface="Poppins"/>
                          <a:ea typeface="Poppins"/>
                          <a:cs typeface="Poppins"/>
                          <a:sym typeface="Poppins"/>
                        </a:rPr>
                        <a:t>2000-3000</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199"/>
                        </a:lnSpc>
                        <a:defRPr/>
                      </a:pPr>
                      <a:r>
                        <a:rPr lang="en-US" sz="2999">
                          <a:solidFill>
                            <a:srgbClr val="000000"/>
                          </a:solidFill>
                          <a:latin typeface="Poppins"/>
                          <a:ea typeface="Poppins"/>
                          <a:cs typeface="Poppins"/>
                          <a:sym typeface="Poppins"/>
                        </a:rPr>
                        <a:t>10-20</a:t>
                      </a:r>
                      <a:endParaRPr lang="en-US" sz="1100"/>
                    </a:p>
                    <a:p>
                      <a:pPr algn="ctr">
                        <a:lnSpc>
                          <a:spcPts val="4199"/>
                        </a:lnSpc>
                      </a:pPr>
                    </a:p>
                    <a:p>
                      <a:pPr algn="ctr">
                        <a:lnSpc>
                          <a:spcPts val="4199"/>
                        </a:lnSpc>
                      </a:pPr>
                      <a:r>
                        <a:rPr lang="en-US" sz="2999">
                          <a:solidFill>
                            <a:srgbClr val="000000"/>
                          </a:solidFill>
                          <a:latin typeface="Poppins"/>
                          <a:ea typeface="Poppins"/>
                          <a:cs typeface="Poppins"/>
                          <a:sym typeface="Poppins"/>
                        </a:rPr>
                        <a:t>20-40</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6" id="6"/>
          <p:cNvSpPr txBox="true"/>
          <p:nvPr/>
        </p:nvSpPr>
        <p:spPr>
          <a:xfrm rot="0">
            <a:off x="2019219" y="773034"/>
            <a:ext cx="14249561" cy="720115"/>
          </a:xfrm>
          <a:prstGeom prst="rect">
            <a:avLst/>
          </a:prstGeom>
        </p:spPr>
        <p:txBody>
          <a:bodyPr anchor="t" rtlCol="false" tIns="0" lIns="0" bIns="0" rIns="0">
            <a:spAutoFit/>
          </a:bodyPr>
          <a:lstStyle/>
          <a:p>
            <a:pPr algn="l">
              <a:lnSpc>
                <a:spcPts val="4906"/>
              </a:lnSpc>
            </a:pPr>
            <a:r>
              <a:rPr lang="en-US" sz="4501" b="true">
                <a:solidFill>
                  <a:srgbClr val="8D0000"/>
                </a:solidFill>
                <a:latin typeface="Codec Pro Bold"/>
                <a:ea typeface="Codec Pro Bold"/>
                <a:cs typeface="Codec Pro Bold"/>
                <a:sym typeface="Codec Pro Bold"/>
              </a:rPr>
              <a:t>                                        </a:t>
            </a:r>
            <a:r>
              <a:rPr lang="en-US" sz="4501" b="true">
                <a:solidFill>
                  <a:srgbClr val="8D2B2B"/>
                </a:solidFill>
                <a:latin typeface="Codec Pro Bold"/>
                <a:ea typeface="Codec Pro Bold"/>
                <a:cs typeface="Codec Pro Bold"/>
                <a:sym typeface="Codec Pro Bold"/>
              </a:rPr>
              <a:t>CONCLUSION</a:t>
            </a:r>
          </a:p>
        </p:txBody>
      </p:sp>
      <p:sp>
        <p:nvSpPr>
          <p:cNvPr name="TextBox 7" id="7"/>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17</a:t>
            </a:r>
          </a:p>
        </p:txBody>
      </p:sp>
      <p:sp>
        <p:nvSpPr>
          <p:cNvPr name="AutoShape 8" id="8"/>
          <p:cNvSpPr/>
          <p:nvPr/>
        </p:nvSpPr>
        <p:spPr>
          <a:xfrm>
            <a:off x="8176546" y="1493148"/>
            <a:ext cx="2774020"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3503507">
            <a:off x="-2709316" y="8790517"/>
            <a:ext cx="5968439" cy="2484763"/>
            <a:chOff x="0" y="0"/>
            <a:chExt cx="1571935" cy="654423"/>
          </a:xfrm>
        </p:grpSpPr>
        <p:sp>
          <p:nvSpPr>
            <p:cNvPr name="Freeform 3" id="3"/>
            <p:cNvSpPr/>
            <p:nvPr/>
          </p:nvSpPr>
          <p:spPr>
            <a:xfrm flipH="false" flipV="false" rot="0">
              <a:off x="0" y="0"/>
              <a:ext cx="1571935" cy="654423"/>
            </a:xfrm>
            <a:custGeom>
              <a:avLst/>
              <a:gdLst/>
              <a:ahLst/>
              <a:cxnLst/>
              <a:rect r="r" b="b" t="t" l="l"/>
              <a:pathLst>
                <a:path h="654423" w="1571935">
                  <a:moveTo>
                    <a:pt x="66154" y="0"/>
                  </a:moveTo>
                  <a:lnTo>
                    <a:pt x="1505780" y="0"/>
                  </a:lnTo>
                  <a:cubicBezTo>
                    <a:pt x="1523326" y="0"/>
                    <a:pt x="1540152" y="6970"/>
                    <a:pt x="1552558" y="19376"/>
                  </a:cubicBezTo>
                  <a:cubicBezTo>
                    <a:pt x="1564965" y="31782"/>
                    <a:pt x="1571935" y="48609"/>
                    <a:pt x="1571935" y="66154"/>
                  </a:cubicBezTo>
                  <a:lnTo>
                    <a:pt x="1571935" y="588269"/>
                  </a:lnTo>
                  <a:cubicBezTo>
                    <a:pt x="1571935" y="624805"/>
                    <a:pt x="1542316" y="654423"/>
                    <a:pt x="1505780" y="654423"/>
                  </a:cubicBezTo>
                  <a:lnTo>
                    <a:pt x="66154" y="654423"/>
                  </a:lnTo>
                  <a:cubicBezTo>
                    <a:pt x="29618" y="654423"/>
                    <a:pt x="0" y="624805"/>
                    <a:pt x="0" y="588269"/>
                  </a:cubicBezTo>
                  <a:lnTo>
                    <a:pt x="0" y="66154"/>
                  </a:lnTo>
                  <a:cubicBezTo>
                    <a:pt x="0" y="29618"/>
                    <a:pt x="29618" y="0"/>
                    <a:pt x="66154" y="0"/>
                  </a:cubicBezTo>
                  <a:close/>
                </a:path>
              </a:pathLst>
            </a:custGeom>
            <a:solidFill>
              <a:srgbClr val="FFE9E9"/>
            </a:solidFill>
          </p:spPr>
        </p:sp>
        <p:sp>
          <p:nvSpPr>
            <p:cNvPr name="TextBox 4" id="4"/>
            <p:cNvSpPr txBox="true"/>
            <p:nvPr/>
          </p:nvSpPr>
          <p:spPr>
            <a:xfrm>
              <a:off x="0" y="-333375"/>
              <a:ext cx="1571935" cy="987798"/>
            </a:xfrm>
            <a:prstGeom prst="rect">
              <a:avLst/>
            </a:prstGeom>
          </p:spPr>
          <p:txBody>
            <a:bodyPr anchor="ctr" rtlCol="false" tIns="50800" lIns="50800" bIns="50800" rIns="50800"/>
            <a:lstStyle/>
            <a:p>
              <a:pPr algn="ctr">
                <a:lnSpc>
                  <a:spcPts val="6249"/>
                </a:lnSpc>
              </a:pPr>
            </a:p>
          </p:txBody>
        </p:sp>
      </p:grpSp>
      <p:grpSp>
        <p:nvGrpSpPr>
          <p:cNvPr name="Group 5" id="5"/>
          <p:cNvGrpSpPr/>
          <p:nvPr/>
        </p:nvGrpSpPr>
        <p:grpSpPr>
          <a:xfrm rot="-3503507">
            <a:off x="13399395" y="-2602653"/>
            <a:ext cx="6145518" cy="2741564"/>
            <a:chOff x="0" y="0"/>
            <a:chExt cx="1618573" cy="722058"/>
          </a:xfrm>
        </p:grpSpPr>
        <p:sp>
          <p:nvSpPr>
            <p:cNvPr name="Freeform 6" id="6"/>
            <p:cNvSpPr/>
            <p:nvPr/>
          </p:nvSpPr>
          <p:spPr>
            <a:xfrm flipH="false" flipV="false" rot="0">
              <a:off x="0" y="0"/>
              <a:ext cx="1618573" cy="722058"/>
            </a:xfrm>
            <a:custGeom>
              <a:avLst/>
              <a:gdLst/>
              <a:ahLst/>
              <a:cxnLst/>
              <a:rect r="r" b="b" t="t" l="l"/>
              <a:pathLst>
                <a:path h="722058" w="1618573">
                  <a:moveTo>
                    <a:pt x="64248" y="0"/>
                  </a:moveTo>
                  <a:lnTo>
                    <a:pt x="1554325" y="0"/>
                  </a:lnTo>
                  <a:cubicBezTo>
                    <a:pt x="1571364" y="0"/>
                    <a:pt x="1587706" y="6769"/>
                    <a:pt x="1599755" y="18818"/>
                  </a:cubicBezTo>
                  <a:cubicBezTo>
                    <a:pt x="1611804" y="30867"/>
                    <a:pt x="1618573" y="47208"/>
                    <a:pt x="1618573" y="64248"/>
                  </a:cubicBezTo>
                  <a:lnTo>
                    <a:pt x="1618573" y="657810"/>
                  </a:lnTo>
                  <a:cubicBezTo>
                    <a:pt x="1618573" y="674850"/>
                    <a:pt x="1611804" y="691191"/>
                    <a:pt x="1599755" y="703240"/>
                  </a:cubicBezTo>
                  <a:cubicBezTo>
                    <a:pt x="1587706" y="715289"/>
                    <a:pt x="1571364" y="722058"/>
                    <a:pt x="1554325" y="722058"/>
                  </a:cubicBezTo>
                  <a:lnTo>
                    <a:pt x="64248" y="722058"/>
                  </a:lnTo>
                  <a:cubicBezTo>
                    <a:pt x="47208" y="722058"/>
                    <a:pt x="30867" y="715289"/>
                    <a:pt x="18818" y="703240"/>
                  </a:cubicBezTo>
                  <a:cubicBezTo>
                    <a:pt x="6769" y="691191"/>
                    <a:pt x="0" y="674850"/>
                    <a:pt x="0" y="657810"/>
                  </a:cubicBezTo>
                  <a:lnTo>
                    <a:pt x="0" y="64248"/>
                  </a:lnTo>
                  <a:cubicBezTo>
                    <a:pt x="0" y="47208"/>
                    <a:pt x="6769" y="30867"/>
                    <a:pt x="18818" y="18818"/>
                  </a:cubicBezTo>
                  <a:cubicBezTo>
                    <a:pt x="30867" y="6769"/>
                    <a:pt x="47208" y="0"/>
                    <a:pt x="64248" y="0"/>
                  </a:cubicBezTo>
                  <a:close/>
                </a:path>
              </a:pathLst>
            </a:custGeom>
            <a:solidFill>
              <a:srgbClr val="FFE9E9"/>
            </a:solidFill>
          </p:spPr>
        </p:sp>
        <p:sp>
          <p:nvSpPr>
            <p:cNvPr name="TextBox 7" id="7"/>
            <p:cNvSpPr txBox="true"/>
            <p:nvPr/>
          </p:nvSpPr>
          <p:spPr>
            <a:xfrm>
              <a:off x="0" y="-333375"/>
              <a:ext cx="1618573" cy="1055433"/>
            </a:xfrm>
            <a:prstGeom prst="rect">
              <a:avLst/>
            </a:prstGeom>
          </p:spPr>
          <p:txBody>
            <a:bodyPr anchor="ctr" rtlCol="false" tIns="50800" lIns="50800" bIns="50800" rIns="50800"/>
            <a:lstStyle/>
            <a:p>
              <a:pPr algn="ctr">
                <a:lnSpc>
                  <a:spcPts val="6249"/>
                </a:lnSpc>
              </a:pPr>
            </a:p>
          </p:txBody>
        </p:sp>
      </p:grpSp>
      <p:pic>
        <p:nvPicPr>
          <p:cNvPr name="Picture 8" id="8">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2799471" y="1028700"/>
            <a:ext cx="12689058" cy="8229600"/>
          </a:xfrm>
          <a:prstGeom prst="rect">
            <a:avLst/>
          </a:prstGeom>
        </p:spPr>
      </p:pic>
      <p:sp>
        <p:nvSpPr>
          <p:cNvPr name="TextBox 9" id="9"/>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18</a:t>
            </a:r>
          </a:p>
        </p:txBody>
      </p:sp>
    </p:spTree>
  </p:cSld>
  <p:clrMapOvr>
    <a:masterClrMapping/>
  </p:clrMapOvr>
  <p:timing>
    <p:tnLst>
      <p:par>
        <p:cTn dur="indefinite" restart="never" nodeType="tmRoot">
          <p:childTnLst>
            <p:video>
              <p:cMediaNode vol="100000">
                <p:cTn fill="hold" display="false">
                  <p:stCondLst>
                    <p:cond delay="indefinite"/>
                  </p:stCondLst>
                </p:cTn>
                <p:tgtEl>
                  <p:spTgt spid="8"/>
                </p:tgtEl>
              </p:cMediaNode>
            </p:video>
          </p:childTnLst>
        </p:cTn>
      </p:par>
    </p:tnLst>
  </p:timing>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371263" y="1816052"/>
            <a:ext cx="3055590" cy="0"/>
          </a:xfrm>
          <a:prstGeom prst="line">
            <a:avLst/>
          </a:prstGeom>
          <a:ln cap="flat" w="28575">
            <a:solidFill>
              <a:srgbClr val="000000"/>
            </a:solidFill>
            <a:prstDash val="solid"/>
            <a:headEnd type="none" len="sm" w="sm"/>
            <a:tailEnd type="none" len="sm" w="sm"/>
          </a:ln>
        </p:spPr>
      </p:sp>
      <p:grpSp>
        <p:nvGrpSpPr>
          <p:cNvPr name="Group 3" id="3"/>
          <p:cNvGrpSpPr/>
          <p:nvPr/>
        </p:nvGrpSpPr>
        <p:grpSpPr>
          <a:xfrm rot="0">
            <a:off x="-389089" y="-530933"/>
            <a:ext cx="2420771" cy="2588333"/>
            <a:chOff x="0" y="0"/>
            <a:chExt cx="637569" cy="681701"/>
          </a:xfrm>
        </p:grpSpPr>
        <p:sp>
          <p:nvSpPr>
            <p:cNvPr name="Freeform 4" id="4"/>
            <p:cNvSpPr/>
            <p:nvPr/>
          </p:nvSpPr>
          <p:spPr>
            <a:xfrm flipH="false" flipV="false" rot="0">
              <a:off x="0" y="0"/>
              <a:ext cx="637569" cy="681701"/>
            </a:xfrm>
            <a:custGeom>
              <a:avLst/>
              <a:gdLst/>
              <a:ahLst/>
              <a:cxnLst/>
              <a:rect r="r" b="b" t="t" l="l"/>
              <a:pathLst>
                <a:path h="681701" w="637569">
                  <a:moveTo>
                    <a:pt x="163104" y="0"/>
                  </a:moveTo>
                  <a:lnTo>
                    <a:pt x="474465" y="0"/>
                  </a:lnTo>
                  <a:cubicBezTo>
                    <a:pt x="564545" y="0"/>
                    <a:pt x="637569" y="73024"/>
                    <a:pt x="637569" y="163104"/>
                  </a:cubicBezTo>
                  <a:lnTo>
                    <a:pt x="637569" y="518597"/>
                  </a:lnTo>
                  <a:cubicBezTo>
                    <a:pt x="637569" y="608677"/>
                    <a:pt x="564545" y="681701"/>
                    <a:pt x="474465" y="681701"/>
                  </a:cubicBezTo>
                  <a:lnTo>
                    <a:pt x="163104" y="681701"/>
                  </a:lnTo>
                  <a:cubicBezTo>
                    <a:pt x="73024" y="681701"/>
                    <a:pt x="0" y="608677"/>
                    <a:pt x="0" y="518597"/>
                  </a:cubicBezTo>
                  <a:lnTo>
                    <a:pt x="0" y="163104"/>
                  </a:lnTo>
                  <a:cubicBezTo>
                    <a:pt x="0" y="73024"/>
                    <a:pt x="73024" y="0"/>
                    <a:pt x="163104" y="0"/>
                  </a:cubicBezTo>
                  <a:close/>
                </a:path>
              </a:pathLst>
            </a:custGeom>
            <a:solidFill>
              <a:srgbClr val="8D0000"/>
            </a:solidFill>
          </p:spPr>
        </p:sp>
        <p:sp>
          <p:nvSpPr>
            <p:cNvPr name="TextBox 5" id="5"/>
            <p:cNvSpPr txBox="true"/>
            <p:nvPr/>
          </p:nvSpPr>
          <p:spPr>
            <a:xfrm>
              <a:off x="0" y="-333375"/>
              <a:ext cx="637569" cy="1015076"/>
            </a:xfrm>
            <a:prstGeom prst="rect">
              <a:avLst/>
            </a:prstGeom>
          </p:spPr>
          <p:txBody>
            <a:bodyPr anchor="ctr" rtlCol="false" tIns="50800" lIns="50800" bIns="50800" rIns="50800"/>
            <a:lstStyle/>
            <a:p>
              <a:pPr algn="ctr">
                <a:lnSpc>
                  <a:spcPts val="6249"/>
                </a:lnSpc>
              </a:pPr>
            </a:p>
          </p:txBody>
        </p:sp>
      </p:grpSp>
      <p:grpSp>
        <p:nvGrpSpPr>
          <p:cNvPr name="Group 6" id="6"/>
          <p:cNvGrpSpPr/>
          <p:nvPr/>
        </p:nvGrpSpPr>
        <p:grpSpPr>
          <a:xfrm rot="0">
            <a:off x="16096608" y="-530933"/>
            <a:ext cx="3135684" cy="2588333"/>
            <a:chOff x="0" y="0"/>
            <a:chExt cx="825859" cy="681701"/>
          </a:xfrm>
        </p:grpSpPr>
        <p:sp>
          <p:nvSpPr>
            <p:cNvPr name="Freeform 7" id="7"/>
            <p:cNvSpPr/>
            <p:nvPr/>
          </p:nvSpPr>
          <p:spPr>
            <a:xfrm flipH="false" flipV="false" rot="0">
              <a:off x="0" y="0"/>
              <a:ext cx="825859" cy="681701"/>
            </a:xfrm>
            <a:custGeom>
              <a:avLst/>
              <a:gdLst/>
              <a:ahLst/>
              <a:cxnLst/>
              <a:rect r="r" b="b" t="t" l="l"/>
              <a:pathLst>
                <a:path h="681701" w="825859">
                  <a:moveTo>
                    <a:pt x="125918" y="0"/>
                  </a:moveTo>
                  <a:lnTo>
                    <a:pt x="699941" y="0"/>
                  </a:lnTo>
                  <a:cubicBezTo>
                    <a:pt x="769484" y="0"/>
                    <a:pt x="825859" y="56375"/>
                    <a:pt x="825859" y="125918"/>
                  </a:cubicBezTo>
                  <a:lnTo>
                    <a:pt x="825859" y="555783"/>
                  </a:lnTo>
                  <a:cubicBezTo>
                    <a:pt x="825859" y="625326"/>
                    <a:pt x="769484" y="681701"/>
                    <a:pt x="699941" y="681701"/>
                  </a:cubicBezTo>
                  <a:lnTo>
                    <a:pt x="125918" y="681701"/>
                  </a:lnTo>
                  <a:cubicBezTo>
                    <a:pt x="56375" y="681701"/>
                    <a:pt x="0" y="625326"/>
                    <a:pt x="0" y="555783"/>
                  </a:cubicBezTo>
                  <a:lnTo>
                    <a:pt x="0" y="125918"/>
                  </a:lnTo>
                  <a:cubicBezTo>
                    <a:pt x="0" y="56375"/>
                    <a:pt x="56375" y="0"/>
                    <a:pt x="125918" y="0"/>
                  </a:cubicBezTo>
                  <a:close/>
                </a:path>
              </a:pathLst>
            </a:custGeom>
            <a:solidFill>
              <a:srgbClr val="8D0000"/>
            </a:solidFill>
          </p:spPr>
        </p:sp>
        <p:sp>
          <p:nvSpPr>
            <p:cNvPr name="TextBox 8" id="8"/>
            <p:cNvSpPr txBox="true"/>
            <p:nvPr/>
          </p:nvSpPr>
          <p:spPr>
            <a:xfrm>
              <a:off x="0" y="-333375"/>
              <a:ext cx="825859" cy="1015076"/>
            </a:xfrm>
            <a:prstGeom prst="rect">
              <a:avLst/>
            </a:prstGeom>
          </p:spPr>
          <p:txBody>
            <a:bodyPr anchor="ctr" rtlCol="false" tIns="50800" lIns="50800" bIns="50800" rIns="50800"/>
            <a:lstStyle/>
            <a:p>
              <a:pPr algn="ctr">
                <a:lnSpc>
                  <a:spcPts val="6249"/>
                </a:lnSpc>
              </a:pPr>
            </a:p>
          </p:txBody>
        </p:sp>
      </p:grpSp>
      <p:grpSp>
        <p:nvGrpSpPr>
          <p:cNvPr name="Group 9" id="9"/>
          <p:cNvGrpSpPr/>
          <p:nvPr/>
        </p:nvGrpSpPr>
        <p:grpSpPr>
          <a:xfrm rot="0">
            <a:off x="6173394" y="9765836"/>
            <a:ext cx="6936742" cy="1002644"/>
            <a:chOff x="0" y="0"/>
            <a:chExt cx="1826961" cy="264071"/>
          </a:xfrm>
        </p:grpSpPr>
        <p:sp>
          <p:nvSpPr>
            <p:cNvPr name="Freeform 10" id="10"/>
            <p:cNvSpPr/>
            <p:nvPr/>
          </p:nvSpPr>
          <p:spPr>
            <a:xfrm flipH="false" flipV="false" rot="0">
              <a:off x="0" y="0"/>
              <a:ext cx="1826961" cy="264071"/>
            </a:xfrm>
            <a:custGeom>
              <a:avLst/>
              <a:gdLst/>
              <a:ahLst/>
              <a:cxnLst/>
              <a:rect r="r" b="b" t="t" l="l"/>
              <a:pathLst>
                <a:path h="264071" w="1826961">
                  <a:moveTo>
                    <a:pt x="56920" y="0"/>
                  </a:moveTo>
                  <a:lnTo>
                    <a:pt x="1770041" y="0"/>
                  </a:lnTo>
                  <a:cubicBezTo>
                    <a:pt x="1785137" y="0"/>
                    <a:pt x="1799615" y="5997"/>
                    <a:pt x="1810289" y="16671"/>
                  </a:cubicBezTo>
                  <a:cubicBezTo>
                    <a:pt x="1820964" y="27346"/>
                    <a:pt x="1826961" y="41824"/>
                    <a:pt x="1826961" y="56920"/>
                  </a:cubicBezTo>
                  <a:lnTo>
                    <a:pt x="1826961" y="207151"/>
                  </a:lnTo>
                  <a:cubicBezTo>
                    <a:pt x="1826961" y="222247"/>
                    <a:pt x="1820964" y="236725"/>
                    <a:pt x="1810289" y="247400"/>
                  </a:cubicBezTo>
                  <a:cubicBezTo>
                    <a:pt x="1799615" y="258074"/>
                    <a:pt x="1785137" y="264071"/>
                    <a:pt x="1770041" y="264071"/>
                  </a:cubicBezTo>
                  <a:lnTo>
                    <a:pt x="56920" y="264071"/>
                  </a:lnTo>
                  <a:cubicBezTo>
                    <a:pt x="41824" y="264071"/>
                    <a:pt x="27346" y="258074"/>
                    <a:pt x="16671" y="247400"/>
                  </a:cubicBezTo>
                  <a:cubicBezTo>
                    <a:pt x="5997" y="236725"/>
                    <a:pt x="0" y="222247"/>
                    <a:pt x="0" y="207151"/>
                  </a:cubicBezTo>
                  <a:lnTo>
                    <a:pt x="0" y="56920"/>
                  </a:lnTo>
                  <a:cubicBezTo>
                    <a:pt x="0" y="41824"/>
                    <a:pt x="5997" y="27346"/>
                    <a:pt x="16671" y="16671"/>
                  </a:cubicBezTo>
                  <a:cubicBezTo>
                    <a:pt x="27346" y="5997"/>
                    <a:pt x="41824" y="0"/>
                    <a:pt x="56920" y="0"/>
                  </a:cubicBezTo>
                  <a:close/>
                </a:path>
              </a:pathLst>
            </a:custGeom>
            <a:solidFill>
              <a:srgbClr val="8D0000"/>
            </a:solidFill>
          </p:spPr>
        </p:sp>
        <p:sp>
          <p:nvSpPr>
            <p:cNvPr name="TextBox 11" id="11"/>
            <p:cNvSpPr txBox="true"/>
            <p:nvPr/>
          </p:nvSpPr>
          <p:spPr>
            <a:xfrm>
              <a:off x="0" y="-333375"/>
              <a:ext cx="1826961" cy="597446"/>
            </a:xfrm>
            <a:prstGeom prst="rect">
              <a:avLst/>
            </a:prstGeom>
          </p:spPr>
          <p:txBody>
            <a:bodyPr anchor="ctr" rtlCol="false" tIns="50800" lIns="50800" bIns="50800" rIns="50800"/>
            <a:lstStyle/>
            <a:p>
              <a:pPr algn="ctr">
                <a:lnSpc>
                  <a:spcPts val="6249"/>
                </a:lnSpc>
              </a:pPr>
            </a:p>
          </p:txBody>
        </p:sp>
      </p:grpSp>
      <p:sp>
        <p:nvSpPr>
          <p:cNvPr name="TextBox 12" id="12"/>
          <p:cNvSpPr txBox="true"/>
          <p:nvPr/>
        </p:nvSpPr>
        <p:spPr>
          <a:xfrm rot="0">
            <a:off x="4836216" y="1049289"/>
            <a:ext cx="8373354" cy="647700"/>
          </a:xfrm>
          <a:prstGeom prst="rect">
            <a:avLst/>
          </a:prstGeom>
        </p:spPr>
        <p:txBody>
          <a:bodyPr anchor="t" rtlCol="false" tIns="0" lIns="0" bIns="0" rIns="0">
            <a:spAutoFit/>
          </a:bodyPr>
          <a:lstStyle/>
          <a:p>
            <a:pPr algn="ctr">
              <a:lnSpc>
                <a:spcPts val="4500"/>
              </a:lnSpc>
            </a:pPr>
            <a:r>
              <a:rPr lang="en-US" b="true" sz="4500">
                <a:solidFill>
                  <a:srgbClr val="8D0000"/>
                </a:solidFill>
                <a:latin typeface="Poppins Bold"/>
                <a:ea typeface="Poppins Bold"/>
                <a:cs typeface="Poppins Bold"/>
                <a:sym typeface="Poppins Bold"/>
              </a:rPr>
              <a:t>BIBLIOGRAPHIE</a:t>
            </a:r>
          </a:p>
        </p:txBody>
      </p:sp>
      <p:sp>
        <p:nvSpPr>
          <p:cNvPr name="TextBox 13" id="13"/>
          <p:cNvSpPr txBox="true"/>
          <p:nvPr/>
        </p:nvSpPr>
        <p:spPr>
          <a:xfrm rot="0">
            <a:off x="6844088" y="2116396"/>
            <a:ext cx="279496" cy="596888"/>
          </a:xfrm>
          <a:prstGeom prst="rect">
            <a:avLst/>
          </a:prstGeom>
        </p:spPr>
        <p:txBody>
          <a:bodyPr anchor="t" rtlCol="false" tIns="0" lIns="0" bIns="0" rIns="0">
            <a:spAutoFit/>
          </a:bodyPr>
          <a:lstStyle/>
          <a:p>
            <a:pPr algn="l">
              <a:lnSpc>
                <a:spcPts val="4900"/>
              </a:lnSpc>
            </a:pPr>
            <a:r>
              <a:rPr lang="en-US" b="true" sz="3500">
                <a:solidFill>
                  <a:srgbClr val="FFFFFF"/>
                </a:solidFill>
                <a:latin typeface="Canva Sans Bold"/>
                <a:ea typeface="Canva Sans Bold"/>
                <a:cs typeface="Canva Sans Bold"/>
                <a:sym typeface="Canva Sans Bold"/>
              </a:rPr>
              <a:t>2</a:t>
            </a:r>
          </a:p>
        </p:txBody>
      </p:sp>
      <p:sp>
        <p:nvSpPr>
          <p:cNvPr name="TextBox 14" id="14"/>
          <p:cNvSpPr txBox="true"/>
          <p:nvPr/>
        </p:nvSpPr>
        <p:spPr>
          <a:xfrm rot="0">
            <a:off x="146875" y="2116396"/>
            <a:ext cx="17994250" cy="2193925"/>
          </a:xfrm>
          <a:prstGeom prst="rect">
            <a:avLst/>
          </a:prstGeom>
        </p:spPr>
        <p:txBody>
          <a:bodyPr anchor="t" rtlCol="false" tIns="0" lIns="0" bIns="0" rIns="0">
            <a:spAutoFit/>
          </a:bodyPr>
          <a:lstStyle/>
          <a:p>
            <a:pPr algn="ctr">
              <a:lnSpc>
                <a:spcPts val="3499"/>
              </a:lnSpc>
            </a:pPr>
          </a:p>
          <a:p>
            <a:pPr algn="ctr">
              <a:lnSpc>
                <a:spcPts val="3499"/>
              </a:lnSpc>
              <a:spcBef>
                <a:spcPct val="0"/>
              </a:spcBef>
            </a:pPr>
            <a:r>
              <a:rPr lang="en-US" sz="2499">
                <a:solidFill>
                  <a:srgbClr val="000000"/>
                </a:solidFill>
                <a:latin typeface="Poppins"/>
                <a:ea typeface="Poppins"/>
                <a:cs typeface="Poppins"/>
                <a:sym typeface="Poppins"/>
              </a:rPr>
              <a:t>[1] </a:t>
            </a:r>
            <a:r>
              <a:rPr lang="en-US" sz="2499">
                <a:solidFill>
                  <a:srgbClr val="000000"/>
                </a:solidFill>
                <a:latin typeface="Poppins"/>
                <a:ea typeface="Poppins"/>
                <a:cs typeface="Poppins"/>
                <a:sym typeface="Poppins"/>
              </a:rPr>
              <a:t>R. Achanta, A. Shaji, K. Smi</a:t>
            </a:r>
            <a:r>
              <a:rPr lang="en-US" sz="2499">
                <a:solidFill>
                  <a:srgbClr val="000000"/>
                </a:solidFill>
                <a:latin typeface="Poppins"/>
                <a:ea typeface="Poppins"/>
                <a:cs typeface="Poppins"/>
                <a:sym typeface="Poppins"/>
              </a:rPr>
              <a:t>th, A. Lucchi, P. Fua, et S. Süsstrunk, « SLIC Superpixels Compared to State-of-the-Art Superpixel Methods », IEEE Transactions on Pattern Analysis and Machine Intelligence, vol. 34, n</a:t>
            </a:r>
            <a:r>
              <a:rPr lang="en-US" sz="2499">
                <a:solidFill>
                  <a:srgbClr val="000000"/>
                </a:solidFill>
                <a:latin typeface="Poppins"/>
                <a:ea typeface="Poppins"/>
                <a:cs typeface="Poppins"/>
                <a:sym typeface="Poppins"/>
              </a:rPr>
              <a:t>o</a:t>
            </a:r>
            <a:r>
              <a:rPr lang="en-US" sz="2499">
                <a:solidFill>
                  <a:srgbClr val="000000"/>
                </a:solidFill>
                <a:latin typeface="Poppins"/>
                <a:ea typeface="Poppins"/>
                <a:cs typeface="Poppins"/>
                <a:sym typeface="Poppins"/>
              </a:rPr>
              <a:t> 11, p. 2274‑2282, nov. 2012, doi: </a:t>
            </a:r>
            <a:r>
              <a:rPr lang="en-US" sz="2499" u="sng">
                <a:solidFill>
                  <a:srgbClr val="000000"/>
                </a:solidFill>
                <a:latin typeface="Poppins"/>
                <a:ea typeface="Poppins"/>
                <a:cs typeface="Poppins"/>
                <a:sym typeface="Poppins"/>
                <a:hlinkClick r:id="rId2" tooltip="https://doi.org/10.1109/TPAMI.2012.120"/>
              </a:rPr>
              <a:t>10.1109/TPAMI.2012.120</a:t>
            </a:r>
            <a:r>
              <a:rPr lang="en-US" sz="2499">
                <a:solidFill>
                  <a:srgbClr val="000000"/>
                </a:solidFill>
                <a:latin typeface="Poppins"/>
                <a:ea typeface="Poppins"/>
                <a:cs typeface="Poppins"/>
                <a:sym typeface="Poppins"/>
              </a:rPr>
              <a:t>.</a:t>
            </a:r>
          </a:p>
          <a:p>
            <a:pPr algn="ctr">
              <a:lnSpc>
                <a:spcPts val="3499"/>
              </a:lnSpc>
              <a:spcBef>
                <a:spcPct val="0"/>
              </a:spcBef>
            </a:pPr>
          </a:p>
        </p:txBody>
      </p:sp>
      <p:sp>
        <p:nvSpPr>
          <p:cNvPr name="TextBox 15" id="15"/>
          <p:cNvSpPr txBox="true"/>
          <p:nvPr/>
        </p:nvSpPr>
        <p:spPr>
          <a:xfrm rot="0">
            <a:off x="146875" y="3912439"/>
            <a:ext cx="18141125" cy="1774868"/>
          </a:xfrm>
          <a:prstGeom prst="rect">
            <a:avLst/>
          </a:prstGeom>
        </p:spPr>
        <p:txBody>
          <a:bodyPr anchor="t" rtlCol="false" tIns="0" lIns="0" bIns="0" rIns="0">
            <a:spAutoFit/>
          </a:bodyPr>
          <a:lstStyle/>
          <a:p>
            <a:pPr algn="ctr">
              <a:lnSpc>
                <a:spcPts val="3519"/>
              </a:lnSpc>
              <a:spcBef>
                <a:spcPct val="0"/>
              </a:spcBef>
            </a:pPr>
            <a:r>
              <a:rPr lang="en-US" sz="2514">
                <a:solidFill>
                  <a:srgbClr val="000000"/>
                </a:solidFill>
                <a:latin typeface="Poppins"/>
                <a:ea typeface="Poppins"/>
                <a:cs typeface="Poppins"/>
                <a:sym typeface="Poppins"/>
              </a:rPr>
              <a:t>[2] </a:t>
            </a:r>
            <a:r>
              <a:rPr lang="en-US" sz="2514">
                <a:solidFill>
                  <a:srgbClr val="000000"/>
                </a:solidFill>
                <a:latin typeface="Poppins"/>
                <a:ea typeface="Poppins"/>
                <a:cs typeface="Poppins"/>
                <a:sym typeface="Poppins"/>
              </a:rPr>
              <a:t>D. Martin, C. F</a:t>
            </a:r>
            <a:r>
              <a:rPr lang="en-US" sz="2514">
                <a:solidFill>
                  <a:srgbClr val="000000"/>
                </a:solidFill>
                <a:latin typeface="Poppins"/>
                <a:ea typeface="Poppins"/>
                <a:cs typeface="Poppins"/>
                <a:sym typeface="Poppins"/>
              </a:rPr>
              <a:t>owlkes, D. Tal, et J. Malik, « A database of human segmented natural images and its application to evaluating segmentation algorithms and measuring ecological statistics », in Proceedings Eighth IEEE International Conference on Computer Vision. ICCV 2001, juill. 2001, p. 416‑423 vol.2. doi: </a:t>
            </a:r>
            <a:r>
              <a:rPr lang="en-US" sz="2514" u="sng">
                <a:solidFill>
                  <a:srgbClr val="000000"/>
                </a:solidFill>
                <a:latin typeface="Poppins"/>
                <a:ea typeface="Poppins"/>
                <a:cs typeface="Poppins"/>
                <a:sym typeface="Poppins"/>
                <a:hlinkClick r:id="rId3" tooltip="https://doi.org/10.1109/ICCV.2001.937655"/>
              </a:rPr>
              <a:t>10.1109/ICCV.2001.937655</a:t>
            </a:r>
            <a:r>
              <a:rPr lang="en-US" sz="2514">
                <a:solidFill>
                  <a:srgbClr val="000000"/>
                </a:solidFill>
                <a:latin typeface="Poppins"/>
                <a:ea typeface="Poppins"/>
                <a:cs typeface="Poppins"/>
                <a:sym typeface="Poppins"/>
              </a:rPr>
              <a:t>.</a:t>
            </a:r>
          </a:p>
          <a:p>
            <a:pPr algn="ctr">
              <a:lnSpc>
                <a:spcPts val="3519"/>
              </a:lnSpc>
              <a:spcBef>
                <a:spcPct val="0"/>
              </a:spcBef>
            </a:pPr>
          </a:p>
        </p:txBody>
      </p:sp>
      <p:sp>
        <p:nvSpPr>
          <p:cNvPr name="TextBox 16" id="16"/>
          <p:cNvSpPr txBox="true"/>
          <p:nvPr/>
        </p:nvSpPr>
        <p:spPr>
          <a:xfrm rot="0">
            <a:off x="-242214" y="5720378"/>
            <a:ext cx="18530214" cy="1343718"/>
          </a:xfrm>
          <a:prstGeom prst="rect">
            <a:avLst/>
          </a:prstGeom>
        </p:spPr>
        <p:txBody>
          <a:bodyPr anchor="t" rtlCol="false" tIns="0" lIns="0" bIns="0" rIns="0">
            <a:spAutoFit/>
          </a:bodyPr>
          <a:lstStyle/>
          <a:p>
            <a:pPr algn="ctr">
              <a:lnSpc>
                <a:spcPts val="3546"/>
              </a:lnSpc>
              <a:spcBef>
                <a:spcPct val="0"/>
              </a:spcBef>
            </a:pPr>
            <a:r>
              <a:rPr lang="en-US" sz="2533">
                <a:solidFill>
                  <a:srgbClr val="000000"/>
                </a:solidFill>
                <a:latin typeface="Poppins"/>
                <a:ea typeface="Poppins"/>
                <a:cs typeface="Poppins"/>
                <a:sym typeface="Poppins"/>
              </a:rPr>
              <a:t>[3] </a:t>
            </a:r>
            <a:r>
              <a:rPr lang="en-US" sz="2533">
                <a:solidFill>
                  <a:srgbClr val="000000"/>
                </a:solidFill>
                <a:latin typeface="Poppins"/>
                <a:ea typeface="Poppins"/>
                <a:cs typeface="Poppins"/>
                <a:sym typeface="Poppins"/>
              </a:rPr>
              <a:t>D. S</a:t>
            </a:r>
            <a:r>
              <a:rPr lang="en-US" sz="2533">
                <a:solidFill>
                  <a:srgbClr val="000000"/>
                </a:solidFill>
                <a:latin typeface="Poppins"/>
                <a:ea typeface="Poppins"/>
                <a:cs typeface="Poppins"/>
                <a:sym typeface="Poppins"/>
              </a:rPr>
              <a:t>tutz, A. Hermans, et B. Leibe, « Superpixels: An evaluation of the state-of-the-art », Computer Vision and Image Understanding, vol. 166, p. 1‑27, janv. 2018, doi: </a:t>
            </a:r>
            <a:r>
              <a:rPr lang="en-US" sz="2533" u="sng">
                <a:solidFill>
                  <a:srgbClr val="000000"/>
                </a:solidFill>
                <a:latin typeface="Poppins"/>
                <a:ea typeface="Poppins"/>
                <a:cs typeface="Poppins"/>
                <a:sym typeface="Poppins"/>
                <a:hlinkClick r:id="rId4" tooltip="https://doi.org/10.1016/j.cviu.2017.03.007"/>
              </a:rPr>
              <a:t>10.1016/j.cviu.2017.03.007</a:t>
            </a:r>
            <a:r>
              <a:rPr lang="en-US" sz="2533">
                <a:solidFill>
                  <a:srgbClr val="000000"/>
                </a:solidFill>
                <a:latin typeface="Poppins"/>
                <a:ea typeface="Poppins"/>
                <a:cs typeface="Poppins"/>
                <a:sym typeface="Poppins"/>
              </a:rPr>
              <a:t>.</a:t>
            </a:r>
          </a:p>
          <a:p>
            <a:pPr algn="ctr">
              <a:lnSpc>
                <a:spcPts val="3546"/>
              </a:lnSpc>
              <a:spcBef>
                <a:spcPct val="0"/>
              </a:spcBef>
            </a:pPr>
            <a:r>
              <a:rPr lang="en-US" sz="2533">
                <a:solidFill>
                  <a:srgbClr val="000000"/>
                </a:solidFill>
                <a:latin typeface="Poppins"/>
                <a:ea typeface="Poppins"/>
                <a:cs typeface="Poppins"/>
                <a:sym typeface="Poppins"/>
              </a:rPr>
              <a:t> </a:t>
            </a:r>
          </a:p>
        </p:txBody>
      </p:sp>
      <p:sp>
        <p:nvSpPr>
          <p:cNvPr name="TextBox 17" id="17"/>
          <p:cNvSpPr txBox="true"/>
          <p:nvPr/>
        </p:nvSpPr>
        <p:spPr>
          <a:xfrm rot="0">
            <a:off x="-13208" y="6857381"/>
            <a:ext cx="17824533" cy="1883445"/>
          </a:xfrm>
          <a:prstGeom prst="rect">
            <a:avLst/>
          </a:prstGeom>
        </p:spPr>
        <p:txBody>
          <a:bodyPr anchor="t" rtlCol="false" tIns="0" lIns="0" bIns="0" rIns="0">
            <a:spAutoFit/>
          </a:bodyPr>
          <a:lstStyle/>
          <a:p>
            <a:pPr algn="ctr">
              <a:lnSpc>
                <a:spcPts val="3744"/>
              </a:lnSpc>
            </a:pPr>
          </a:p>
          <a:p>
            <a:pPr algn="ctr">
              <a:lnSpc>
                <a:spcPts val="3744"/>
              </a:lnSpc>
              <a:spcBef>
                <a:spcPct val="0"/>
              </a:spcBef>
            </a:pPr>
            <a:r>
              <a:rPr lang="en-US" sz="2674">
                <a:solidFill>
                  <a:srgbClr val="000000"/>
                </a:solidFill>
                <a:latin typeface="Poppins"/>
                <a:ea typeface="Poppins"/>
                <a:cs typeface="Poppins"/>
                <a:sym typeface="Poppins"/>
              </a:rPr>
              <a:t>[4] </a:t>
            </a:r>
            <a:r>
              <a:rPr lang="en-US" sz="2674">
                <a:solidFill>
                  <a:srgbClr val="000000"/>
                </a:solidFill>
                <a:latin typeface="Poppins"/>
                <a:ea typeface="Poppins"/>
                <a:cs typeface="Poppins"/>
                <a:sym typeface="Poppins"/>
              </a:rPr>
              <a:t>X. Wei, Q. Yang, Y. G</a:t>
            </a:r>
            <a:r>
              <a:rPr lang="en-US" sz="2674">
                <a:solidFill>
                  <a:srgbClr val="000000"/>
                </a:solidFill>
                <a:latin typeface="Poppins"/>
                <a:ea typeface="Poppins"/>
                <a:cs typeface="Poppins"/>
                <a:sym typeface="Poppins"/>
              </a:rPr>
              <a:t>ong, N. Ahuja, et M.-H. Yang, « Superpixel Hierarchy », IEEE Transactions on Image Processing, vol. 27, n</a:t>
            </a:r>
            <a:r>
              <a:rPr lang="en-US" sz="2674">
                <a:solidFill>
                  <a:srgbClr val="000000"/>
                </a:solidFill>
                <a:latin typeface="Poppins"/>
                <a:ea typeface="Poppins"/>
                <a:cs typeface="Poppins"/>
                <a:sym typeface="Poppins"/>
              </a:rPr>
              <a:t>o</a:t>
            </a:r>
            <a:r>
              <a:rPr lang="en-US" sz="2674">
                <a:solidFill>
                  <a:srgbClr val="000000"/>
                </a:solidFill>
                <a:latin typeface="Poppins"/>
                <a:ea typeface="Poppins"/>
                <a:cs typeface="Poppins"/>
                <a:sym typeface="Poppins"/>
              </a:rPr>
              <a:t> 10, p. 4838‑4849, oct. 2018, doi: </a:t>
            </a:r>
            <a:r>
              <a:rPr lang="en-US" sz="2674" u="sng">
                <a:solidFill>
                  <a:srgbClr val="000000"/>
                </a:solidFill>
                <a:latin typeface="Poppins"/>
                <a:ea typeface="Poppins"/>
                <a:cs typeface="Poppins"/>
                <a:sym typeface="Poppins"/>
                <a:hlinkClick r:id="rId5" tooltip="https://doi.org/10.1109/TIP.2018.2836300"/>
              </a:rPr>
              <a:t>10.1109/TIP.2018.2836300</a:t>
            </a:r>
            <a:r>
              <a:rPr lang="en-US" sz="2674">
                <a:solidFill>
                  <a:srgbClr val="000000"/>
                </a:solidFill>
                <a:latin typeface="Poppins"/>
                <a:ea typeface="Poppins"/>
                <a:cs typeface="Poppins"/>
                <a:sym typeface="Poppins"/>
              </a:rPr>
              <a:t>.</a:t>
            </a:r>
          </a:p>
          <a:p>
            <a:pPr algn="ctr">
              <a:lnSpc>
                <a:spcPts val="3744"/>
              </a:lnSpc>
              <a:spcBef>
                <a:spcPct val="0"/>
              </a:spcBef>
            </a:pPr>
          </a:p>
        </p:txBody>
      </p:sp>
      <p:sp>
        <p:nvSpPr>
          <p:cNvPr name="TextBox 18" id="18"/>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19</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90038" y="3668039"/>
            <a:ext cx="17456408" cy="647700"/>
          </a:xfrm>
          <a:prstGeom prst="rect">
            <a:avLst/>
          </a:prstGeom>
        </p:spPr>
        <p:txBody>
          <a:bodyPr anchor="t" rtlCol="false" tIns="0" lIns="0" bIns="0" rIns="0">
            <a:spAutoFit/>
          </a:bodyPr>
          <a:lstStyle/>
          <a:p>
            <a:pPr algn="ctr">
              <a:lnSpc>
                <a:spcPts val="4500"/>
              </a:lnSpc>
            </a:pPr>
            <a:r>
              <a:rPr lang="en-US" b="true" sz="4500">
                <a:solidFill>
                  <a:srgbClr val="8D0000"/>
                </a:solidFill>
                <a:latin typeface="Poppins Bold"/>
                <a:ea typeface="Poppins Bold"/>
                <a:cs typeface="Poppins Bold"/>
                <a:sym typeface="Poppins Bold"/>
              </a:rPr>
              <a:t>MERCI POUR VOTRE ATTENTION</a:t>
            </a:r>
          </a:p>
        </p:txBody>
      </p:sp>
      <p:grpSp>
        <p:nvGrpSpPr>
          <p:cNvPr name="Group 3" id="3"/>
          <p:cNvGrpSpPr/>
          <p:nvPr/>
        </p:nvGrpSpPr>
        <p:grpSpPr>
          <a:xfrm rot="-3503507">
            <a:off x="-2709316" y="8790517"/>
            <a:ext cx="5968439" cy="2484763"/>
            <a:chOff x="0" y="0"/>
            <a:chExt cx="1571935" cy="654423"/>
          </a:xfrm>
        </p:grpSpPr>
        <p:sp>
          <p:nvSpPr>
            <p:cNvPr name="Freeform 4" id="4"/>
            <p:cNvSpPr/>
            <p:nvPr/>
          </p:nvSpPr>
          <p:spPr>
            <a:xfrm flipH="false" flipV="false" rot="0">
              <a:off x="0" y="0"/>
              <a:ext cx="1571935" cy="654423"/>
            </a:xfrm>
            <a:custGeom>
              <a:avLst/>
              <a:gdLst/>
              <a:ahLst/>
              <a:cxnLst/>
              <a:rect r="r" b="b" t="t" l="l"/>
              <a:pathLst>
                <a:path h="654423" w="1571935">
                  <a:moveTo>
                    <a:pt x="66154" y="0"/>
                  </a:moveTo>
                  <a:lnTo>
                    <a:pt x="1505780" y="0"/>
                  </a:lnTo>
                  <a:cubicBezTo>
                    <a:pt x="1523326" y="0"/>
                    <a:pt x="1540152" y="6970"/>
                    <a:pt x="1552558" y="19376"/>
                  </a:cubicBezTo>
                  <a:cubicBezTo>
                    <a:pt x="1564965" y="31782"/>
                    <a:pt x="1571935" y="48609"/>
                    <a:pt x="1571935" y="66154"/>
                  </a:cubicBezTo>
                  <a:lnTo>
                    <a:pt x="1571935" y="588269"/>
                  </a:lnTo>
                  <a:cubicBezTo>
                    <a:pt x="1571935" y="624805"/>
                    <a:pt x="1542316" y="654423"/>
                    <a:pt x="1505780" y="654423"/>
                  </a:cubicBezTo>
                  <a:lnTo>
                    <a:pt x="66154" y="654423"/>
                  </a:lnTo>
                  <a:cubicBezTo>
                    <a:pt x="29618" y="654423"/>
                    <a:pt x="0" y="624805"/>
                    <a:pt x="0" y="588269"/>
                  </a:cubicBezTo>
                  <a:lnTo>
                    <a:pt x="0" y="66154"/>
                  </a:lnTo>
                  <a:cubicBezTo>
                    <a:pt x="0" y="29618"/>
                    <a:pt x="29618" y="0"/>
                    <a:pt x="66154" y="0"/>
                  </a:cubicBezTo>
                  <a:close/>
                </a:path>
              </a:pathLst>
            </a:custGeom>
            <a:solidFill>
              <a:srgbClr val="FFE9E9"/>
            </a:solidFill>
          </p:spPr>
        </p:sp>
        <p:sp>
          <p:nvSpPr>
            <p:cNvPr name="TextBox 5" id="5"/>
            <p:cNvSpPr txBox="true"/>
            <p:nvPr/>
          </p:nvSpPr>
          <p:spPr>
            <a:xfrm>
              <a:off x="0" y="-333375"/>
              <a:ext cx="1571935" cy="987798"/>
            </a:xfrm>
            <a:prstGeom prst="rect">
              <a:avLst/>
            </a:prstGeom>
          </p:spPr>
          <p:txBody>
            <a:bodyPr anchor="ctr" rtlCol="false" tIns="50800" lIns="50800" bIns="50800" rIns="50800"/>
            <a:lstStyle/>
            <a:p>
              <a:pPr algn="ctr">
                <a:lnSpc>
                  <a:spcPts val="6249"/>
                </a:lnSpc>
              </a:pPr>
            </a:p>
          </p:txBody>
        </p:sp>
      </p:grpSp>
      <p:grpSp>
        <p:nvGrpSpPr>
          <p:cNvPr name="Group 6" id="6"/>
          <p:cNvGrpSpPr/>
          <p:nvPr/>
        </p:nvGrpSpPr>
        <p:grpSpPr>
          <a:xfrm rot="-3503507">
            <a:off x="13399395" y="-2602653"/>
            <a:ext cx="6145518" cy="2741564"/>
            <a:chOff x="0" y="0"/>
            <a:chExt cx="1618573" cy="722058"/>
          </a:xfrm>
        </p:grpSpPr>
        <p:sp>
          <p:nvSpPr>
            <p:cNvPr name="Freeform 7" id="7"/>
            <p:cNvSpPr/>
            <p:nvPr/>
          </p:nvSpPr>
          <p:spPr>
            <a:xfrm flipH="false" flipV="false" rot="0">
              <a:off x="0" y="0"/>
              <a:ext cx="1618573" cy="722058"/>
            </a:xfrm>
            <a:custGeom>
              <a:avLst/>
              <a:gdLst/>
              <a:ahLst/>
              <a:cxnLst/>
              <a:rect r="r" b="b" t="t" l="l"/>
              <a:pathLst>
                <a:path h="722058" w="1618573">
                  <a:moveTo>
                    <a:pt x="64248" y="0"/>
                  </a:moveTo>
                  <a:lnTo>
                    <a:pt x="1554325" y="0"/>
                  </a:lnTo>
                  <a:cubicBezTo>
                    <a:pt x="1571364" y="0"/>
                    <a:pt x="1587706" y="6769"/>
                    <a:pt x="1599755" y="18818"/>
                  </a:cubicBezTo>
                  <a:cubicBezTo>
                    <a:pt x="1611804" y="30867"/>
                    <a:pt x="1618573" y="47208"/>
                    <a:pt x="1618573" y="64248"/>
                  </a:cubicBezTo>
                  <a:lnTo>
                    <a:pt x="1618573" y="657810"/>
                  </a:lnTo>
                  <a:cubicBezTo>
                    <a:pt x="1618573" y="674850"/>
                    <a:pt x="1611804" y="691191"/>
                    <a:pt x="1599755" y="703240"/>
                  </a:cubicBezTo>
                  <a:cubicBezTo>
                    <a:pt x="1587706" y="715289"/>
                    <a:pt x="1571364" y="722058"/>
                    <a:pt x="1554325" y="722058"/>
                  </a:cubicBezTo>
                  <a:lnTo>
                    <a:pt x="64248" y="722058"/>
                  </a:lnTo>
                  <a:cubicBezTo>
                    <a:pt x="47208" y="722058"/>
                    <a:pt x="30867" y="715289"/>
                    <a:pt x="18818" y="703240"/>
                  </a:cubicBezTo>
                  <a:cubicBezTo>
                    <a:pt x="6769" y="691191"/>
                    <a:pt x="0" y="674850"/>
                    <a:pt x="0" y="657810"/>
                  </a:cubicBezTo>
                  <a:lnTo>
                    <a:pt x="0" y="64248"/>
                  </a:lnTo>
                  <a:cubicBezTo>
                    <a:pt x="0" y="47208"/>
                    <a:pt x="6769" y="30867"/>
                    <a:pt x="18818" y="18818"/>
                  </a:cubicBezTo>
                  <a:cubicBezTo>
                    <a:pt x="30867" y="6769"/>
                    <a:pt x="47208" y="0"/>
                    <a:pt x="64248" y="0"/>
                  </a:cubicBezTo>
                  <a:close/>
                </a:path>
              </a:pathLst>
            </a:custGeom>
            <a:solidFill>
              <a:srgbClr val="FFE9E9"/>
            </a:solidFill>
          </p:spPr>
        </p:sp>
        <p:sp>
          <p:nvSpPr>
            <p:cNvPr name="TextBox 8" id="8"/>
            <p:cNvSpPr txBox="true"/>
            <p:nvPr/>
          </p:nvSpPr>
          <p:spPr>
            <a:xfrm>
              <a:off x="0" y="-333375"/>
              <a:ext cx="1618573" cy="1055433"/>
            </a:xfrm>
            <a:prstGeom prst="rect">
              <a:avLst/>
            </a:prstGeom>
          </p:spPr>
          <p:txBody>
            <a:bodyPr anchor="ctr" rtlCol="false" tIns="50800" lIns="50800" bIns="50800" rIns="50800"/>
            <a:lstStyle/>
            <a:p>
              <a:pPr algn="ctr">
                <a:lnSpc>
                  <a:spcPts val="6249"/>
                </a:lnSpc>
              </a:pPr>
            </a:p>
          </p:txBody>
        </p:sp>
      </p:grpSp>
      <p:sp>
        <p:nvSpPr>
          <p:cNvPr name="TextBox 9" id="9"/>
          <p:cNvSpPr txBox="true"/>
          <p:nvPr/>
        </p:nvSpPr>
        <p:spPr>
          <a:xfrm rot="0">
            <a:off x="17572903" y="9404530"/>
            <a:ext cx="238798" cy="562539"/>
          </a:xfrm>
          <a:prstGeom prst="rect">
            <a:avLst/>
          </a:prstGeom>
        </p:spPr>
        <p:txBody>
          <a:bodyPr anchor="t" rtlCol="false" tIns="0" lIns="0" bIns="0" rIns="0" wrap="none">
            <a:spAutoFit/>
          </a:bodyPr>
          <a:lstStyle/>
          <a:p>
            <a:pPr algn="ctr">
              <a:lnSpc>
                <a:spcPts val="4603"/>
              </a:lnSpc>
              <a:spcBef>
                <a:spcPct val="0"/>
              </a:spcBef>
            </a:pPr>
            <a:r>
              <a:rPr lang="en-US" sz="3287">
                <a:solidFill>
                  <a:srgbClr val="8D0000"/>
                </a:solidFill>
                <a:latin typeface="Open Sans"/>
                <a:ea typeface="Open Sans"/>
                <a:cs typeface="Open Sans"/>
                <a:sym typeface="Open Sans"/>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DAHKgmi__Kc</dc:identifier>
  <dcterms:modified xsi:type="dcterms:W3CDTF">2011-08-01T06:04:30Z</dcterms:modified>
  <cp:revision>1</cp:revision>
  <dc:title>Slic_presentation</dc:title>
</cp:coreProperties>
</file>